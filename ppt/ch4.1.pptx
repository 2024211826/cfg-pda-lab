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324" r:id="rId3"/>
    <p:sldId id="325" r:id="rId5"/>
    <p:sldId id="331" r:id="rId6"/>
    <p:sldId id="332" r:id="rId7"/>
    <p:sldId id="333" r:id="rId8"/>
    <p:sldId id="334" r:id="rId9"/>
    <p:sldId id="335" r:id="rId10"/>
    <p:sldId id="336" r:id="rId11"/>
    <p:sldId id="326" r:id="rId12"/>
    <p:sldId id="327" r:id="rId13"/>
    <p:sldId id="328" r:id="rId14"/>
    <p:sldId id="337" r:id="rId15"/>
    <p:sldId id="338" r:id="rId16"/>
    <p:sldId id="339" r:id="rId17"/>
    <p:sldId id="340" r:id="rId18"/>
    <p:sldId id="330" r:id="rId19"/>
    <p:sldId id="341" r:id="rId20"/>
    <p:sldId id="342" r:id="rId21"/>
    <p:sldId id="343" r:id="rId22"/>
    <p:sldId id="346" r:id="rId23"/>
    <p:sldId id="344" r:id="rId24"/>
    <p:sldId id="353" r:id="rId25"/>
    <p:sldId id="355" r:id="rId26"/>
    <p:sldId id="354" r:id="rId27"/>
    <p:sldId id="356" r:id="rId28"/>
    <p:sldId id="352" r:id="rId29"/>
  </p:sldIdLst>
  <p:sldSz cx="9144000" cy="6858000" type="screen4x3"/>
  <p:notesSz cx="6669405" cy="9926955"/>
  <p:custDataLst>
    <p:tags r:id="rId34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09"/>
    <p:restoredTop sz="94648"/>
  </p:normalViewPr>
  <p:slideViewPr>
    <p:cSldViewPr showGuides="1">
      <p:cViewPr varScale="1">
        <p:scale>
          <a:sx n="107" d="100"/>
          <a:sy n="107" d="100"/>
        </p:scale>
        <p:origin x="1760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3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25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>
                <a:solidFill>
                  <a:schemeClr val="tx1"/>
                </a:solidFill>
              </a:rPr>
            </a:fld>
            <a:endParaRPr lang="zh-CN" altLang="en-US" sz="12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>
                <a:solidFill>
                  <a:schemeClr val="tx1"/>
                </a:solidFill>
              </a:rPr>
            </a:fld>
            <a:endParaRPr lang="zh-CN" altLang="en-US" sz="12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778250" y="9429750"/>
            <a:ext cx="2890838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" altLang="en-US" sz="1200">
                <a:solidFill>
                  <a:schemeClr val="tx1"/>
                </a:solidFill>
              </a:rPr>
            </a:fld>
            <a:endParaRPr lang="" altLang="en-US" sz="120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778250" y="9429750"/>
            <a:ext cx="2890838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" altLang="en-US" sz="1200">
                <a:solidFill>
                  <a:schemeClr val="tx1"/>
                </a:solidFill>
              </a:rPr>
            </a:fld>
            <a:endParaRPr lang="" altLang="en-US" sz="1200">
              <a:solidFill>
                <a:schemeClr val="tx1"/>
              </a:solidFill>
            </a:endParaRPr>
          </a:p>
        </p:txBody>
      </p:sp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4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389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29750"/>
            <a:ext cx="2890838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" altLang="en-US" sz="1200">
                <a:solidFill>
                  <a:schemeClr val="tx1"/>
                </a:solidFill>
              </a:rPr>
            </a:fld>
            <a:endParaRPr lang="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2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zh-CN" altLang="en-US"/>
              <a:t>空串的生成是二义的</a:t>
            </a:r>
            <a:endParaRPr lang="zh-CN" altLang="en-US"/>
          </a:p>
        </p:txBody>
      </p:sp>
      <p:sp>
        <p:nvSpPr>
          <p:cNvPr id="460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29750"/>
            <a:ext cx="2890838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>
                <a:solidFill>
                  <a:schemeClr val="tx1"/>
                </a:solidFill>
              </a:rPr>
            </a:fld>
            <a:endParaRPr lang="zh-CN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450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29750"/>
            <a:ext cx="2890838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" altLang="en-US" sz="1200">
                <a:solidFill>
                  <a:schemeClr val="tx1"/>
                </a:solidFill>
              </a:rPr>
            </a:fld>
            <a:endParaRPr lang="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26288-E145-466D-B974-73F5163FFC40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 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26288-E145-466D-B974-73F5163FFC40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 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26288-E145-466D-B974-73F5163FFC40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 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26288-E145-466D-B974-73F5163FFC40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 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26288-E145-466D-B974-73F5163FFC40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 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26288-E145-466D-B974-73F5163FFC40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 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26288-E145-466D-B974-73F5163FFC40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 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26288-E145-466D-B974-73F5163FFC40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 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26288-E145-466D-B974-73F5163FFC40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 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26288-E145-466D-B974-73F5163FFC40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 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7675" y="304800"/>
            <a:ext cx="2138363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264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26288-E145-466D-B974-73F5163FFC40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 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1" i="1">
                <a:latin typeface="Arial Narrow" panose="020B0606020202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27" name="Rectangle 2"/>
          <p:cNvSpPr/>
          <p:nvPr/>
        </p:nvSpPr>
        <p:spPr>
          <a:xfrm>
            <a:off x="457200" y="76200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8" name="Rectangle 3"/>
          <p:cNvSpPr/>
          <p:nvPr/>
        </p:nvSpPr>
        <p:spPr>
          <a:xfrm>
            <a:off x="762000" y="838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9" name="Rectangle 4"/>
          <p:cNvSpPr/>
          <p:nvPr/>
        </p:nvSpPr>
        <p:spPr>
          <a:xfrm>
            <a:off x="533400" y="4572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0" name="Rectangle 5"/>
          <p:cNvSpPr/>
          <p:nvPr/>
        </p:nvSpPr>
        <p:spPr>
          <a:xfrm>
            <a:off x="304800" y="381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1" name="Rectangle 6"/>
          <p:cNvSpPr/>
          <p:nvPr/>
        </p:nvSpPr>
        <p:spPr>
          <a:xfrm>
            <a:off x="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2" name="Rectangle 7"/>
          <p:cNvSpPr/>
          <p:nvPr/>
        </p:nvSpPr>
        <p:spPr>
          <a:xfrm>
            <a:off x="914400" y="3810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3" name="Rectangle 8"/>
          <p:cNvSpPr/>
          <p:nvPr/>
        </p:nvSpPr>
        <p:spPr>
          <a:xfrm>
            <a:off x="609600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4" name="Rectangle 9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793038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Rectangle 10"/>
          <p:cNvSpPr>
            <a:spLocks noGrp="1"/>
          </p:cNvSpPr>
          <p:nvPr>
            <p:ph type="body"/>
          </p:nvPr>
        </p:nvSpPr>
        <p:spPr>
          <a:xfrm>
            <a:off x="381000" y="1295400"/>
            <a:ext cx="85344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buClrTx/>
              <a:buSzTx/>
              <a:buFontTx/>
              <a:buNone/>
              <a:defRPr kumimoji="0"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26288-E145-466D-B974-73F5163FFC40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 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image" Target="../media/image4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2.xml"/><Relationship Id="rId13" Type="http://schemas.openxmlformats.org/officeDocument/2006/relationships/image" Target="../media/image5.pn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24.xml"/><Relationship Id="rId14" Type="http://schemas.openxmlformats.org/officeDocument/2006/relationships/image" Target="../media/image5.png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3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5362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5363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5364" name="Rectangle 2"/>
          <p:cNvSpPr>
            <a:spLocks noGrp="1"/>
          </p:cNvSpPr>
          <p:nvPr>
            <p:ph type="title"/>
          </p:nvPr>
        </p:nvSpPr>
        <p:spPr>
          <a:xfrm>
            <a:off x="1042988" y="304800"/>
            <a:ext cx="7793037" cy="838200"/>
          </a:xfrm>
          <a:ln/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zh-CN" altLang="en-US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第四章  上下文无关文法与下推自动机 </a:t>
            </a:r>
            <a:endParaRPr lang="zh-CN" altLang="en-US" b="1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15365" name="Rectangle 3"/>
          <p:cNvSpPr>
            <a:spLocks noGrp="1"/>
          </p:cNvSpPr>
          <p:nvPr>
            <p:ph idx="1"/>
          </p:nvPr>
        </p:nvSpPr>
        <p:spPr>
          <a:xfrm>
            <a:off x="361950" y="1484313"/>
            <a:ext cx="8458200" cy="4724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Char char="²"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推导树和文法的二义性</a:t>
            </a:r>
            <a:endParaRPr lang="zh-CN" altLang="en-US" sz="3200">
              <a:solidFill>
                <a:srgbClr val="800080"/>
              </a:solidFill>
              <a:ea typeface="华文行楷" panose="02010800040101010101" pitchFamily="2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Char char="²"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上下文无关文法的变换</a:t>
            </a:r>
            <a:endParaRPr lang="zh-CN" altLang="en-US" sz="3200">
              <a:solidFill>
                <a:srgbClr val="800080"/>
              </a:solidFill>
              <a:ea typeface="华文行楷" panose="02010800040101010101" pitchFamily="2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None/>
            </a:pPr>
            <a:r>
              <a:rPr lang="en-US" altLang="zh-CN" sz="3200">
                <a:solidFill>
                  <a:srgbClr val="800080"/>
                </a:solidFill>
                <a:ea typeface="华文行楷" panose="02010800040101010101" pitchFamily="2" charset="-122"/>
              </a:rPr>
              <a:t> 	   	</a:t>
            </a:r>
            <a:r>
              <a:rPr lang="en-US" altLang="zh-CN">
                <a:solidFill>
                  <a:srgbClr val="800080"/>
                </a:solidFill>
                <a:ea typeface="华文行楷" panose="02010800040101010101" pitchFamily="2" charset="-122"/>
              </a:rPr>
              <a:t>Chomsky</a:t>
            </a:r>
            <a:r>
              <a:rPr lang="zh-CN" altLang="en-US">
                <a:solidFill>
                  <a:srgbClr val="800080"/>
                </a:solidFill>
                <a:ea typeface="华文行楷" panose="02010800040101010101" pitchFamily="2" charset="-122"/>
              </a:rPr>
              <a:t>范式</a:t>
            </a:r>
            <a:endParaRPr lang="zh-CN" altLang="en-US">
              <a:solidFill>
                <a:srgbClr val="800080"/>
              </a:solidFill>
              <a:ea typeface="华文行楷" panose="02010800040101010101" pitchFamily="2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None/>
            </a:pPr>
            <a:r>
              <a:rPr lang="en-US" altLang="zh-CN">
                <a:solidFill>
                  <a:srgbClr val="800080"/>
                </a:solidFill>
                <a:ea typeface="华文行楷" panose="02010800040101010101" pitchFamily="2" charset="-122"/>
              </a:rPr>
              <a:t>		Greibach</a:t>
            </a:r>
            <a:r>
              <a:rPr lang="zh-CN" altLang="en-US">
                <a:solidFill>
                  <a:srgbClr val="800080"/>
                </a:solidFill>
                <a:ea typeface="华文行楷" panose="02010800040101010101" pitchFamily="2" charset="-122"/>
              </a:rPr>
              <a:t>范式</a:t>
            </a:r>
            <a:endParaRPr lang="zh-CN" altLang="en-US">
              <a:solidFill>
                <a:srgbClr val="800080"/>
              </a:solidFill>
              <a:ea typeface="华文行楷" panose="02010800040101010101" pitchFamily="2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Char char="²"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 下推自动机</a:t>
            </a:r>
            <a:endParaRPr lang="zh-CN" altLang="en-US" sz="3200">
              <a:solidFill>
                <a:srgbClr val="800080"/>
              </a:solidFill>
              <a:ea typeface="华文行楷" panose="02010800040101010101" pitchFamily="2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Char char="²"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上下文无关语言的性质</a:t>
            </a:r>
            <a:endParaRPr lang="zh-CN" altLang="en-US" sz="3200">
              <a:solidFill>
                <a:srgbClr val="800080"/>
              </a:solidFill>
              <a:ea typeface="华文行楷" panose="020108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Char char="²"/>
            </a:pPr>
            <a:endParaRPr lang="zh-CN" altLang="en-US" sz="3200">
              <a:solidFill>
                <a:srgbClr val="800080"/>
              </a:solidFill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7410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7411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793038" cy="838200"/>
          </a:xfrm>
          <a:ln/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zh-CN" altLang="en-US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本章要点</a:t>
            </a:r>
            <a:endParaRPr lang="zh-CN" altLang="en-US" b="1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17413" name="Rectangle 3"/>
          <p:cNvSpPr>
            <a:spLocks noGrp="1"/>
          </p:cNvSpPr>
          <p:nvPr>
            <p:ph idx="1"/>
          </p:nvPr>
        </p:nvSpPr>
        <p:spPr>
          <a:xfrm>
            <a:off x="304800" y="1219200"/>
            <a:ext cx="8458200" cy="5029200"/>
          </a:xfrm>
          <a:ln/>
        </p:spPr>
        <p:txBody>
          <a:bodyPr vert="horz" wrap="square" lIns="91440" tIns="45720" rIns="91440" bIns="45720" anchor="t" anchorCtr="0"/>
          <a:p>
            <a:pPr marL="0" indent="485775" algn="just" eaLnBrk="1" hangingPunct="1">
              <a:lnSpc>
                <a:spcPct val="13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Char char="²"/>
            </a:pPr>
            <a:r>
              <a:rPr lang="zh-CN" altLang="en-US">
                <a:solidFill>
                  <a:srgbClr val="800080"/>
                </a:solidFill>
              </a:rPr>
              <a:t>上下文无关文法（即2型文法）：</a:t>
            </a:r>
            <a:endParaRPr lang="zh-CN" altLang="en-US">
              <a:solidFill>
                <a:srgbClr val="800080"/>
              </a:solidFill>
            </a:endParaRPr>
          </a:p>
          <a:p>
            <a:pPr marL="0" indent="485775" algn="just" eaLnBrk="1" hangingPunct="1">
              <a:lnSpc>
                <a:spcPct val="130000"/>
              </a:lnSpc>
              <a:spcBef>
                <a:spcPct val="0"/>
              </a:spcBef>
              <a:buClr>
                <a:srgbClr val="333399"/>
              </a:buClr>
              <a:buSzTx/>
              <a:buNone/>
            </a:pPr>
            <a:r>
              <a:rPr lang="zh-CN" altLang="en-US">
                <a:solidFill>
                  <a:srgbClr val="800080"/>
                </a:solidFill>
              </a:rPr>
              <a:t> </a:t>
            </a:r>
            <a:r>
              <a:rPr lang="zh-CN" altLang="en-US">
                <a:solidFill>
                  <a:schemeClr val="tx2"/>
                </a:solidFill>
              </a:rPr>
              <a:t>产生式形如 </a:t>
            </a:r>
            <a:r>
              <a:rPr lang="en-US" altLang="zh-CN">
                <a:solidFill>
                  <a:schemeClr val="tx2"/>
                </a:solidFill>
              </a:rPr>
              <a:t>A→α, A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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endParaRPr lang="en-US" altLang="zh-CN">
              <a:solidFill>
                <a:schemeClr val="tx2"/>
              </a:solidFill>
            </a:endParaRPr>
          </a:p>
          <a:p>
            <a:pPr marL="0" indent="485775" algn="just" eaLnBrk="1" hangingPunct="1">
              <a:lnSpc>
                <a:spcPct val="130000"/>
              </a:lnSpc>
              <a:spcBef>
                <a:spcPct val="0"/>
              </a:spcBef>
              <a:buClr>
                <a:srgbClr val="333399"/>
              </a:buClr>
              <a:buSzTx/>
              <a:buNone/>
            </a:pP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</a:t>
            </a:r>
            <a:r>
              <a:rPr lang="en-US" altLang="zh-CN">
                <a:solidFill>
                  <a:schemeClr val="tx2"/>
                </a:solidFill>
              </a:rPr>
              <a:t>∪Τ)* </a:t>
            </a:r>
            <a:r>
              <a:rPr lang="zh-CN" altLang="en-US">
                <a:solidFill>
                  <a:schemeClr val="tx2"/>
                </a:solidFill>
              </a:rPr>
              <a:t>所描述的语言称为上下文无关语言。</a:t>
            </a:r>
            <a:endParaRPr lang="zh-CN" altLang="en-US">
              <a:solidFill>
                <a:schemeClr val="tx2"/>
              </a:solidFill>
            </a:endParaRPr>
          </a:p>
          <a:p>
            <a:pPr marL="0" indent="485775" algn="just" eaLnBrk="1" hangingPunct="1">
              <a:lnSpc>
                <a:spcPct val="13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Char char="²"/>
            </a:pPr>
            <a:r>
              <a:rPr lang="zh-CN" altLang="en-US">
                <a:solidFill>
                  <a:srgbClr val="800080"/>
                </a:solidFill>
              </a:rPr>
              <a:t>用途：</a:t>
            </a:r>
            <a:endParaRPr lang="zh-CN" altLang="en-US">
              <a:solidFill>
                <a:srgbClr val="800080"/>
              </a:solidFill>
            </a:endParaRPr>
          </a:p>
          <a:p>
            <a:pPr marL="0" indent="485775" algn="just" eaLnBrk="1" hangingPunct="1">
              <a:lnSpc>
                <a:spcPct val="130000"/>
              </a:lnSpc>
              <a:spcBef>
                <a:spcPct val="0"/>
              </a:spcBef>
              <a:buClr>
                <a:srgbClr val="333399"/>
              </a:buClr>
              <a:buSzTx/>
              <a:buNone/>
            </a:pPr>
            <a:r>
              <a:rPr lang="zh-CN" altLang="en-US">
                <a:solidFill>
                  <a:schemeClr val="tx2"/>
                </a:solidFill>
              </a:rPr>
              <a:t>可定义程序设计语言、进行语法分析、简化语言翻译</a:t>
            </a: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</a:t>
            </a:r>
            <a:endParaRPr lang="zh-CN" altLang="en-US">
              <a:solidFill>
                <a:schemeClr val="tx2"/>
              </a:solidFill>
            </a:endParaRPr>
          </a:p>
          <a:p>
            <a:pPr marL="0" indent="485775" algn="just" eaLnBrk="1" hangingPunct="1">
              <a:lnSpc>
                <a:spcPct val="13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Char char="²"/>
            </a:pPr>
            <a:r>
              <a:rPr lang="zh-CN" altLang="en-US">
                <a:solidFill>
                  <a:srgbClr val="800080"/>
                </a:solidFill>
              </a:rPr>
              <a:t> 2型文法对应的识别器——下推自动机</a:t>
            </a:r>
            <a:endParaRPr lang="zh-CN" altLang="en-US">
              <a:solidFill>
                <a:srgbClr val="800080"/>
              </a:solidFill>
            </a:endParaRPr>
          </a:p>
          <a:p>
            <a:pPr marL="0" indent="485775" algn="just" eaLnBrk="1" hangingPunct="1">
              <a:lnSpc>
                <a:spcPct val="130000"/>
              </a:lnSpc>
              <a:spcBef>
                <a:spcPct val="0"/>
              </a:spcBef>
              <a:buClr>
                <a:srgbClr val="333399"/>
              </a:buClr>
              <a:buSzTx/>
              <a:buNone/>
            </a:pPr>
            <a:r>
              <a:rPr lang="en-US" altLang="zh-CN">
                <a:solidFill>
                  <a:srgbClr val="800080"/>
                </a:solidFill>
              </a:rPr>
              <a:t> </a:t>
            </a:r>
            <a:r>
              <a:rPr lang="en-US" altLang="zh-CN">
                <a:solidFill>
                  <a:schemeClr val="tx2"/>
                </a:solidFill>
              </a:rPr>
              <a:t>PDA（Push Down Automata)</a:t>
            </a:r>
            <a:r>
              <a:rPr lang="zh-CN" altLang="en-US">
                <a:solidFill>
                  <a:schemeClr val="tx2"/>
                </a:solidFill>
              </a:rPr>
              <a:t>由输入带、有限控制器和下推栈构成</a:t>
            </a:r>
            <a:endParaRPr lang="zh-CN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9458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9459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endParaRPr lang="zh-CN" altLang="en-US"/>
          </a:p>
        </p:txBody>
      </p:sp>
      <p:sp>
        <p:nvSpPr>
          <p:cNvPr id="19461" name="Text Box 4"/>
          <p:cNvSpPr txBox="1"/>
          <p:nvPr/>
        </p:nvSpPr>
        <p:spPr>
          <a:xfrm>
            <a:off x="457200" y="1600200"/>
            <a:ext cx="8382000" cy="46656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回顾：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在第一讲中介绍过如下内容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12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设 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T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= 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，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L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= 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en-US" altLang="zh-CN" sz="2800" b="1" i="1" baseline="30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 b="1" i="1" baseline="30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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 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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，</a:t>
            </a:r>
            <a:endParaRPr lang="en-US" altLang="zh-CN" sz="28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如 </a:t>
            </a:r>
            <a:r>
              <a:rPr lang="zh-CN" altLang="en-US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0011, 000111, 01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zh-CN" altLang="en-US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L,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而</a:t>
            </a:r>
            <a:r>
              <a:rPr lang="zh-CN" altLang="en-US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10, 1001 , , 010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</a:t>
            </a:r>
            <a:r>
              <a:rPr lang="zh-CN" altLang="en-US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L 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.</a:t>
            </a:r>
            <a:endParaRPr lang="en-US" altLang="zh-CN" sz="28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12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28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如下是一个可接受该语言的上下文无关文法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12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800" b="1" i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          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S 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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01</a:t>
            </a:r>
            <a:endParaRPr lang="en-US" altLang="zh-CN" sz="2800" b="1" i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           S 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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0S1</a:t>
            </a:r>
            <a:endParaRPr lang="en-US" altLang="zh-CN" sz="2800" b="1" i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12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800" b="1" i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但没有任何有限自动机能够接受语言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L.</a:t>
            </a:r>
            <a:endParaRPr lang="en-US" altLang="zh-CN" sz="2800" b="1" i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0482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0483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/>
          </p:nvPr>
        </p:nvSpPr>
        <p:spPr>
          <a:xfrm>
            <a:off x="381000" y="1066800"/>
            <a:ext cx="7793038" cy="838200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归约与推导的概念:</a:t>
            </a:r>
            <a:endParaRPr lang="zh-CN" altLang="en-US" sz="400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0485" name="Rectangle 7"/>
          <p:cNvSpPr/>
          <p:nvPr/>
        </p:nvSpPr>
        <p:spPr>
          <a:xfrm>
            <a:off x="304800" y="2057400"/>
            <a:ext cx="8534400" cy="3894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推理字符串是否属于文法所定义的语言</a:t>
            </a:r>
            <a:endParaRPr lang="zh-CN" altLang="en-US" sz="2800" b="1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一种是自下而上的方法，称为</a:t>
            </a: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递归推理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(recursive inference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），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递归推理的过程习称为</a:t>
            </a: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归约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；</a:t>
            </a:r>
            <a:endParaRPr lang="zh-CN" altLang="en-US" sz="28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</a:pP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一种是自上而下的方法，称为</a:t>
            </a: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推导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derivation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）.</a:t>
            </a:r>
            <a:endParaRPr lang="en-US" altLang="zh-CN" sz="28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归约过程 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将产生式的右部（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body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）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替换为产生式的左部（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head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）.</a:t>
            </a:r>
            <a:endParaRPr lang="en-US" altLang="zh-CN" sz="28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 推导过程   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将产生式的左部（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head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）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替换为产生式的右部（ </a:t>
            </a:r>
            <a:r>
              <a: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body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）.</a:t>
            </a:r>
            <a:endParaRPr lang="en-US" altLang="zh-CN" sz="2800" b="1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20486" name="Rectangle 11"/>
          <p:cNvSpPr/>
          <p:nvPr/>
        </p:nvSpPr>
        <p:spPr>
          <a:xfrm>
            <a:off x="1143000" y="304800"/>
            <a:ext cx="7793038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eaLnBrk="1" hangingPunct="1"/>
            <a:r>
              <a:rPr lang="zh-CN" altLang="en-US" sz="40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4.1   推导树和二义性</a:t>
            </a:r>
            <a:r>
              <a:rPr lang="zh-CN" altLang="en-US" sz="4000">
                <a:solidFill>
                  <a:srgbClr val="800080"/>
                </a:solidFill>
                <a:latin typeface="Copperplate Gothic Light" panose="020E0507020206020404" pitchFamily="34" charset="0"/>
                <a:ea typeface="华文行楷" panose="02010800040101010101" pitchFamily="2" charset="-122"/>
              </a:rPr>
              <a:t> </a:t>
            </a:r>
            <a:endParaRPr lang="zh-CN" altLang="en-US" sz="4000">
              <a:solidFill>
                <a:srgbClr val="800080"/>
              </a:solidFill>
              <a:latin typeface="Copperplate Gothic Light" panose="020E05070202060204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1506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1507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150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归约与推导</a:t>
            </a:r>
            <a:endParaRPr lang="zh-CN" altLang="en-US" sz="440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509" name="Rectangle 9"/>
          <p:cNvSpPr/>
          <p:nvPr/>
        </p:nvSpPr>
        <p:spPr>
          <a:xfrm>
            <a:off x="304800" y="1371600"/>
            <a:ext cx="8153400" cy="3846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归约过程</a:t>
            </a: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举例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8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对于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CFG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</a:t>
            </a:r>
            <a:r>
              <a:rPr lang="en-US" altLang="zh-CN" sz="24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exp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 (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{E,O},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{ (, ),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＋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v, d }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E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 ，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为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8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              （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）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E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EOE</a:t>
            </a:r>
            <a:endParaRPr lang="en-US" altLang="zh-CN" sz="20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    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（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）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E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(E)</a:t>
            </a:r>
            <a:endParaRPr lang="en-US" altLang="zh-CN" sz="20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    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（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3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）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E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v</a:t>
            </a:r>
            <a:endParaRPr lang="en-US" altLang="zh-CN" sz="20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    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（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4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）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E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d</a:t>
            </a:r>
            <a:endParaRPr lang="en-US" altLang="zh-CN" sz="20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    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（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5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）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O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＋</a:t>
            </a:r>
            <a:endParaRPr lang="en-US" altLang="zh-CN" sz="20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    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（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6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）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O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</a:t>
            </a:r>
            <a:endParaRPr lang="en-US" altLang="zh-CN" sz="20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8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递归推理出字符串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v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(v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＋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d)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的一个归约过程为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grpSp>
        <p:nvGrpSpPr>
          <p:cNvPr id="21510" name="组合 50"/>
          <p:cNvGrpSpPr/>
          <p:nvPr/>
        </p:nvGrpSpPr>
        <p:grpSpPr>
          <a:xfrm>
            <a:off x="827088" y="5229225"/>
            <a:ext cx="6408737" cy="1109663"/>
            <a:chOff x="467544" y="5334000"/>
            <a:chExt cx="6408712" cy="1109610"/>
          </a:xfrm>
        </p:grpSpPr>
        <p:sp>
          <p:nvSpPr>
            <p:cNvPr id="21511" name="Rectangle 30"/>
            <p:cNvSpPr/>
            <p:nvPr/>
          </p:nvSpPr>
          <p:spPr>
            <a:xfrm>
              <a:off x="2487439" y="5945119"/>
              <a:ext cx="860425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1512" name="Rectangle 34"/>
            <p:cNvSpPr/>
            <p:nvPr/>
          </p:nvSpPr>
          <p:spPr>
            <a:xfrm>
              <a:off x="3635896" y="5945119"/>
              <a:ext cx="69215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1513" name="Rectangle 38"/>
            <p:cNvSpPr/>
            <p:nvPr/>
          </p:nvSpPr>
          <p:spPr>
            <a:xfrm>
              <a:off x="4716016" y="6021288"/>
              <a:ext cx="720725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1514" name="Rectangle 42"/>
            <p:cNvSpPr/>
            <p:nvPr/>
          </p:nvSpPr>
          <p:spPr>
            <a:xfrm>
              <a:off x="5724128" y="6019800"/>
              <a:ext cx="354013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grpSp>
          <p:nvGrpSpPr>
            <p:cNvPr id="21515" name="组合 49"/>
            <p:cNvGrpSpPr/>
            <p:nvPr/>
          </p:nvGrpSpPr>
          <p:grpSpPr>
            <a:xfrm>
              <a:off x="467544" y="5334000"/>
              <a:ext cx="6408712" cy="1012155"/>
              <a:chOff x="467544" y="5334000"/>
              <a:chExt cx="6408712" cy="1012155"/>
            </a:xfrm>
          </p:grpSpPr>
          <p:sp>
            <p:nvSpPr>
              <p:cNvPr id="21521" name="Rectangle 10"/>
              <p:cNvSpPr/>
              <p:nvPr/>
            </p:nvSpPr>
            <p:spPr>
              <a:xfrm>
                <a:off x="827584" y="5456238"/>
                <a:ext cx="1241425" cy="3968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v 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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(v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＋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d)</a:t>
                </a:r>
                <a:endPara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22" name="Rectangle 13"/>
              <p:cNvSpPr/>
              <p:nvPr/>
            </p:nvSpPr>
            <p:spPr>
              <a:xfrm>
                <a:off x="1907704" y="53340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4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23" name="Rectangle 14"/>
              <p:cNvSpPr/>
              <p:nvPr/>
            </p:nvSpPr>
            <p:spPr>
              <a:xfrm>
                <a:off x="2452191" y="5456238"/>
                <a:ext cx="1255713" cy="3968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v 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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(v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＋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E)</a:t>
                </a:r>
                <a:endPara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24" name="Rectangle 17"/>
              <p:cNvSpPr/>
              <p:nvPr/>
            </p:nvSpPr>
            <p:spPr>
              <a:xfrm>
                <a:off x="3491880" y="53340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6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25" name="Rectangle 18"/>
              <p:cNvSpPr/>
              <p:nvPr/>
            </p:nvSpPr>
            <p:spPr>
              <a:xfrm>
                <a:off x="4036844" y="5477978"/>
                <a:ext cx="1255713" cy="3968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v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O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(v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＋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E)</a:t>
                </a:r>
                <a:endPara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26" name="Rectangle 21"/>
              <p:cNvSpPr/>
              <p:nvPr/>
            </p:nvSpPr>
            <p:spPr>
              <a:xfrm>
                <a:off x="5076056" y="5334000"/>
                <a:ext cx="720080" cy="3385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3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27" name="Rectangle 22"/>
              <p:cNvSpPr/>
              <p:nvPr/>
            </p:nvSpPr>
            <p:spPr>
              <a:xfrm>
                <a:off x="5591968" y="5486400"/>
                <a:ext cx="1284288" cy="3968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v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O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(E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＋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E)</a:t>
                </a:r>
                <a:endPara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28" name="Rectangle 25"/>
              <p:cNvSpPr/>
              <p:nvPr/>
            </p:nvSpPr>
            <p:spPr>
              <a:xfrm>
                <a:off x="467544" y="5877272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5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29" name="Rectangle 26"/>
              <p:cNvSpPr/>
              <p:nvPr/>
            </p:nvSpPr>
            <p:spPr>
              <a:xfrm>
                <a:off x="971600" y="5949280"/>
                <a:ext cx="1227138" cy="3968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v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O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(E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O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E)</a:t>
                </a:r>
                <a:endPara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30" name="Rectangle 29"/>
              <p:cNvSpPr/>
              <p:nvPr/>
            </p:nvSpPr>
            <p:spPr>
              <a:xfrm>
                <a:off x="1907704" y="58674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1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31" name="Rectangle 33"/>
              <p:cNvSpPr/>
              <p:nvPr/>
            </p:nvSpPr>
            <p:spPr>
              <a:xfrm>
                <a:off x="3076649" y="58674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2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32" name="Rectangle 37"/>
              <p:cNvSpPr/>
              <p:nvPr/>
            </p:nvSpPr>
            <p:spPr>
              <a:xfrm>
                <a:off x="4139952" y="5889625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3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33" name="Rectangle 41"/>
              <p:cNvSpPr/>
              <p:nvPr/>
            </p:nvSpPr>
            <p:spPr>
              <a:xfrm>
                <a:off x="5236889" y="5877272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1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34" name="矩形 40"/>
              <p:cNvSpPr/>
              <p:nvPr/>
            </p:nvSpPr>
            <p:spPr>
              <a:xfrm>
                <a:off x="2071476" y="5405976"/>
                <a:ext cx="489234" cy="4616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35" name="矩形 41"/>
              <p:cNvSpPr/>
              <p:nvPr/>
            </p:nvSpPr>
            <p:spPr>
              <a:xfrm>
                <a:off x="3635896" y="5405976"/>
                <a:ext cx="489234" cy="4616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1536" name="矩形 43"/>
              <p:cNvSpPr/>
              <p:nvPr/>
            </p:nvSpPr>
            <p:spPr>
              <a:xfrm>
                <a:off x="5220549" y="5405976"/>
                <a:ext cx="489234" cy="4616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sp>
          <p:nvSpPr>
            <p:cNvPr id="21516" name="矩形 44"/>
            <p:cNvSpPr/>
            <p:nvPr/>
          </p:nvSpPr>
          <p:spPr>
            <a:xfrm>
              <a:off x="611560" y="5952374"/>
              <a:ext cx="489234" cy="4616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21517" name="矩形 45"/>
            <p:cNvSpPr/>
            <p:nvPr/>
          </p:nvSpPr>
          <p:spPr>
            <a:xfrm>
              <a:off x="2051720" y="5952374"/>
              <a:ext cx="475861" cy="4616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21518" name="矩形 46"/>
            <p:cNvSpPr/>
            <p:nvPr/>
          </p:nvSpPr>
          <p:spPr>
            <a:xfrm>
              <a:off x="3204333" y="5952374"/>
              <a:ext cx="489234" cy="4616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21519" name="矩形 47"/>
            <p:cNvSpPr/>
            <p:nvPr/>
          </p:nvSpPr>
          <p:spPr>
            <a:xfrm>
              <a:off x="4284449" y="5952374"/>
              <a:ext cx="489234" cy="4616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21520" name="矩形 48"/>
            <p:cNvSpPr/>
            <p:nvPr/>
          </p:nvSpPr>
          <p:spPr>
            <a:xfrm>
              <a:off x="5364088" y="5981988"/>
              <a:ext cx="489234" cy="4616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2530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2531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253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归约与推导</a:t>
            </a:r>
            <a:endParaRPr lang="zh-CN" altLang="en-US" sz="440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2533" name="Rectangle 38"/>
          <p:cNvSpPr/>
          <p:nvPr/>
        </p:nvSpPr>
        <p:spPr>
          <a:xfrm>
            <a:off x="304800" y="1371600"/>
            <a:ext cx="8153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8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推导过程</a:t>
            </a:r>
            <a:r>
              <a:rPr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举例</a:t>
            </a:r>
            <a:r>
              <a:rPr lang="zh-CN" altLang="en-US" sz="24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8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对于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CFG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</a:t>
            </a:r>
            <a:r>
              <a:rPr lang="en-US" altLang="zh-CN" sz="24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exp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= (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{E,O},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{ (, ),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＋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v, d }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 E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 ，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为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8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              （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）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E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EOE</a:t>
            </a:r>
            <a:endParaRPr lang="en-US" altLang="zh-CN" sz="20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    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（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）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E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(E)</a:t>
            </a:r>
            <a:endParaRPr lang="en-US" altLang="zh-CN" sz="20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    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（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3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）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E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v</a:t>
            </a:r>
            <a:endParaRPr lang="en-US" altLang="zh-CN" sz="20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    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（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4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）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E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d</a:t>
            </a:r>
            <a:endParaRPr lang="en-US" altLang="zh-CN" sz="2000" b="1" i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    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（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5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）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O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＋</a:t>
            </a:r>
            <a:endParaRPr lang="en-US" altLang="zh-CN" sz="20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       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（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6</a:t>
            </a: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）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O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</a:t>
            </a:r>
            <a:endParaRPr lang="en-US" altLang="zh-CN" sz="20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8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从开始符号到字符串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v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(v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＋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d)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的一个推导过程为</a:t>
            </a:r>
            <a:endParaRPr lang="zh-CN" altLang="en-US" sz="2400" b="1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grpSp>
        <p:nvGrpSpPr>
          <p:cNvPr id="22534" name="组合 57"/>
          <p:cNvGrpSpPr/>
          <p:nvPr/>
        </p:nvGrpSpPr>
        <p:grpSpPr>
          <a:xfrm>
            <a:off x="684213" y="5157788"/>
            <a:ext cx="6851650" cy="1120775"/>
            <a:chOff x="899592" y="5181600"/>
            <a:chExt cx="6852333" cy="1122164"/>
          </a:xfrm>
        </p:grpSpPr>
        <p:sp>
          <p:nvSpPr>
            <p:cNvPr id="22535" name="Rectangle 39"/>
            <p:cNvSpPr/>
            <p:nvPr/>
          </p:nvSpPr>
          <p:spPr>
            <a:xfrm>
              <a:off x="4644008" y="5840437"/>
              <a:ext cx="1241425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(v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d)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2536" name="Rectangle 43"/>
            <p:cNvSpPr/>
            <p:nvPr/>
          </p:nvSpPr>
          <p:spPr>
            <a:xfrm>
              <a:off x="2894101" y="5879626"/>
              <a:ext cx="1255713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(v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2537" name="Rectangle 47"/>
            <p:cNvSpPr/>
            <p:nvPr/>
          </p:nvSpPr>
          <p:spPr>
            <a:xfrm>
              <a:off x="4054613" y="5338043"/>
              <a:ext cx="88900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2538" name="Rectangle 54"/>
            <p:cNvSpPr/>
            <p:nvPr/>
          </p:nvSpPr>
          <p:spPr>
            <a:xfrm>
              <a:off x="6524787" y="5325002"/>
              <a:ext cx="1227138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(E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2539" name="Rectangle 61"/>
            <p:cNvSpPr/>
            <p:nvPr/>
          </p:nvSpPr>
          <p:spPr>
            <a:xfrm>
              <a:off x="1835696" y="5334000"/>
              <a:ext cx="720725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2540" name="Rectangle 65"/>
            <p:cNvSpPr/>
            <p:nvPr/>
          </p:nvSpPr>
          <p:spPr>
            <a:xfrm>
              <a:off x="1043608" y="5334000"/>
              <a:ext cx="354013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2541" name="Rectangle 66"/>
            <p:cNvSpPr/>
            <p:nvPr/>
          </p:nvSpPr>
          <p:spPr>
            <a:xfrm>
              <a:off x="2987824" y="5345113"/>
              <a:ext cx="720725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2542" name="Rectangle 70"/>
            <p:cNvSpPr/>
            <p:nvPr/>
          </p:nvSpPr>
          <p:spPr>
            <a:xfrm>
              <a:off x="5364088" y="5334000"/>
              <a:ext cx="860425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2543" name="Rectangle 71"/>
            <p:cNvSpPr/>
            <p:nvPr/>
          </p:nvSpPr>
          <p:spPr>
            <a:xfrm>
              <a:off x="1403648" y="5877272"/>
              <a:ext cx="1284288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(E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grpSp>
          <p:nvGrpSpPr>
            <p:cNvPr id="22544" name="组合 67"/>
            <p:cNvGrpSpPr/>
            <p:nvPr/>
          </p:nvGrpSpPr>
          <p:grpSpPr>
            <a:xfrm>
              <a:off x="2411760" y="5197475"/>
              <a:ext cx="703263" cy="530225"/>
              <a:chOff x="2970213" y="5197475"/>
              <a:chExt cx="703263" cy="530225"/>
            </a:xfrm>
          </p:grpSpPr>
          <p:sp>
            <p:nvSpPr>
              <p:cNvPr id="22566" name="Rectangle 46"/>
              <p:cNvSpPr/>
              <p:nvPr/>
            </p:nvSpPr>
            <p:spPr>
              <a:xfrm>
                <a:off x="2970213" y="5197475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6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2567" name="矩形 43"/>
              <p:cNvSpPr/>
              <p:nvPr/>
            </p:nvSpPr>
            <p:spPr>
              <a:xfrm>
                <a:off x="3146425" y="5266035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2545" name="组合 68"/>
            <p:cNvGrpSpPr/>
            <p:nvPr/>
          </p:nvGrpSpPr>
          <p:grpSpPr>
            <a:xfrm>
              <a:off x="1187624" y="5181600"/>
              <a:ext cx="703263" cy="546100"/>
              <a:chOff x="1370013" y="5181600"/>
              <a:chExt cx="703263" cy="546100"/>
            </a:xfrm>
          </p:grpSpPr>
          <p:sp>
            <p:nvSpPr>
              <p:cNvPr id="22564" name="Rectangle 64"/>
              <p:cNvSpPr/>
              <p:nvPr/>
            </p:nvSpPr>
            <p:spPr>
              <a:xfrm>
                <a:off x="1370013" y="51816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1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2565" name="矩形 43"/>
              <p:cNvSpPr/>
              <p:nvPr/>
            </p:nvSpPr>
            <p:spPr>
              <a:xfrm>
                <a:off x="1547664" y="5266035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2546" name="组合 69"/>
            <p:cNvGrpSpPr/>
            <p:nvPr/>
          </p:nvGrpSpPr>
          <p:grpSpPr>
            <a:xfrm>
              <a:off x="3491880" y="5197475"/>
              <a:ext cx="703263" cy="530225"/>
              <a:chOff x="4570413" y="5197475"/>
              <a:chExt cx="703263" cy="530225"/>
            </a:xfrm>
          </p:grpSpPr>
          <p:sp>
            <p:nvSpPr>
              <p:cNvPr id="22562" name="Rectangle 69"/>
              <p:cNvSpPr/>
              <p:nvPr/>
            </p:nvSpPr>
            <p:spPr>
              <a:xfrm>
                <a:off x="4570413" y="5197475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2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2563" name="矩形 43"/>
              <p:cNvSpPr/>
              <p:nvPr/>
            </p:nvSpPr>
            <p:spPr>
              <a:xfrm>
                <a:off x="4743679" y="5266035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2547" name="组合 70"/>
            <p:cNvGrpSpPr/>
            <p:nvPr/>
          </p:nvGrpSpPr>
          <p:grpSpPr>
            <a:xfrm>
              <a:off x="4788024" y="5197475"/>
              <a:ext cx="703263" cy="530225"/>
              <a:chOff x="6256339" y="5197475"/>
              <a:chExt cx="703263" cy="530225"/>
            </a:xfrm>
          </p:grpSpPr>
          <p:sp>
            <p:nvSpPr>
              <p:cNvPr id="22560" name="Rectangle 50"/>
              <p:cNvSpPr/>
              <p:nvPr/>
            </p:nvSpPr>
            <p:spPr>
              <a:xfrm>
                <a:off x="6256339" y="5197475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3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2561" name="矩形 84"/>
              <p:cNvSpPr/>
              <p:nvPr/>
            </p:nvSpPr>
            <p:spPr>
              <a:xfrm>
                <a:off x="6409989" y="5266035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2548" name="组合 71"/>
            <p:cNvGrpSpPr/>
            <p:nvPr/>
          </p:nvGrpSpPr>
          <p:grpSpPr>
            <a:xfrm>
              <a:off x="6028977" y="5192713"/>
              <a:ext cx="703263" cy="534987"/>
              <a:chOff x="303213" y="5753100"/>
              <a:chExt cx="703263" cy="534987"/>
            </a:xfrm>
          </p:grpSpPr>
          <p:sp>
            <p:nvSpPr>
              <p:cNvPr id="22558" name="Rectangle 53"/>
              <p:cNvSpPr/>
              <p:nvPr/>
            </p:nvSpPr>
            <p:spPr>
              <a:xfrm>
                <a:off x="303213" y="57531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1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2559" name="矩形 43"/>
              <p:cNvSpPr/>
              <p:nvPr/>
            </p:nvSpPr>
            <p:spPr>
              <a:xfrm>
                <a:off x="443935" y="5826422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2549" name="组合 72"/>
            <p:cNvGrpSpPr/>
            <p:nvPr/>
          </p:nvGrpSpPr>
          <p:grpSpPr>
            <a:xfrm>
              <a:off x="899592" y="5753100"/>
              <a:ext cx="703263" cy="550664"/>
              <a:chOff x="2284413" y="5753100"/>
              <a:chExt cx="703263" cy="550664"/>
            </a:xfrm>
          </p:grpSpPr>
          <p:sp>
            <p:nvSpPr>
              <p:cNvPr id="22556" name="Rectangle 57"/>
              <p:cNvSpPr/>
              <p:nvPr/>
            </p:nvSpPr>
            <p:spPr>
              <a:xfrm>
                <a:off x="2284413" y="57531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5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2557" name="矩形 43"/>
              <p:cNvSpPr/>
              <p:nvPr/>
            </p:nvSpPr>
            <p:spPr>
              <a:xfrm>
                <a:off x="2425591" y="5842099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2550" name="组合 73"/>
            <p:cNvGrpSpPr/>
            <p:nvPr/>
          </p:nvGrpSpPr>
          <p:grpSpPr>
            <a:xfrm>
              <a:off x="2428577" y="5733256"/>
              <a:ext cx="703263" cy="570508"/>
              <a:chOff x="4418013" y="5807075"/>
              <a:chExt cx="703263" cy="570508"/>
            </a:xfrm>
          </p:grpSpPr>
          <p:sp>
            <p:nvSpPr>
              <p:cNvPr id="22554" name="Rectangle 60"/>
              <p:cNvSpPr/>
              <p:nvPr/>
            </p:nvSpPr>
            <p:spPr>
              <a:xfrm>
                <a:off x="4418013" y="5807075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3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2555" name="矩形 43"/>
              <p:cNvSpPr/>
              <p:nvPr/>
            </p:nvSpPr>
            <p:spPr>
              <a:xfrm>
                <a:off x="4596197" y="5915918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2551" name="组合 74"/>
            <p:cNvGrpSpPr/>
            <p:nvPr/>
          </p:nvGrpSpPr>
          <p:grpSpPr>
            <a:xfrm>
              <a:off x="4067944" y="5733256"/>
              <a:ext cx="703263" cy="540891"/>
              <a:chOff x="6475413" y="5829300"/>
              <a:chExt cx="703263" cy="540891"/>
            </a:xfrm>
          </p:grpSpPr>
          <p:sp>
            <p:nvSpPr>
              <p:cNvPr id="22552" name="Rectangle 42"/>
              <p:cNvSpPr/>
              <p:nvPr/>
            </p:nvSpPr>
            <p:spPr>
              <a:xfrm>
                <a:off x="6475413" y="58293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4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2553" name="矩形 43"/>
              <p:cNvSpPr/>
              <p:nvPr/>
            </p:nvSpPr>
            <p:spPr>
              <a:xfrm>
                <a:off x="6639154" y="5908526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3554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3555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归约与推导</a:t>
            </a:r>
            <a:endParaRPr lang="zh-CN" altLang="en-US" sz="440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3557" name="Group 43"/>
          <p:cNvGrpSpPr/>
          <p:nvPr/>
        </p:nvGrpSpPr>
        <p:grpSpPr>
          <a:xfrm>
            <a:off x="6781800" y="4114800"/>
            <a:ext cx="1600200" cy="2286000"/>
            <a:chOff x="960" y="2688"/>
            <a:chExt cx="1008" cy="1440"/>
          </a:xfrm>
        </p:grpSpPr>
        <p:sp>
          <p:nvSpPr>
            <p:cNvPr id="23597" name="Text Box 44"/>
            <p:cNvSpPr txBox="1"/>
            <p:nvPr/>
          </p:nvSpPr>
          <p:spPr>
            <a:xfrm>
              <a:off x="960" y="2688"/>
              <a:ext cx="1008" cy="14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EOE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(E)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v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d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＋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</a:t>
              </a:r>
              <a:endParaRPr lang="en-US" altLang="zh-CN" sz="1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3598" name="Rectangle 45"/>
            <p:cNvSpPr/>
            <p:nvPr/>
          </p:nvSpPr>
          <p:spPr>
            <a:xfrm>
              <a:off x="960" y="2688"/>
              <a:ext cx="960" cy="1440"/>
            </a:xfrm>
            <a:prstGeom prst="rect">
              <a:avLst/>
            </a:prstGeom>
            <a:noFill/>
            <a:ln w="9525" cap="flat" cmpd="sng">
              <a:solidFill>
                <a:srgbClr val="333399"/>
              </a:solidFill>
              <a:prstDash val="lgDashDotDot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58" name="Group 94"/>
          <p:cNvGrpSpPr/>
          <p:nvPr/>
        </p:nvGrpSpPr>
        <p:grpSpPr>
          <a:xfrm>
            <a:off x="395288" y="1196975"/>
            <a:ext cx="8153400" cy="3213100"/>
            <a:chOff x="249" y="890"/>
            <a:chExt cx="5136" cy="2024"/>
          </a:xfrm>
        </p:grpSpPr>
        <p:sp>
          <p:nvSpPr>
            <p:cNvPr id="23593" name="Rectangle 60"/>
            <p:cNvSpPr/>
            <p:nvPr/>
          </p:nvSpPr>
          <p:spPr>
            <a:xfrm>
              <a:off x="249" y="890"/>
              <a:ext cx="5136" cy="202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buFont typeface="Wingdings" panose="05000000000000000000" pitchFamily="2" charset="2"/>
                <a:buChar char="²"/>
              </a:pPr>
              <a:r>
                <a:rPr lang="zh-CN" altLang="en-US" sz="2800" b="1">
                  <a:solidFill>
                    <a:srgbClr val="80008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最左推导</a:t>
              </a:r>
              <a:r>
                <a:rPr lang="zh-CN" altLang="en-US" sz="28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</a:t>
              </a:r>
              <a:r>
                <a:rPr lang="en-US" altLang="zh-CN" sz="28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leftmost derivations)</a:t>
              </a:r>
              <a:endParaRPr lang="en-US" altLang="zh-CN" sz="28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en-US" altLang="zh-CN" sz="9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   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若推导过程的每一步总是替换出现在最左边的非终结符，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zh-CN" altLang="en-US" sz="800" b="1" i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    则这样的推导称为</a:t>
              </a:r>
              <a:r>
                <a:rPr lang="zh-CN" altLang="en-US" sz="2400" b="1">
                  <a:solidFill>
                    <a:srgbClr val="800080"/>
                  </a:solidFill>
                  <a:latin typeface="Arial" panose="020B0604020202020204" pitchFamily="34" charset="0"/>
                  <a:ea typeface="楷体_GB2312" pitchFamily="49" charset="-122"/>
                </a:rPr>
                <a:t>最左推导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. 为方便，最左推导关系用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zh-CN" altLang="en-US" sz="800" b="1" i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    表示，其传递闭包用表示.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zh-CN" altLang="en-US" sz="800" b="1" i="1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   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如对于文法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G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exp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，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下面是关于 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(v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d)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的一个最左推导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：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3594" name="Rectangle 61"/>
            <p:cNvSpPr/>
            <p:nvPr/>
          </p:nvSpPr>
          <p:spPr>
            <a:xfrm>
              <a:off x="2284" y="1790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3595" name="Rectangle 62"/>
            <p:cNvSpPr/>
            <p:nvPr/>
          </p:nvSpPr>
          <p:spPr>
            <a:xfrm>
              <a:off x="5085" y="1756"/>
              <a:ext cx="26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PMingLiU" pitchFamily="18" charset="-120"/>
                  <a:sym typeface="Symbol" panose="05050102010706020507" pitchFamily="18" charset="2"/>
                </a:rPr>
                <a:t>l</a:t>
              </a:r>
              <a:r>
                <a: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m</a:t>
              </a:r>
              <a:endParaRPr lang="en-US" altLang="zh-CN" sz="1600" b="1" i="1">
                <a:solidFill>
                  <a:srgbClr val="333399"/>
                </a:solidFill>
                <a:latin typeface="Book Antiqua" panose="02040602050305030304" pitchFamily="18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3596" name="Rectangle 63"/>
            <p:cNvSpPr/>
            <p:nvPr/>
          </p:nvSpPr>
          <p:spPr>
            <a:xfrm>
              <a:off x="2264" y="2021"/>
              <a:ext cx="26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PMingLiU" pitchFamily="18" charset="-120"/>
                  <a:sym typeface="Symbol" panose="05050102010706020507" pitchFamily="18" charset="2"/>
                </a:rPr>
                <a:t>l</a:t>
              </a:r>
              <a:r>
                <a: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m</a:t>
              </a:r>
              <a:endParaRPr lang="en-US" altLang="zh-CN" sz="1600" b="1" i="1">
                <a:solidFill>
                  <a:srgbClr val="333399"/>
                </a:solidFill>
                <a:latin typeface="Book Antiqua" panose="02040602050305030304" pitchFamily="18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23559" name="Group 92"/>
          <p:cNvGrpSpPr/>
          <p:nvPr/>
        </p:nvGrpSpPr>
        <p:grpSpPr>
          <a:xfrm>
            <a:off x="1219200" y="4405313"/>
            <a:ext cx="5084763" cy="1766887"/>
            <a:chOff x="768" y="2775"/>
            <a:chExt cx="3203" cy="1113"/>
          </a:xfrm>
        </p:grpSpPr>
        <p:sp>
          <p:nvSpPr>
            <p:cNvPr id="23560" name="Rectangle 46"/>
            <p:cNvSpPr/>
            <p:nvPr/>
          </p:nvSpPr>
          <p:spPr>
            <a:xfrm>
              <a:off x="2352" y="3591"/>
              <a:ext cx="7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(v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d)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3561" name="Rectangle 47"/>
            <p:cNvSpPr/>
            <p:nvPr/>
          </p:nvSpPr>
          <p:spPr>
            <a:xfrm>
              <a:off x="1104" y="3591"/>
              <a:ext cx="79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(v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3562" name="Rectangle 48"/>
            <p:cNvSpPr/>
            <p:nvPr/>
          </p:nvSpPr>
          <p:spPr>
            <a:xfrm>
              <a:off x="2011" y="3207"/>
              <a:ext cx="77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(E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3563" name="Rectangle 49"/>
            <p:cNvSpPr/>
            <p:nvPr/>
          </p:nvSpPr>
          <p:spPr>
            <a:xfrm>
              <a:off x="1680" y="2823"/>
              <a:ext cx="45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3564" name="Rectangle 50"/>
            <p:cNvSpPr/>
            <p:nvPr/>
          </p:nvSpPr>
          <p:spPr>
            <a:xfrm>
              <a:off x="1104" y="2823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3565" name="Rectangle 51"/>
            <p:cNvSpPr/>
            <p:nvPr/>
          </p:nvSpPr>
          <p:spPr>
            <a:xfrm>
              <a:off x="1104" y="3207"/>
              <a:ext cx="54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3566" name="Rectangle 52"/>
            <p:cNvSpPr/>
            <p:nvPr/>
          </p:nvSpPr>
          <p:spPr>
            <a:xfrm>
              <a:off x="2491" y="2816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3567" name="Rectangle 53"/>
            <p:cNvSpPr/>
            <p:nvPr/>
          </p:nvSpPr>
          <p:spPr>
            <a:xfrm>
              <a:off x="3312" y="2813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3568" name="Rectangle 54"/>
            <p:cNvSpPr/>
            <p:nvPr/>
          </p:nvSpPr>
          <p:spPr>
            <a:xfrm>
              <a:off x="3216" y="3207"/>
              <a:ext cx="75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(v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grpSp>
          <p:nvGrpSpPr>
            <p:cNvPr id="23569" name="Group 55"/>
            <p:cNvGrpSpPr/>
            <p:nvPr/>
          </p:nvGrpSpPr>
          <p:grpSpPr>
            <a:xfrm>
              <a:off x="1344" y="2775"/>
              <a:ext cx="306" cy="345"/>
              <a:chOff x="1344" y="2775"/>
              <a:chExt cx="306" cy="345"/>
            </a:xfrm>
          </p:grpSpPr>
          <p:sp>
            <p:nvSpPr>
              <p:cNvPr id="23591" name="Rectangle 56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3592" name="Rectangle 58"/>
              <p:cNvSpPr/>
              <p:nvPr/>
            </p:nvSpPr>
            <p:spPr>
              <a:xfrm>
                <a:off x="1344" y="2908"/>
                <a:ext cx="26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l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3570" name="Group 64"/>
            <p:cNvGrpSpPr/>
            <p:nvPr/>
          </p:nvGrpSpPr>
          <p:grpSpPr>
            <a:xfrm>
              <a:off x="2142" y="2775"/>
              <a:ext cx="306" cy="345"/>
              <a:chOff x="1344" y="2775"/>
              <a:chExt cx="306" cy="345"/>
            </a:xfrm>
          </p:grpSpPr>
          <p:sp>
            <p:nvSpPr>
              <p:cNvPr id="23589" name="Rectangle 65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3590" name="Rectangle 67"/>
              <p:cNvSpPr/>
              <p:nvPr/>
            </p:nvSpPr>
            <p:spPr>
              <a:xfrm>
                <a:off x="1344" y="2908"/>
                <a:ext cx="26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l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3571" name="Group 68"/>
            <p:cNvGrpSpPr/>
            <p:nvPr/>
          </p:nvGrpSpPr>
          <p:grpSpPr>
            <a:xfrm>
              <a:off x="2958" y="2775"/>
              <a:ext cx="306" cy="345"/>
              <a:chOff x="1344" y="2775"/>
              <a:chExt cx="306" cy="345"/>
            </a:xfrm>
          </p:grpSpPr>
          <p:sp>
            <p:nvSpPr>
              <p:cNvPr id="23587" name="Rectangle 69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3588" name="Rectangle 71"/>
              <p:cNvSpPr/>
              <p:nvPr/>
            </p:nvSpPr>
            <p:spPr>
              <a:xfrm>
                <a:off x="1344" y="2908"/>
                <a:ext cx="26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l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3572" name="Group 72"/>
            <p:cNvGrpSpPr/>
            <p:nvPr/>
          </p:nvGrpSpPr>
          <p:grpSpPr>
            <a:xfrm>
              <a:off x="768" y="3159"/>
              <a:ext cx="306" cy="345"/>
              <a:chOff x="1344" y="2775"/>
              <a:chExt cx="306" cy="345"/>
            </a:xfrm>
          </p:grpSpPr>
          <p:sp>
            <p:nvSpPr>
              <p:cNvPr id="23585" name="Rectangle 73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3586" name="Rectangle 75"/>
              <p:cNvSpPr/>
              <p:nvPr/>
            </p:nvSpPr>
            <p:spPr>
              <a:xfrm>
                <a:off x="1344" y="2908"/>
                <a:ext cx="26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l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3573" name="Group 76"/>
            <p:cNvGrpSpPr/>
            <p:nvPr/>
          </p:nvGrpSpPr>
          <p:grpSpPr>
            <a:xfrm>
              <a:off x="1680" y="3159"/>
              <a:ext cx="306" cy="345"/>
              <a:chOff x="1344" y="2775"/>
              <a:chExt cx="306" cy="345"/>
            </a:xfrm>
          </p:grpSpPr>
          <p:sp>
            <p:nvSpPr>
              <p:cNvPr id="23583" name="Rectangle 77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3584" name="Rectangle 79"/>
              <p:cNvSpPr/>
              <p:nvPr/>
            </p:nvSpPr>
            <p:spPr>
              <a:xfrm>
                <a:off x="1344" y="2908"/>
                <a:ext cx="26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l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3574" name="Group 80"/>
            <p:cNvGrpSpPr/>
            <p:nvPr/>
          </p:nvGrpSpPr>
          <p:grpSpPr>
            <a:xfrm>
              <a:off x="2880" y="3159"/>
              <a:ext cx="306" cy="345"/>
              <a:chOff x="1344" y="2775"/>
              <a:chExt cx="306" cy="345"/>
            </a:xfrm>
          </p:grpSpPr>
          <p:sp>
            <p:nvSpPr>
              <p:cNvPr id="23581" name="Rectangle 81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3582" name="Rectangle 83"/>
              <p:cNvSpPr/>
              <p:nvPr/>
            </p:nvSpPr>
            <p:spPr>
              <a:xfrm>
                <a:off x="1344" y="2908"/>
                <a:ext cx="26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l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3575" name="Group 84"/>
            <p:cNvGrpSpPr/>
            <p:nvPr/>
          </p:nvGrpSpPr>
          <p:grpSpPr>
            <a:xfrm>
              <a:off x="768" y="3543"/>
              <a:ext cx="306" cy="345"/>
              <a:chOff x="1344" y="2775"/>
              <a:chExt cx="306" cy="345"/>
            </a:xfrm>
          </p:grpSpPr>
          <p:sp>
            <p:nvSpPr>
              <p:cNvPr id="23579" name="Rectangle 85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3580" name="Rectangle 87"/>
              <p:cNvSpPr/>
              <p:nvPr/>
            </p:nvSpPr>
            <p:spPr>
              <a:xfrm>
                <a:off x="1344" y="2908"/>
                <a:ext cx="26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l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3576" name="Group 88"/>
            <p:cNvGrpSpPr/>
            <p:nvPr/>
          </p:nvGrpSpPr>
          <p:grpSpPr>
            <a:xfrm>
              <a:off x="1998" y="3543"/>
              <a:ext cx="306" cy="345"/>
              <a:chOff x="1344" y="2775"/>
              <a:chExt cx="306" cy="345"/>
            </a:xfrm>
          </p:grpSpPr>
          <p:sp>
            <p:nvSpPr>
              <p:cNvPr id="23577" name="Rectangle 89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3578" name="Rectangle 91"/>
              <p:cNvSpPr/>
              <p:nvPr/>
            </p:nvSpPr>
            <p:spPr>
              <a:xfrm>
                <a:off x="1344" y="2908"/>
                <a:ext cx="266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l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4578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4579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458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归约与推导</a:t>
            </a:r>
            <a:endParaRPr lang="zh-CN" altLang="en-US" sz="440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4581" name="Group 54"/>
          <p:cNvGrpSpPr/>
          <p:nvPr/>
        </p:nvGrpSpPr>
        <p:grpSpPr>
          <a:xfrm>
            <a:off x="6781800" y="4114800"/>
            <a:ext cx="1600200" cy="2286000"/>
            <a:chOff x="960" y="2688"/>
            <a:chExt cx="1008" cy="1440"/>
          </a:xfrm>
        </p:grpSpPr>
        <p:sp>
          <p:nvSpPr>
            <p:cNvPr id="24621" name="Text Box 55"/>
            <p:cNvSpPr txBox="1"/>
            <p:nvPr/>
          </p:nvSpPr>
          <p:spPr>
            <a:xfrm>
              <a:off x="960" y="2688"/>
              <a:ext cx="1008" cy="14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EOE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(E)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v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d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＋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</a:t>
              </a:r>
              <a:endParaRPr lang="en-US" altLang="zh-CN" sz="1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4622" name="Rectangle 56"/>
            <p:cNvSpPr/>
            <p:nvPr/>
          </p:nvSpPr>
          <p:spPr>
            <a:xfrm>
              <a:off x="960" y="2688"/>
              <a:ext cx="960" cy="1440"/>
            </a:xfrm>
            <a:prstGeom prst="rect">
              <a:avLst/>
            </a:prstGeom>
            <a:noFill/>
            <a:ln w="9525" cap="flat" cmpd="sng">
              <a:solidFill>
                <a:srgbClr val="333399"/>
              </a:solidFill>
              <a:prstDash val="lgDashDotDot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582" name="Group 104"/>
          <p:cNvGrpSpPr/>
          <p:nvPr/>
        </p:nvGrpSpPr>
        <p:grpSpPr>
          <a:xfrm>
            <a:off x="381000" y="1447800"/>
            <a:ext cx="8153400" cy="3136900"/>
            <a:chOff x="240" y="912"/>
            <a:chExt cx="5136" cy="1976"/>
          </a:xfrm>
        </p:grpSpPr>
        <p:sp>
          <p:nvSpPr>
            <p:cNvPr id="24617" name="Rectangle 71"/>
            <p:cNvSpPr/>
            <p:nvPr/>
          </p:nvSpPr>
          <p:spPr>
            <a:xfrm>
              <a:off x="240" y="912"/>
              <a:ext cx="5136" cy="19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buFont typeface="Wingdings" panose="05000000000000000000" pitchFamily="2" charset="2"/>
                <a:buChar char="²"/>
              </a:pPr>
              <a:r>
                <a:rPr lang="zh-CN" altLang="en-US" sz="2400" b="1">
                  <a:solidFill>
                    <a:srgbClr val="80008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最右推导</a:t>
              </a:r>
              <a:r>
                <a:rPr lang="zh-CN" altLang="en-US" sz="24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</a:t>
              </a:r>
              <a:r>
                <a:rPr lang="en-US" altLang="zh-CN" sz="24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rightmost derivations)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en-US" altLang="zh-CN" sz="8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    </a:t>
              </a: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若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推导</a:t>
              </a: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过程的每一步总是替换出现在最右边的非终结符，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zh-CN" altLang="en-US" sz="8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    则这样的推导称为</a:t>
              </a:r>
              <a:r>
                <a:rPr lang="zh-CN" altLang="en-US" sz="2400" b="1">
                  <a:solidFill>
                    <a:srgbClr val="80008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最右推导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. 为方便，最右推导关系用</a:t>
              </a: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zh-CN" altLang="en-US" sz="8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     表示，其传递闭包用表示.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zh-CN" altLang="en-US" sz="8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    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如对于文法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G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exp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，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下面是关于</a:t>
              </a: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(v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d)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的一个最右推导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：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4618" name="Rectangle 72"/>
            <p:cNvSpPr/>
            <p:nvPr/>
          </p:nvSpPr>
          <p:spPr>
            <a:xfrm>
              <a:off x="2250" y="1755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4619" name="Rectangle 73"/>
            <p:cNvSpPr/>
            <p:nvPr/>
          </p:nvSpPr>
          <p:spPr>
            <a:xfrm>
              <a:off x="5040" y="1665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PMingLiU" pitchFamily="18" charset="-120"/>
                  <a:sym typeface="Symbol" panose="05050102010706020507" pitchFamily="18" charset="2"/>
                </a:rPr>
                <a:t>r</a:t>
              </a:r>
              <a:r>
                <a: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m</a:t>
              </a:r>
              <a:endParaRPr lang="en-US" altLang="zh-CN" sz="1600" b="1" i="1">
                <a:solidFill>
                  <a:srgbClr val="333399"/>
                </a:solidFill>
                <a:latin typeface="Book Antiqua" panose="02040602050305030304" pitchFamily="18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4620" name="Rectangle 74"/>
            <p:cNvSpPr/>
            <p:nvPr/>
          </p:nvSpPr>
          <p:spPr>
            <a:xfrm>
              <a:off x="2205" y="1980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PMingLiU" pitchFamily="18" charset="-120"/>
                  <a:sym typeface="Symbol" panose="05050102010706020507" pitchFamily="18" charset="2"/>
                </a:rPr>
                <a:t>r</a:t>
              </a:r>
              <a:r>
                <a: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m</a:t>
              </a:r>
              <a:endParaRPr lang="en-US" altLang="zh-CN" sz="1600" b="1" i="1">
                <a:solidFill>
                  <a:srgbClr val="333399"/>
                </a:solidFill>
                <a:latin typeface="Book Antiqua" panose="02040602050305030304" pitchFamily="18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24583" name="Group 103"/>
          <p:cNvGrpSpPr/>
          <p:nvPr/>
        </p:nvGrpSpPr>
        <p:grpSpPr>
          <a:xfrm>
            <a:off x="1219200" y="4405313"/>
            <a:ext cx="5384800" cy="1766887"/>
            <a:chOff x="768" y="2775"/>
            <a:chExt cx="3392" cy="1113"/>
          </a:xfrm>
        </p:grpSpPr>
        <p:sp>
          <p:nvSpPr>
            <p:cNvPr id="24584" name="Rectangle 57"/>
            <p:cNvSpPr/>
            <p:nvPr/>
          </p:nvSpPr>
          <p:spPr>
            <a:xfrm>
              <a:off x="2352" y="3591"/>
              <a:ext cx="7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(v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d)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4585" name="Rectangle 58"/>
            <p:cNvSpPr/>
            <p:nvPr/>
          </p:nvSpPr>
          <p:spPr>
            <a:xfrm>
              <a:off x="1104" y="3591"/>
              <a:ext cx="80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(v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d)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4586" name="Rectangle 59"/>
            <p:cNvSpPr/>
            <p:nvPr/>
          </p:nvSpPr>
          <p:spPr>
            <a:xfrm>
              <a:off x="2251" y="3210"/>
              <a:ext cx="81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EO(E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d)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4587" name="Rectangle 60"/>
            <p:cNvSpPr/>
            <p:nvPr/>
          </p:nvSpPr>
          <p:spPr>
            <a:xfrm>
              <a:off x="1680" y="2823"/>
              <a:ext cx="45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4588" name="Rectangle 61"/>
            <p:cNvSpPr/>
            <p:nvPr/>
          </p:nvSpPr>
          <p:spPr>
            <a:xfrm>
              <a:off x="1104" y="2823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4589" name="Rectangle 62"/>
            <p:cNvSpPr/>
            <p:nvPr/>
          </p:nvSpPr>
          <p:spPr>
            <a:xfrm>
              <a:off x="1104" y="3210"/>
              <a:ext cx="7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EO(EOd)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4590" name="Rectangle 63"/>
            <p:cNvSpPr/>
            <p:nvPr/>
          </p:nvSpPr>
          <p:spPr>
            <a:xfrm>
              <a:off x="2491" y="2816"/>
              <a:ext cx="5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O(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4591" name="Rectangle 64"/>
            <p:cNvSpPr/>
            <p:nvPr/>
          </p:nvSpPr>
          <p:spPr>
            <a:xfrm>
              <a:off x="3360" y="2816"/>
              <a:ext cx="79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EO(EOE)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4592" name="Rectangle 65"/>
            <p:cNvSpPr/>
            <p:nvPr/>
          </p:nvSpPr>
          <p:spPr>
            <a:xfrm>
              <a:off x="3360" y="3210"/>
              <a:ext cx="80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EO(v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d)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grpSp>
          <p:nvGrpSpPr>
            <p:cNvPr id="24593" name="Group 66"/>
            <p:cNvGrpSpPr/>
            <p:nvPr/>
          </p:nvGrpSpPr>
          <p:grpSpPr>
            <a:xfrm>
              <a:off x="1344" y="2775"/>
              <a:ext cx="306" cy="345"/>
              <a:chOff x="1344" y="2775"/>
              <a:chExt cx="306" cy="345"/>
            </a:xfrm>
          </p:grpSpPr>
          <p:sp>
            <p:nvSpPr>
              <p:cNvPr id="24615" name="Rectangle 67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4616" name="Rectangle 69"/>
              <p:cNvSpPr/>
              <p:nvPr/>
            </p:nvSpPr>
            <p:spPr>
              <a:xfrm>
                <a:off x="1344" y="2908"/>
                <a:ext cx="27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r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4594" name="Group 75"/>
            <p:cNvGrpSpPr/>
            <p:nvPr/>
          </p:nvGrpSpPr>
          <p:grpSpPr>
            <a:xfrm>
              <a:off x="2142" y="2775"/>
              <a:ext cx="306" cy="345"/>
              <a:chOff x="1344" y="2775"/>
              <a:chExt cx="306" cy="345"/>
            </a:xfrm>
          </p:grpSpPr>
          <p:sp>
            <p:nvSpPr>
              <p:cNvPr id="24613" name="Rectangle 76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4614" name="Rectangle 78"/>
              <p:cNvSpPr/>
              <p:nvPr/>
            </p:nvSpPr>
            <p:spPr>
              <a:xfrm>
                <a:off x="1344" y="2908"/>
                <a:ext cx="27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r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4595" name="Group 79"/>
            <p:cNvGrpSpPr/>
            <p:nvPr/>
          </p:nvGrpSpPr>
          <p:grpSpPr>
            <a:xfrm>
              <a:off x="3054" y="2775"/>
              <a:ext cx="306" cy="345"/>
              <a:chOff x="1344" y="2775"/>
              <a:chExt cx="306" cy="345"/>
            </a:xfrm>
          </p:grpSpPr>
          <p:sp>
            <p:nvSpPr>
              <p:cNvPr id="24611" name="Rectangle 80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4612" name="Rectangle 82"/>
              <p:cNvSpPr/>
              <p:nvPr/>
            </p:nvSpPr>
            <p:spPr>
              <a:xfrm>
                <a:off x="1344" y="2908"/>
                <a:ext cx="27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r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4596" name="Group 83"/>
            <p:cNvGrpSpPr/>
            <p:nvPr/>
          </p:nvGrpSpPr>
          <p:grpSpPr>
            <a:xfrm>
              <a:off x="768" y="3159"/>
              <a:ext cx="306" cy="345"/>
              <a:chOff x="1344" y="2775"/>
              <a:chExt cx="306" cy="345"/>
            </a:xfrm>
          </p:grpSpPr>
          <p:sp>
            <p:nvSpPr>
              <p:cNvPr id="24609" name="Rectangle 84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4610" name="Rectangle 86"/>
              <p:cNvSpPr/>
              <p:nvPr/>
            </p:nvSpPr>
            <p:spPr>
              <a:xfrm>
                <a:off x="1344" y="2908"/>
                <a:ext cx="27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r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4597" name="Group 87"/>
            <p:cNvGrpSpPr/>
            <p:nvPr/>
          </p:nvGrpSpPr>
          <p:grpSpPr>
            <a:xfrm>
              <a:off x="1920" y="3159"/>
              <a:ext cx="306" cy="345"/>
              <a:chOff x="1344" y="2775"/>
              <a:chExt cx="306" cy="345"/>
            </a:xfrm>
          </p:grpSpPr>
          <p:sp>
            <p:nvSpPr>
              <p:cNvPr id="24607" name="Rectangle 88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4608" name="Rectangle 90"/>
              <p:cNvSpPr/>
              <p:nvPr/>
            </p:nvSpPr>
            <p:spPr>
              <a:xfrm>
                <a:off x="1344" y="2908"/>
                <a:ext cx="27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r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4598" name="Group 91"/>
            <p:cNvGrpSpPr/>
            <p:nvPr/>
          </p:nvGrpSpPr>
          <p:grpSpPr>
            <a:xfrm>
              <a:off x="3054" y="3159"/>
              <a:ext cx="306" cy="345"/>
              <a:chOff x="1344" y="2775"/>
              <a:chExt cx="306" cy="345"/>
            </a:xfrm>
          </p:grpSpPr>
          <p:sp>
            <p:nvSpPr>
              <p:cNvPr id="24605" name="Rectangle 92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4606" name="Rectangle 94"/>
              <p:cNvSpPr/>
              <p:nvPr/>
            </p:nvSpPr>
            <p:spPr>
              <a:xfrm>
                <a:off x="1344" y="2908"/>
                <a:ext cx="27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r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4599" name="Group 95"/>
            <p:cNvGrpSpPr/>
            <p:nvPr/>
          </p:nvGrpSpPr>
          <p:grpSpPr>
            <a:xfrm>
              <a:off x="768" y="3543"/>
              <a:ext cx="306" cy="345"/>
              <a:chOff x="1344" y="2775"/>
              <a:chExt cx="306" cy="345"/>
            </a:xfrm>
          </p:grpSpPr>
          <p:sp>
            <p:nvSpPr>
              <p:cNvPr id="24603" name="Rectangle 96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4604" name="Rectangle 98"/>
              <p:cNvSpPr/>
              <p:nvPr/>
            </p:nvSpPr>
            <p:spPr>
              <a:xfrm>
                <a:off x="1344" y="2908"/>
                <a:ext cx="27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r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4600" name="Group 99"/>
            <p:cNvGrpSpPr/>
            <p:nvPr/>
          </p:nvGrpSpPr>
          <p:grpSpPr>
            <a:xfrm>
              <a:off x="1998" y="3543"/>
              <a:ext cx="306" cy="345"/>
              <a:chOff x="1344" y="2775"/>
              <a:chExt cx="306" cy="345"/>
            </a:xfrm>
          </p:grpSpPr>
          <p:sp>
            <p:nvSpPr>
              <p:cNvPr id="24601" name="Rectangle 100"/>
              <p:cNvSpPr/>
              <p:nvPr/>
            </p:nvSpPr>
            <p:spPr>
              <a:xfrm>
                <a:off x="1344" y="2775"/>
                <a:ext cx="3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4602" name="Rectangle 102"/>
              <p:cNvSpPr/>
              <p:nvPr/>
            </p:nvSpPr>
            <p:spPr>
              <a:xfrm>
                <a:off x="1344" y="2908"/>
                <a:ext cx="273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PMingLiU" pitchFamily="18" charset="-120"/>
                    <a:sym typeface="Symbol" panose="05050102010706020507" pitchFamily="18" charset="2"/>
                  </a:rPr>
                  <a:t>r</a:t>
                </a:r>
                <a:r>
                  <a:rPr lang="en-US" altLang="zh-CN" sz="1600" b="1" i="1">
                    <a:solidFill>
                      <a:srgbClr val="333399"/>
                    </a:solidFill>
                    <a:latin typeface="Book Antiqua" panose="0204060205030503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m</a:t>
                </a:r>
                <a:endPara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5602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5603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</a:rPr>
              <a:t>推导树</a:t>
            </a:r>
            <a:endParaRPr lang="zh-CN" altLang="en-US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</a:rPr>
              <a:t>	</a:t>
            </a:r>
            <a:r>
              <a:rPr lang="zh-CN" altLang="en-US">
                <a:solidFill>
                  <a:srgbClr val="333399"/>
                </a:solidFill>
              </a:rPr>
              <a:t>用图的方法表示一个句型的推导，这种图称为推导树（也称语法树或语法分析树）。有助于理解语法结构的层次。</a:t>
            </a:r>
            <a:endParaRPr lang="zh-CN" altLang="en-US">
              <a:solidFill>
                <a:srgbClr val="333399"/>
              </a:solidFill>
            </a:endParaRPr>
          </a:p>
          <a:p>
            <a:pPr eaLnBrk="1" hangingPunct="1">
              <a:buNone/>
            </a:pPr>
            <a:r>
              <a:rPr lang="zh-CN" altLang="en-US">
                <a:solidFill>
                  <a:srgbClr val="800080"/>
                </a:solidFill>
              </a:rPr>
              <a:t>定义方法：</a:t>
            </a:r>
            <a:endParaRPr lang="zh-CN" altLang="en-US">
              <a:solidFill>
                <a:srgbClr val="800080"/>
              </a:solidFill>
            </a:endParaRPr>
          </a:p>
          <a:p>
            <a:pPr eaLnBrk="1" hangingPunct="1"/>
            <a:r>
              <a:rPr lang="zh-CN" altLang="en-US">
                <a:solidFill>
                  <a:srgbClr val="333399"/>
                </a:solidFill>
              </a:rPr>
              <a:t>文法的起始符为根，树的枝结点标记是非终结符，叶结点标记为终结符或</a:t>
            </a:r>
            <a:r>
              <a:rPr lang="zh-CN" altLang="en-US">
                <a:solidFill>
                  <a:srgbClr val="333399"/>
                </a:solidFill>
                <a:sym typeface="Symbol" panose="05050102010706020507" pitchFamily="18" charset="2"/>
              </a:rPr>
              <a:t></a:t>
            </a:r>
            <a:r>
              <a:rPr lang="zh-CN" altLang="en-US">
                <a:solidFill>
                  <a:srgbClr val="333399"/>
                </a:solidFill>
              </a:rPr>
              <a:t>。</a:t>
            </a:r>
            <a:endParaRPr lang="zh-CN" altLang="en-US">
              <a:solidFill>
                <a:srgbClr val="333399"/>
              </a:solidFill>
            </a:endParaRPr>
          </a:p>
          <a:p>
            <a:pPr eaLnBrk="1" hangingPunct="1"/>
            <a:r>
              <a:rPr lang="zh-CN" altLang="en-US">
                <a:solidFill>
                  <a:srgbClr val="333399"/>
                </a:solidFill>
              </a:rPr>
              <a:t>若枝结点有直接子孙</a:t>
            </a:r>
            <a:r>
              <a:rPr lang="en-US" altLang="zh-CN">
                <a:solidFill>
                  <a:srgbClr val="333399"/>
                </a:solidFill>
              </a:rPr>
              <a:t>x</a:t>
            </a:r>
            <a:r>
              <a:rPr lang="en-US" altLang="zh-CN" baseline="-30000">
                <a:solidFill>
                  <a:srgbClr val="333399"/>
                </a:solidFill>
              </a:rPr>
              <a:t>1</a:t>
            </a:r>
            <a:r>
              <a:rPr lang="en-US" altLang="zh-CN">
                <a:solidFill>
                  <a:srgbClr val="333399"/>
                </a:solidFill>
              </a:rPr>
              <a:t>, x</a:t>
            </a:r>
            <a:r>
              <a:rPr lang="en-US" altLang="zh-CN" baseline="-30000">
                <a:solidFill>
                  <a:srgbClr val="333399"/>
                </a:solidFill>
              </a:rPr>
              <a:t>2</a:t>
            </a:r>
            <a:r>
              <a:rPr lang="en-US" altLang="zh-CN">
                <a:solidFill>
                  <a:srgbClr val="333399"/>
                </a:solidFill>
              </a:rPr>
              <a:t>,…, x</a:t>
            </a:r>
            <a:r>
              <a:rPr lang="en-US" altLang="zh-CN" baseline="-30000">
                <a:solidFill>
                  <a:srgbClr val="333399"/>
                </a:solidFill>
              </a:rPr>
              <a:t>k</a:t>
            </a:r>
            <a:r>
              <a:rPr lang="en-US" altLang="zh-CN">
                <a:solidFill>
                  <a:srgbClr val="333399"/>
                </a:solidFill>
              </a:rPr>
              <a:t>，</a:t>
            </a:r>
            <a:r>
              <a:rPr lang="zh-CN" altLang="en-US">
                <a:solidFill>
                  <a:srgbClr val="333399"/>
                </a:solidFill>
              </a:rPr>
              <a:t>则文法中有生成式</a:t>
            </a:r>
            <a:r>
              <a:rPr lang="en-US" altLang="zh-CN">
                <a:solidFill>
                  <a:srgbClr val="333399"/>
                </a:solidFill>
              </a:rPr>
              <a:t>A→x</a:t>
            </a:r>
            <a:r>
              <a:rPr lang="en-US" altLang="zh-CN" baseline="-30000">
                <a:solidFill>
                  <a:srgbClr val="333399"/>
                </a:solidFill>
              </a:rPr>
              <a:t>1</a:t>
            </a:r>
            <a:r>
              <a:rPr lang="en-US" altLang="zh-CN">
                <a:solidFill>
                  <a:srgbClr val="333399"/>
                </a:solidFill>
              </a:rPr>
              <a:t> x</a:t>
            </a:r>
            <a:r>
              <a:rPr lang="en-US" altLang="zh-CN" baseline="-30000">
                <a:solidFill>
                  <a:srgbClr val="333399"/>
                </a:solidFill>
              </a:rPr>
              <a:t>2</a:t>
            </a:r>
            <a:r>
              <a:rPr lang="en-US" altLang="zh-CN">
                <a:solidFill>
                  <a:srgbClr val="333399"/>
                </a:solidFill>
              </a:rPr>
              <a:t>…x</a:t>
            </a:r>
            <a:r>
              <a:rPr lang="en-US" altLang="zh-CN" baseline="-30000">
                <a:solidFill>
                  <a:srgbClr val="333399"/>
                </a:solidFill>
              </a:rPr>
              <a:t>k</a:t>
            </a:r>
            <a:endParaRPr lang="zh-CN" altLang="en-US" baseline="-30000">
              <a:solidFill>
                <a:srgbClr val="33339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6626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6627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662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推导树举例</a:t>
            </a:r>
            <a:endParaRPr lang="zh-CN" altLang="en-US" sz="4000">
              <a:solidFill>
                <a:srgbClr val="800080"/>
              </a:solidFill>
              <a:ea typeface="华文行楷" panose="02010800040101010101" pitchFamily="2" charset="-122"/>
            </a:endParaRPr>
          </a:p>
        </p:txBody>
      </p:sp>
      <p:sp>
        <p:nvSpPr>
          <p:cNvPr id="26629" name="Rectangle 3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137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</a:rPr>
              <a:t>例：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（</a:t>
            </a:r>
            <a:r>
              <a:rPr lang="zh-CN" altLang="en-US" sz="2400">
                <a:solidFill>
                  <a:schemeClr val="tx2"/>
                </a:solidFill>
              </a:rPr>
              <a:t>书</a:t>
            </a:r>
            <a:r>
              <a:rPr lang="en-US" altLang="zh-CN" sz="2400">
                <a:solidFill>
                  <a:schemeClr val="tx2"/>
                </a:solidFill>
              </a:rPr>
              <a:t>P94 </a:t>
            </a:r>
            <a:r>
              <a:rPr lang="zh-CN" altLang="en-US" sz="2400">
                <a:solidFill>
                  <a:schemeClr val="tx2"/>
                </a:solidFill>
              </a:rPr>
              <a:t>例1）</a:t>
            </a:r>
            <a:endParaRPr lang="zh-CN" altLang="en-US" sz="2400">
              <a:solidFill>
                <a:schemeClr val="tx2"/>
              </a:solidFill>
            </a:endParaRPr>
          </a:p>
          <a:p>
            <a:pPr algn="just" eaLnBrk="1" hangingPunct="1">
              <a:buNone/>
            </a:pPr>
            <a:r>
              <a:rPr lang="zh-CN" altLang="en-US" sz="2400">
                <a:solidFill>
                  <a:schemeClr val="tx2"/>
                </a:solidFill>
              </a:rPr>
              <a:t>		文法</a:t>
            </a:r>
            <a:r>
              <a:rPr lang="en-US" altLang="zh-CN" sz="2400">
                <a:solidFill>
                  <a:schemeClr val="tx2"/>
                </a:solidFill>
              </a:rPr>
              <a:t>S→S+S | S*S |(S)| a ，</a:t>
            </a:r>
            <a:endParaRPr lang="en-US" altLang="zh-CN" sz="2400">
              <a:solidFill>
                <a:schemeClr val="tx2"/>
              </a:solidFill>
            </a:endParaRPr>
          </a:p>
          <a:p>
            <a:pPr algn="just" eaLnBrk="1" hangingPunct="1">
              <a:buNone/>
            </a:pPr>
            <a:r>
              <a:rPr lang="zh-CN" altLang="en-US" sz="2400">
                <a:solidFill>
                  <a:schemeClr val="tx2"/>
                </a:solidFill>
              </a:rPr>
              <a:t>		对句子 (</a:t>
            </a:r>
            <a:r>
              <a:rPr lang="en-US" altLang="zh-CN" sz="2400">
                <a:solidFill>
                  <a:schemeClr val="tx2"/>
                </a:solidFill>
              </a:rPr>
              <a:t>a*a+a) </a:t>
            </a:r>
            <a:r>
              <a:rPr lang="zh-CN" altLang="en-US" sz="2400">
                <a:solidFill>
                  <a:schemeClr val="tx2"/>
                </a:solidFill>
              </a:rPr>
              <a:t>可有推导树</a:t>
            </a:r>
            <a:endParaRPr lang="zh-CN" altLang="en-US" sz="2400">
              <a:solidFill>
                <a:schemeClr val="tx2"/>
              </a:solidFill>
            </a:endParaRPr>
          </a:p>
          <a:p>
            <a:pPr eaLnBrk="1" hangingPunct="1"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endParaRPr lang="zh-CN" altLang="en-US" sz="2400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endParaRPr lang="zh-CN" altLang="en-US" sz="2400">
              <a:solidFill>
                <a:srgbClr val="80008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6630" name="Object 4"/>
          <p:cNvGraphicFramePr>
            <a:graphicFrameLocks noChangeAspect="1"/>
          </p:cNvGraphicFramePr>
          <p:nvPr/>
        </p:nvGraphicFramePr>
        <p:xfrm>
          <a:off x="1219200" y="2743200"/>
          <a:ext cx="6553200" cy="343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7377350" imgH="24879300" progId="Visio.Drawing.6">
                  <p:embed/>
                </p:oleObj>
              </mc:Choice>
              <mc:Fallback>
                <p:oleObj name="" r:id="rId1" imgW="47377350" imgH="24879300" progId="Visio.Drawing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9200" y="2743200"/>
                        <a:ext cx="6553200" cy="3436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Text Box 6"/>
          <p:cNvSpPr txBox="1"/>
          <p:nvPr/>
        </p:nvSpPr>
        <p:spPr>
          <a:xfrm>
            <a:off x="228600" y="6130925"/>
            <a:ext cx="8915400" cy="7270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0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即：推导树是对文法</a:t>
            </a:r>
            <a:r>
              <a:rPr lang="en-US" altLang="zh-CN" sz="20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G</a:t>
            </a:r>
            <a:r>
              <a:rPr lang="zh-CN" altLang="en-US" sz="20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中一个</a:t>
            </a:r>
            <a:r>
              <a:rPr lang="zh-CN" altLang="en-US" sz="2000" b="1" u="sng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特定句子形式</a:t>
            </a:r>
            <a:r>
              <a:rPr lang="zh-CN" altLang="en-US" sz="20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的派生过程所做的一种自然描述。</a:t>
            </a:r>
            <a:endParaRPr lang="zh-CN" altLang="en-US" sz="200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7650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7651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边缘</a:t>
            </a:r>
            <a:endParaRPr lang="zh-CN" altLang="en-US" sz="400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7653" name="Rectangle 3"/>
          <p:cNvSpPr>
            <a:spLocks noGrp="1"/>
          </p:cNvSpPr>
          <p:nvPr>
            <p:ph idx="1"/>
          </p:nvPr>
        </p:nvSpPr>
        <p:spPr>
          <a:xfrm>
            <a:off x="381000" y="1447800"/>
            <a:ext cx="8763000" cy="167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u="sng">
                <a:solidFill>
                  <a:srgbClr val="800080"/>
                </a:solidFill>
                <a:latin typeface="Arial" panose="020B0604020202020204" pitchFamily="34" charset="0"/>
              </a:rPr>
              <a:t>叶子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</a:rPr>
              <a:t>从左向右组成的字符串称为推导树的边缘。</a:t>
            </a:r>
            <a:endParaRPr lang="zh-CN" altLang="en-US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just" eaLnBrk="1" hangingPunct="1">
              <a:buNone/>
            </a:pP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</a:rPr>
              <a:t>如图</a:t>
            </a:r>
            <a:endParaRPr lang="zh-CN" altLang="en-US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just" eaLnBrk="1" hangingPunct="1">
              <a:buNone/>
            </a:pP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  <a:r>
              <a:rPr lang="en-US" altLang="zh-CN" baseline="-3000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 y</a:t>
            </a:r>
            <a:r>
              <a:rPr lang="en-US" altLang="zh-CN" baseline="-3000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 y</a:t>
            </a:r>
            <a:r>
              <a:rPr lang="en-US" altLang="zh-CN" baseline="-30000">
                <a:solidFill>
                  <a:schemeClr val="tx2"/>
                </a:solidFill>
                <a:latin typeface="Arial" panose="020B0604020202020204" pitchFamily="34" charset="0"/>
              </a:rPr>
              <a:t>2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x</a:t>
            </a:r>
            <a:r>
              <a:rPr lang="en-US" altLang="zh-CN" baseline="-30000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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 x</a:t>
            </a:r>
            <a:r>
              <a:rPr lang="en-US" altLang="zh-CN" baseline="-30000">
                <a:solidFill>
                  <a:schemeClr val="tx2"/>
                </a:solidFill>
                <a:latin typeface="Arial" panose="020B0604020202020204" pitchFamily="34" charset="0"/>
              </a:rPr>
              <a:t>m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 x</a:t>
            </a:r>
            <a:r>
              <a:rPr lang="en-US" altLang="zh-CN" baseline="-30000">
                <a:solidFill>
                  <a:schemeClr val="tx2"/>
                </a:solidFill>
                <a:latin typeface="Arial" panose="020B0604020202020204" pitchFamily="34" charset="0"/>
              </a:rPr>
              <a:t>m+1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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 x</a:t>
            </a:r>
            <a:r>
              <a:rPr lang="en-US" altLang="zh-CN" baseline="-30000">
                <a:solidFill>
                  <a:schemeClr val="tx2"/>
                </a:solidFill>
                <a:latin typeface="Arial" panose="020B0604020202020204" pitchFamily="34" charset="0"/>
              </a:rPr>
              <a:t>n-1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 y</a:t>
            </a:r>
            <a:r>
              <a:rPr lang="en-US" altLang="zh-CN" baseline="-30000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 y</a:t>
            </a:r>
            <a:r>
              <a:rPr lang="en-US" altLang="zh-CN" baseline="-30000">
                <a:solidFill>
                  <a:schemeClr val="tx2"/>
                </a:solidFill>
                <a:latin typeface="Arial" panose="020B0604020202020204" pitchFamily="34" charset="0"/>
              </a:rPr>
              <a:t>4 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y</a:t>
            </a:r>
            <a:r>
              <a:rPr lang="en-US" altLang="zh-CN" baseline="-30000">
                <a:solidFill>
                  <a:schemeClr val="tx2"/>
                </a:solidFill>
                <a:latin typeface="Arial" panose="020B0604020202020204" pitchFamily="34" charset="0"/>
              </a:rPr>
              <a:t>5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</a:rPr>
              <a:t>是树的边缘</a:t>
            </a:r>
            <a:endParaRPr lang="zh-CN" altLang="en-US">
              <a:solidFill>
                <a:srgbClr val="80008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7654" name="Object 7"/>
          <p:cNvGraphicFramePr>
            <a:graphicFrameLocks noChangeAspect="1"/>
          </p:cNvGraphicFramePr>
          <p:nvPr/>
        </p:nvGraphicFramePr>
        <p:xfrm>
          <a:off x="1295400" y="2895600"/>
          <a:ext cx="60198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765800" imgH="2971800" progId="Visio.Drawing.11">
                  <p:embed/>
                </p:oleObj>
              </mc:Choice>
              <mc:Fallback>
                <p:oleObj name="" r:id="rId1" imgW="5765800" imgH="29718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5400" y="2895600"/>
                        <a:ext cx="6019800" cy="365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8674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8675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grpSp>
        <p:nvGrpSpPr>
          <p:cNvPr id="28676" name="Group 11"/>
          <p:cNvGrpSpPr/>
          <p:nvPr/>
        </p:nvGrpSpPr>
        <p:grpSpPr>
          <a:xfrm>
            <a:off x="5562600" y="2498725"/>
            <a:ext cx="2286000" cy="2286000"/>
            <a:chOff x="3936" y="1824"/>
            <a:chExt cx="1440" cy="1440"/>
          </a:xfrm>
        </p:grpSpPr>
        <p:sp>
          <p:nvSpPr>
            <p:cNvPr id="28742" name="Text Box 12"/>
            <p:cNvSpPr txBox="1"/>
            <p:nvPr/>
          </p:nvSpPr>
          <p:spPr>
            <a:xfrm>
              <a:off x="3984" y="1824"/>
              <a:ext cx="1392" cy="14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buFont typeface="Wingdings" panose="05000000000000000000" pitchFamily="2" charset="2"/>
              </a:pPr>
              <a:r>
                <a:rPr lang="zh-CN" altLang="en-US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(1) 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EOE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(2)  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(E)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(3)  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v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(4)  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d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(5)  O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＋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(6)  O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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8743" name="Rectangle 13"/>
            <p:cNvSpPr/>
            <p:nvPr/>
          </p:nvSpPr>
          <p:spPr>
            <a:xfrm>
              <a:off x="3936" y="1824"/>
              <a:ext cx="1392" cy="1440"/>
            </a:xfrm>
            <a:prstGeom prst="rect">
              <a:avLst/>
            </a:prstGeom>
            <a:noFill/>
            <a:ln w="9525" cap="flat" cmpd="sng">
              <a:solidFill>
                <a:srgbClr val="333399"/>
              </a:solidFill>
              <a:prstDash val="lgDashDotDot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8677" name="Rectangle 14"/>
          <p:cNvSpPr/>
          <p:nvPr/>
        </p:nvSpPr>
        <p:spPr>
          <a:xfrm>
            <a:off x="304800" y="1371600"/>
            <a:ext cx="8153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4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归约过程自下而上构造了一棵树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如对于文法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</a:t>
            </a:r>
            <a:r>
              <a:rPr lang="en-US" altLang="zh-CN" sz="24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exp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，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关于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v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(v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＋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d)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的一个归约过程可以认为是构造了如下一棵树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：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48593" name="Rectangle 49"/>
          <p:cNvSpPr/>
          <p:nvPr/>
        </p:nvSpPr>
        <p:spPr>
          <a:xfrm>
            <a:off x="3505200" y="3946525"/>
            <a:ext cx="35401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E</a:t>
            </a:r>
            <a:endParaRPr lang="en-US" altLang="zh-CN" sz="20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748594" name="Rectangle 50"/>
          <p:cNvSpPr/>
          <p:nvPr/>
        </p:nvSpPr>
        <p:spPr>
          <a:xfrm>
            <a:off x="2362200" y="3962400"/>
            <a:ext cx="35401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E</a:t>
            </a:r>
            <a:endParaRPr lang="en-US" altLang="zh-CN" sz="20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748595" name="Rectangle 51"/>
          <p:cNvSpPr/>
          <p:nvPr/>
        </p:nvSpPr>
        <p:spPr>
          <a:xfrm>
            <a:off x="1981200" y="2787650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O</a:t>
            </a:r>
            <a:endParaRPr lang="en-US" altLang="zh-CN" sz="20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48596" name="Rectangle 52"/>
          <p:cNvSpPr/>
          <p:nvPr/>
        </p:nvSpPr>
        <p:spPr>
          <a:xfrm>
            <a:off x="1322388" y="2787650"/>
            <a:ext cx="354012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E</a:t>
            </a:r>
            <a:endParaRPr lang="en-US" altLang="zh-CN" sz="20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748597" name="Rectangle 53"/>
          <p:cNvSpPr/>
          <p:nvPr/>
        </p:nvSpPr>
        <p:spPr>
          <a:xfrm>
            <a:off x="2971800" y="3305175"/>
            <a:ext cx="35401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E</a:t>
            </a:r>
            <a:endParaRPr lang="en-US" altLang="zh-CN" sz="20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748598" name="Rectangle 54"/>
          <p:cNvSpPr/>
          <p:nvPr/>
        </p:nvSpPr>
        <p:spPr>
          <a:xfrm>
            <a:off x="2895600" y="39465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O</a:t>
            </a:r>
            <a:endParaRPr lang="en-US" altLang="zh-CN" sz="20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48599" name="Rectangle 55"/>
          <p:cNvSpPr/>
          <p:nvPr/>
        </p:nvSpPr>
        <p:spPr>
          <a:xfrm>
            <a:off x="2743200" y="2771775"/>
            <a:ext cx="35401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E</a:t>
            </a:r>
            <a:endParaRPr lang="en-US" altLang="zh-CN" sz="20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748600" name="Rectangle 56"/>
          <p:cNvSpPr/>
          <p:nvPr/>
        </p:nvSpPr>
        <p:spPr>
          <a:xfrm>
            <a:off x="2057400" y="2193925"/>
            <a:ext cx="35401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E</a:t>
            </a:r>
            <a:endParaRPr lang="en-US" altLang="zh-CN" sz="20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pSp>
        <p:nvGrpSpPr>
          <p:cNvPr id="3" name="Group 57"/>
          <p:cNvGrpSpPr/>
          <p:nvPr/>
        </p:nvGrpSpPr>
        <p:grpSpPr>
          <a:xfrm>
            <a:off x="3733800" y="4251325"/>
            <a:ext cx="381000" cy="641350"/>
            <a:chOff x="2592" y="2976"/>
            <a:chExt cx="240" cy="404"/>
          </a:xfrm>
        </p:grpSpPr>
        <p:sp>
          <p:nvSpPr>
            <p:cNvPr id="28740" name="Rectangle 58"/>
            <p:cNvSpPr/>
            <p:nvPr/>
          </p:nvSpPr>
          <p:spPr>
            <a:xfrm>
              <a:off x="2618" y="3130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d</a:t>
              </a:r>
              <a:endPara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8741" name="Line 59"/>
            <p:cNvSpPr/>
            <p:nvPr/>
          </p:nvSpPr>
          <p:spPr>
            <a:xfrm flipH="1" flipV="1">
              <a:off x="2592" y="2976"/>
              <a:ext cx="96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60"/>
          <p:cNvGrpSpPr/>
          <p:nvPr/>
        </p:nvGrpSpPr>
        <p:grpSpPr>
          <a:xfrm>
            <a:off x="2895600" y="4251325"/>
            <a:ext cx="438150" cy="641350"/>
            <a:chOff x="2064" y="2976"/>
            <a:chExt cx="276" cy="404"/>
          </a:xfrm>
        </p:grpSpPr>
        <p:sp>
          <p:nvSpPr>
            <p:cNvPr id="28738" name="Rectangle 61"/>
            <p:cNvSpPr/>
            <p:nvPr/>
          </p:nvSpPr>
          <p:spPr>
            <a:xfrm>
              <a:off x="2064" y="3130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endParaRPr lang="zh-CN" altLang="en-US" sz="20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8739" name="Line 62"/>
            <p:cNvSpPr/>
            <p:nvPr/>
          </p:nvSpPr>
          <p:spPr>
            <a:xfrm flipH="1" flipV="1">
              <a:off x="2208" y="2976"/>
              <a:ext cx="0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63"/>
          <p:cNvGrpSpPr/>
          <p:nvPr/>
        </p:nvGrpSpPr>
        <p:grpSpPr>
          <a:xfrm>
            <a:off x="2209800" y="4251325"/>
            <a:ext cx="325438" cy="641350"/>
            <a:chOff x="1632" y="2976"/>
            <a:chExt cx="205" cy="404"/>
          </a:xfrm>
        </p:grpSpPr>
        <p:sp>
          <p:nvSpPr>
            <p:cNvPr id="28736" name="Rectangle 64"/>
            <p:cNvSpPr/>
            <p:nvPr/>
          </p:nvSpPr>
          <p:spPr>
            <a:xfrm>
              <a:off x="1632" y="3130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</a:t>
              </a:r>
              <a:endPara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8737" name="Line 65"/>
            <p:cNvSpPr/>
            <p:nvPr/>
          </p:nvSpPr>
          <p:spPr>
            <a:xfrm flipV="1">
              <a:off x="1776" y="2976"/>
              <a:ext cx="48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66"/>
          <p:cNvGrpSpPr/>
          <p:nvPr/>
        </p:nvGrpSpPr>
        <p:grpSpPr>
          <a:xfrm>
            <a:off x="2590800" y="3032125"/>
            <a:ext cx="1143000" cy="685800"/>
            <a:chOff x="1872" y="2208"/>
            <a:chExt cx="720" cy="432"/>
          </a:xfrm>
        </p:grpSpPr>
        <p:sp>
          <p:nvSpPr>
            <p:cNvPr id="28731" name="Rectangle 67"/>
            <p:cNvSpPr/>
            <p:nvPr/>
          </p:nvSpPr>
          <p:spPr>
            <a:xfrm>
              <a:off x="1872" y="2390"/>
              <a:ext cx="1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</a:t>
              </a:r>
              <a:endParaRPr lang="zh-CN" altLang="en-US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8732" name="Rectangle 68"/>
            <p:cNvSpPr/>
            <p:nvPr/>
          </p:nvSpPr>
          <p:spPr>
            <a:xfrm>
              <a:off x="2423" y="2390"/>
              <a:ext cx="1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)</a:t>
              </a:r>
              <a:endParaRPr lang="zh-CN" altLang="en-US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8733" name="Line 69"/>
            <p:cNvSpPr/>
            <p:nvPr/>
          </p:nvSpPr>
          <p:spPr>
            <a:xfrm flipH="1" flipV="1">
              <a:off x="2112" y="2256"/>
              <a:ext cx="96" cy="144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4" name="Line 70"/>
            <p:cNvSpPr/>
            <p:nvPr/>
          </p:nvSpPr>
          <p:spPr>
            <a:xfrm flipH="1" flipV="1">
              <a:off x="2160" y="2208"/>
              <a:ext cx="288" cy="240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5" name="Line 71"/>
            <p:cNvSpPr/>
            <p:nvPr/>
          </p:nvSpPr>
          <p:spPr>
            <a:xfrm flipV="1">
              <a:off x="2016" y="2256"/>
              <a:ext cx="48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72"/>
          <p:cNvGrpSpPr/>
          <p:nvPr/>
        </p:nvGrpSpPr>
        <p:grpSpPr>
          <a:xfrm>
            <a:off x="1752600" y="3108325"/>
            <a:ext cx="381000" cy="609600"/>
            <a:chOff x="1344" y="2256"/>
            <a:chExt cx="240" cy="384"/>
          </a:xfrm>
        </p:grpSpPr>
        <p:sp>
          <p:nvSpPr>
            <p:cNvPr id="28729" name="Rectangle 73"/>
            <p:cNvSpPr/>
            <p:nvPr/>
          </p:nvSpPr>
          <p:spPr>
            <a:xfrm>
              <a:off x="1344" y="239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sz="20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8730" name="Line 74"/>
            <p:cNvSpPr/>
            <p:nvPr/>
          </p:nvSpPr>
          <p:spPr>
            <a:xfrm flipV="1">
              <a:off x="1488" y="2256"/>
              <a:ext cx="96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75"/>
          <p:cNvGrpSpPr/>
          <p:nvPr/>
        </p:nvGrpSpPr>
        <p:grpSpPr>
          <a:xfrm>
            <a:off x="1066800" y="3108325"/>
            <a:ext cx="381000" cy="609600"/>
            <a:chOff x="912" y="2256"/>
            <a:chExt cx="240" cy="384"/>
          </a:xfrm>
        </p:grpSpPr>
        <p:sp>
          <p:nvSpPr>
            <p:cNvPr id="28727" name="Rectangle 76"/>
            <p:cNvSpPr/>
            <p:nvPr/>
          </p:nvSpPr>
          <p:spPr>
            <a:xfrm>
              <a:off x="912" y="2390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</a:t>
              </a:r>
              <a:endPara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8728" name="Line 77"/>
            <p:cNvSpPr/>
            <p:nvPr/>
          </p:nvSpPr>
          <p:spPr>
            <a:xfrm flipV="1">
              <a:off x="1056" y="2256"/>
              <a:ext cx="96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78"/>
          <p:cNvGrpSpPr/>
          <p:nvPr/>
        </p:nvGrpSpPr>
        <p:grpSpPr>
          <a:xfrm>
            <a:off x="1600200" y="2422525"/>
            <a:ext cx="1295400" cy="381000"/>
            <a:chOff x="1248" y="1824"/>
            <a:chExt cx="816" cy="240"/>
          </a:xfrm>
        </p:grpSpPr>
        <p:sp>
          <p:nvSpPr>
            <p:cNvPr id="28724" name="Line 79"/>
            <p:cNvSpPr/>
            <p:nvPr/>
          </p:nvSpPr>
          <p:spPr>
            <a:xfrm flipH="1" flipV="1">
              <a:off x="1728" y="1824"/>
              <a:ext cx="336" cy="240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5" name="Line 80"/>
            <p:cNvSpPr/>
            <p:nvPr/>
          </p:nvSpPr>
          <p:spPr>
            <a:xfrm flipH="1" flipV="1">
              <a:off x="1632" y="1872"/>
              <a:ext cx="0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6" name="Line 81"/>
            <p:cNvSpPr/>
            <p:nvPr/>
          </p:nvSpPr>
          <p:spPr>
            <a:xfrm flipV="1">
              <a:off x="1248" y="1824"/>
              <a:ext cx="336" cy="240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82"/>
          <p:cNvGrpSpPr/>
          <p:nvPr/>
        </p:nvGrpSpPr>
        <p:grpSpPr>
          <a:xfrm>
            <a:off x="2590800" y="3565525"/>
            <a:ext cx="990600" cy="457200"/>
            <a:chOff x="1872" y="2544"/>
            <a:chExt cx="624" cy="288"/>
          </a:xfrm>
        </p:grpSpPr>
        <p:sp>
          <p:nvSpPr>
            <p:cNvPr id="28721" name="Line 83"/>
            <p:cNvSpPr/>
            <p:nvPr/>
          </p:nvSpPr>
          <p:spPr>
            <a:xfrm flipH="1" flipV="1">
              <a:off x="2208" y="2592"/>
              <a:ext cx="0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2" name="Line 84"/>
            <p:cNvSpPr/>
            <p:nvPr/>
          </p:nvSpPr>
          <p:spPr>
            <a:xfrm flipV="1">
              <a:off x="1872" y="2592"/>
              <a:ext cx="288" cy="240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3" name="Line 85"/>
            <p:cNvSpPr/>
            <p:nvPr/>
          </p:nvSpPr>
          <p:spPr>
            <a:xfrm flipH="1" flipV="1">
              <a:off x="2304" y="2544"/>
              <a:ext cx="192" cy="288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8694" name="组合 50"/>
          <p:cNvGrpSpPr/>
          <p:nvPr/>
        </p:nvGrpSpPr>
        <p:grpSpPr>
          <a:xfrm>
            <a:off x="1042988" y="5157788"/>
            <a:ext cx="6408737" cy="1109662"/>
            <a:chOff x="467544" y="5334000"/>
            <a:chExt cx="6408712" cy="1109610"/>
          </a:xfrm>
        </p:grpSpPr>
        <p:sp>
          <p:nvSpPr>
            <p:cNvPr id="28695" name="Rectangle 30"/>
            <p:cNvSpPr/>
            <p:nvPr/>
          </p:nvSpPr>
          <p:spPr>
            <a:xfrm>
              <a:off x="2487439" y="5945119"/>
              <a:ext cx="860425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8696" name="Rectangle 34"/>
            <p:cNvSpPr/>
            <p:nvPr/>
          </p:nvSpPr>
          <p:spPr>
            <a:xfrm>
              <a:off x="3635896" y="5945119"/>
              <a:ext cx="69215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8697" name="Rectangle 38"/>
            <p:cNvSpPr/>
            <p:nvPr/>
          </p:nvSpPr>
          <p:spPr>
            <a:xfrm>
              <a:off x="4716016" y="6021288"/>
              <a:ext cx="720725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8698" name="Rectangle 42"/>
            <p:cNvSpPr/>
            <p:nvPr/>
          </p:nvSpPr>
          <p:spPr>
            <a:xfrm>
              <a:off x="5724128" y="6019800"/>
              <a:ext cx="354013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grpSp>
          <p:nvGrpSpPr>
            <p:cNvPr id="28699" name="组合 49"/>
            <p:cNvGrpSpPr/>
            <p:nvPr/>
          </p:nvGrpSpPr>
          <p:grpSpPr>
            <a:xfrm>
              <a:off x="467544" y="5334000"/>
              <a:ext cx="6408712" cy="1012155"/>
              <a:chOff x="467544" y="5334000"/>
              <a:chExt cx="6408712" cy="1012155"/>
            </a:xfrm>
          </p:grpSpPr>
          <p:sp>
            <p:nvSpPr>
              <p:cNvPr id="28705" name="Rectangle 10"/>
              <p:cNvSpPr/>
              <p:nvPr/>
            </p:nvSpPr>
            <p:spPr>
              <a:xfrm>
                <a:off x="827584" y="5456238"/>
                <a:ext cx="1241425" cy="3968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v 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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(v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＋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d)</a:t>
                </a:r>
                <a:endPara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06" name="Rectangle 13"/>
              <p:cNvSpPr/>
              <p:nvPr/>
            </p:nvSpPr>
            <p:spPr>
              <a:xfrm>
                <a:off x="1907704" y="53340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4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07" name="Rectangle 14"/>
              <p:cNvSpPr/>
              <p:nvPr/>
            </p:nvSpPr>
            <p:spPr>
              <a:xfrm>
                <a:off x="2452191" y="5456238"/>
                <a:ext cx="1255713" cy="3968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v 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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(v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＋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E)</a:t>
                </a:r>
                <a:endPara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08" name="Rectangle 17"/>
              <p:cNvSpPr/>
              <p:nvPr/>
            </p:nvSpPr>
            <p:spPr>
              <a:xfrm>
                <a:off x="3491880" y="53340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6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09" name="Rectangle 18"/>
              <p:cNvSpPr/>
              <p:nvPr/>
            </p:nvSpPr>
            <p:spPr>
              <a:xfrm>
                <a:off x="4036844" y="5477978"/>
                <a:ext cx="1255713" cy="3968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v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O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(v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＋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E)</a:t>
                </a:r>
                <a:endPara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10" name="Rectangle 21"/>
              <p:cNvSpPr/>
              <p:nvPr/>
            </p:nvSpPr>
            <p:spPr>
              <a:xfrm>
                <a:off x="5076056" y="5334000"/>
                <a:ext cx="720080" cy="3385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3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11" name="Rectangle 22"/>
              <p:cNvSpPr/>
              <p:nvPr/>
            </p:nvSpPr>
            <p:spPr>
              <a:xfrm>
                <a:off x="5591968" y="5486400"/>
                <a:ext cx="1284288" cy="3968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v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O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(E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＋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E)</a:t>
                </a:r>
                <a:endPara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12" name="Rectangle 25"/>
              <p:cNvSpPr/>
              <p:nvPr/>
            </p:nvSpPr>
            <p:spPr>
              <a:xfrm>
                <a:off x="467544" y="5877272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5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13" name="Rectangle 26"/>
              <p:cNvSpPr/>
              <p:nvPr/>
            </p:nvSpPr>
            <p:spPr>
              <a:xfrm>
                <a:off x="971600" y="5949280"/>
                <a:ext cx="1227138" cy="3968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v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O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(E</a:t>
                </a:r>
                <a:r>
                  <a:rPr lang="en-US" altLang="zh-CN" sz="2000" b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O</a:t>
                </a:r>
                <a:r>
                  <a:rPr lang="en-US" altLang="zh-CN" sz="20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E)</a:t>
                </a:r>
                <a:endPara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14" name="Rectangle 29"/>
              <p:cNvSpPr/>
              <p:nvPr/>
            </p:nvSpPr>
            <p:spPr>
              <a:xfrm>
                <a:off x="1907704" y="58674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1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15" name="Rectangle 33"/>
              <p:cNvSpPr/>
              <p:nvPr/>
            </p:nvSpPr>
            <p:spPr>
              <a:xfrm>
                <a:off x="3076649" y="58674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2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16" name="Rectangle 37"/>
              <p:cNvSpPr/>
              <p:nvPr/>
            </p:nvSpPr>
            <p:spPr>
              <a:xfrm>
                <a:off x="4139952" y="5889625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3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17" name="Rectangle 41"/>
              <p:cNvSpPr/>
              <p:nvPr/>
            </p:nvSpPr>
            <p:spPr>
              <a:xfrm>
                <a:off x="5236889" y="5877272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1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18" name="矩形 40"/>
              <p:cNvSpPr/>
              <p:nvPr/>
            </p:nvSpPr>
            <p:spPr>
              <a:xfrm>
                <a:off x="2071476" y="5405976"/>
                <a:ext cx="489234" cy="4616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19" name="矩形 41"/>
              <p:cNvSpPr/>
              <p:nvPr/>
            </p:nvSpPr>
            <p:spPr>
              <a:xfrm>
                <a:off x="3635896" y="5405976"/>
                <a:ext cx="489234" cy="4616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8720" name="矩形 43"/>
              <p:cNvSpPr/>
              <p:nvPr/>
            </p:nvSpPr>
            <p:spPr>
              <a:xfrm>
                <a:off x="5220549" y="5405976"/>
                <a:ext cx="489234" cy="4616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sp>
          <p:nvSpPr>
            <p:cNvPr id="28700" name="矩形 44"/>
            <p:cNvSpPr/>
            <p:nvPr/>
          </p:nvSpPr>
          <p:spPr>
            <a:xfrm>
              <a:off x="611560" y="5952374"/>
              <a:ext cx="489234" cy="4616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28701" name="矩形 45"/>
            <p:cNvSpPr/>
            <p:nvPr/>
          </p:nvSpPr>
          <p:spPr>
            <a:xfrm>
              <a:off x="2051720" y="5952374"/>
              <a:ext cx="475861" cy="4616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28702" name="矩形 46"/>
            <p:cNvSpPr/>
            <p:nvPr/>
          </p:nvSpPr>
          <p:spPr>
            <a:xfrm>
              <a:off x="3204333" y="5952374"/>
              <a:ext cx="489234" cy="4616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28703" name="矩形 47"/>
            <p:cNvSpPr/>
            <p:nvPr/>
          </p:nvSpPr>
          <p:spPr>
            <a:xfrm>
              <a:off x="4284449" y="5952374"/>
              <a:ext cx="489234" cy="4616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28704" name="矩形 48"/>
            <p:cNvSpPr/>
            <p:nvPr/>
          </p:nvSpPr>
          <p:spPr>
            <a:xfrm>
              <a:off x="5364088" y="5981988"/>
              <a:ext cx="489234" cy="4616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4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4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0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4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4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4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15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40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65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90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4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1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40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4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593" grpId="0"/>
      <p:bldP spid="748594" grpId="0"/>
      <p:bldP spid="748595" grpId="0"/>
      <p:bldP spid="748596" grpId="0"/>
      <p:bldP spid="748597" grpId="0"/>
      <p:bldP spid="748598" grpId="0"/>
      <p:bldP spid="748599" grpId="0"/>
      <p:bldP spid="74860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9698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29699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grpSp>
        <p:nvGrpSpPr>
          <p:cNvPr id="29700" name="Group 84"/>
          <p:cNvGrpSpPr/>
          <p:nvPr/>
        </p:nvGrpSpPr>
        <p:grpSpPr>
          <a:xfrm>
            <a:off x="5562600" y="2574925"/>
            <a:ext cx="2286000" cy="2286000"/>
            <a:chOff x="3936" y="1824"/>
            <a:chExt cx="1440" cy="1440"/>
          </a:xfrm>
        </p:grpSpPr>
        <p:sp>
          <p:nvSpPr>
            <p:cNvPr id="29773" name="Text Box 85"/>
            <p:cNvSpPr txBox="1"/>
            <p:nvPr/>
          </p:nvSpPr>
          <p:spPr>
            <a:xfrm>
              <a:off x="3984" y="1824"/>
              <a:ext cx="1392" cy="14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buFont typeface="Wingdings" panose="05000000000000000000" pitchFamily="2" charset="2"/>
              </a:pPr>
              <a:r>
                <a:rPr lang="zh-CN" altLang="en-US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(1) 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EOE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(2)  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(E)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(3)  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v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(4)  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d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(5)  O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＋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(6)  O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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9774" name="Rectangle 86"/>
            <p:cNvSpPr/>
            <p:nvPr/>
          </p:nvSpPr>
          <p:spPr>
            <a:xfrm>
              <a:off x="3936" y="1824"/>
              <a:ext cx="1392" cy="1440"/>
            </a:xfrm>
            <a:prstGeom prst="rect">
              <a:avLst/>
            </a:prstGeom>
            <a:noFill/>
            <a:ln w="9525" cap="flat" cmpd="sng">
              <a:solidFill>
                <a:srgbClr val="333399"/>
              </a:solidFill>
              <a:prstDash val="lgDashDotDot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9701" name="Rectangle 87"/>
          <p:cNvSpPr/>
          <p:nvPr/>
        </p:nvSpPr>
        <p:spPr>
          <a:xfrm>
            <a:off x="304800" y="1371600"/>
            <a:ext cx="8153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4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推导过程自上而下构造了一棵树 </a:t>
            </a: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如对于文法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</a:t>
            </a:r>
            <a:r>
              <a:rPr lang="en-US" altLang="zh-CN" sz="2400" b="1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exp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，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关于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v 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(v</a:t>
            </a:r>
            <a:r>
              <a:rPr lang="en-US" altLang="zh-CN" sz="20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＋</a:t>
            </a:r>
            <a:r>
              <a: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d)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的一个推导过程可以认为是构造了如下一棵树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：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49656" name="Rectangle 88"/>
          <p:cNvSpPr/>
          <p:nvPr/>
        </p:nvSpPr>
        <p:spPr>
          <a:xfrm>
            <a:off x="2057400" y="2270125"/>
            <a:ext cx="35401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E</a:t>
            </a:r>
            <a:endParaRPr lang="en-US" altLang="zh-CN" sz="2000" b="1" i="1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pSp>
        <p:nvGrpSpPr>
          <p:cNvPr id="3" name="Group 89"/>
          <p:cNvGrpSpPr/>
          <p:nvPr/>
        </p:nvGrpSpPr>
        <p:grpSpPr>
          <a:xfrm>
            <a:off x="3733800" y="4327525"/>
            <a:ext cx="381000" cy="641350"/>
            <a:chOff x="2592" y="2976"/>
            <a:chExt cx="240" cy="404"/>
          </a:xfrm>
        </p:grpSpPr>
        <p:sp>
          <p:nvSpPr>
            <p:cNvPr id="29771" name="Rectangle 90"/>
            <p:cNvSpPr/>
            <p:nvPr/>
          </p:nvSpPr>
          <p:spPr>
            <a:xfrm>
              <a:off x="2618" y="3130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d</a:t>
              </a:r>
              <a:endPara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72" name="Line 91"/>
            <p:cNvSpPr/>
            <p:nvPr/>
          </p:nvSpPr>
          <p:spPr>
            <a:xfrm flipH="1" flipV="1">
              <a:off x="2592" y="2976"/>
              <a:ext cx="96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92"/>
          <p:cNvGrpSpPr/>
          <p:nvPr/>
        </p:nvGrpSpPr>
        <p:grpSpPr>
          <a:xfrm>
            <a:off x="2895600" y="4327525"/>
            <a:ext cx="438150" cy="641350"/>
            <a:chOff x="2064" y="2976"/>
            <a:chExt cx="276" cy="404"/>
          </a:xfrm>
        </p:grpSpPr>
        <p:sp>
          <p:nvSpPr>
            <p:cNvPr id="29769" name="Rectangle 93"/>
            <p:cNvSpPr/>
            <p:nvPr/>
          </p:nvSpPr>
          <p:spPr>
            <a:xfrm>
              <a:off x="2064" y="3130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endParaRPr lang="zh-CN" altLang="en-US" sz="20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9770" name="Line 94"/>
            <p:cNvSpPr/>
            <p:nvPr/>
          </p:nvSpPr>
          <p:spPr>
            <a:xfrm flipH="1" flipV="1">
              <a:off x="2208" y="2976"/>
              <a:ext cx="0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95"/>
          <p:cNvGrpSpPr/>
          <p:nvPr/>
        </p:nvGrpSpPr>
        <p:grpSpPr>
          <a:xfrm>
            <a:off x="2209800" y="4327525"/>
            <a:ext cx="325438" cy="641350"/>
            <a:chOff x="1632" y="2976"/>
            <a:chExt cx="205" cy="404"/>
          </a:xfrm>
        </p:grpSpPr>
        <p:sp>
          <p:nvSpPr>
            <p:cNvPr id="29767" name="Rectangle 96"/>
            <p:cNvSpPr/>
            <p:nvPr/>
          </p:nvSpPr>
          <p:spPr>
            <a:xfrm>
              <a:off x="1632" y="3130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</a:t>
              </a:r>
              <a:endPara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68" name="Line 97"/>
            <p:cNvSpPr/>
            <p:nvPr/>
          </p:nvSpPr>
          <p:spPr>
            <a:xfrm flipV="1">
              <a:off x="1776" y="2976"/>
              <a:ext cx="48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98"/>
          <p:cNvGrpSpPr/>
          <p:nvPr/>
        </p:nvGrpSpPr>
        <p:grpSpPr>
          <a:xfrm>
            <a:off x="1752600" y="3184525"/>
            <a:ext cx="381000" cy="609600"/>
            <a:chOff x="1344" y="2256"/>
            <a:chExt cx="240" cy="384"/>
          </a:xfrm>
        </p:grpSpPr>
        <p:sp>
          <p:nvSpPr>
            <p:cNvPr id="29765" name="Rectangle 99"/>
            <p:cNvSpPr/>
            <p:nvPr/>
          </p:nvSpPr>
          <p:spPr>
            <a:xfrm>
              <a:off x="1344" y="239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sz="2000" b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9766" name="Line 100"/>
            <p:cNvSpPr/>
            <p:nvPr/>
          </p:nvSpPr>
          <p:spPr>
            <a:xfrm flipV="1">
              <a:off x="1488" y="2256"/>
              <a:ext cx="96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101"/>
          <p:cNvGrpSpPr/>
          <p:nvPr/>
        </p:nvGrpSpPr>
        <p:grpSpPr>
          <a:xfrm>
            <a:off x="1066800" y="3184525"/>
            <a:ext cx="381000" cy="609600"/>
            <a:chOff x="912" y="2256"/>
            <a:chExt cx="240" cy="384"/>
          </a:xfrm>
        </p:grpSpPr>
        <p:sp>
          <p:nvSpPr>
            <p:cNvPr id="29763" name="Rectangle 102"/>
            <p:cNvSpPr/>
            <p:nvPr/>
          </p:nvSpPr>
          <p:spPr>
            <a:xfrm>
              <a:off x="912" y="2390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</a:t>
              </a:r>
              <a:endPara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64" name="Line 103"/>
            <p:cNvSpPr/>
            <p:nvPr/>
          </p:nvSpPr>
          <p:spPr>
            <a:xfrm flipV="1">
              <a:off x="1056" y="2256"/>
              <a:ext cx="96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104"/>
          <p:cNvGrpSpPr/>
          <p:nvPr/>
        </p:nvGrpSpPr>
        <p:grpSpPr>
          <a:xfrm>
            <a:off x="1322388" y="2498725"/>
            <a:ext cx="1774825" cy="762000"/>
            <a:chOff x="1073" y="1824"/>
            <a:chExt cx="1118" cy="480"/>
          </a:xfrm>
        </p:grpSpPr>
        <p:sp>
          <p:nvSpPr>
            <p:cNvPr id="29757" name="Rectangle 105"/>
            <p:cNvSpPr/>
            <p:nvPr/>
          </p:nvSpPr>
          <p:spPr>
            <a:xfrm>
              <a:off x="1488" y="2054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endPara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9758" name="Rectangle 106"/>
            <p:cNvSpPr/>
            <p:nvPr/>
          </p:nvSpPr>
          <p:spPr>
            <a:xfrm>
              <a:off x="1073" y="2054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59" name="Rectangle 107"/>
            <p:cNvSpPr/>
            <p:nvPr/>
          </p:nvSpPr>
          <p:spPr>
            <a:xfrm>
              <a:off x="1968" y="2044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60" name="Line 108"/>
            <p:cNvSpPr/>
            <p:nvPr/>
          </p:nvSpPr>
          <p:spPr>
            <a:xfrm flipH="1" flipV="1">
              <a:off x="1728" y="1824"/>
              <a:ext cx="336" cy="240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61" name="Line 109"/>
            <p:cNvSpPr/>
            <p:nvPr/>
          </p:nvSpPr>
          <p:spPr>
            <a:xfrm flipH="1" flipV="1">
              <a:off x="1632" y="1872"/>
              <a:ext cx="0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62" name="Line 110"/>
            <p:cNvSpPr/>
            <p:nvPr/>
          </p:nvSpPr>
          <p:spPr>
            <a:xfrm flipV="1">
              <a:off x="1248" y="1824"/>
              <a:ext cx="336" cy="240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111"/>
          <p:cNvGrpSpPr/>
          <p:nvPr/>
        </p:nvGrpSpPr>
        <p:grpSpPr>
          <a:xfrm>
            <a:off x="2590800" y="3108325"/>
            <a:ext cx="1143000" cy="685800"/>
            <a:chOff x="1872" y="2208"/>
            <a:chExt cx="720" cy="432"/>
          </a:xfrm>
        </p:grpSpPr>
        <p:sp>
          <p:nvSpPr>
            <p:cNvPr id="29751" name="Line 112"/>
            <p:cNvSpPr/>
            <p:nvPr/>
          </p:nvSpPr>
          <p:spPr>
            <a:xfrm flipH="1" flipV="1">
              <a:off x="2112" y="2256"/>
              <a:ext cx="96" cy="144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2" name="Line 113"/>
            <p:cNvSpPr/>
            <p:nvPr/>
          </p:nvSpPr>
          <p:spPr>
            <a:xfrm flipH="1" flipV="1">
              <a:off x="2160" y="2208"/>
              <a:ext cx="288" cy="240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3" name="Line 114"/>
            <p:cNvSpPr/>
            <p:nvPr/>
          </p:nvSpPr>
          <p:spPr>
            <a:xfrm flipV="1">
              <a:off x="2016" y="2256"/>
              <a:ext cx="48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4" name="Rectangle 115"/>
            <p:cNvSpPr/>
            <p:nvPr/>
          </p:nvSpPr>
          <p:spPr>
            <a:xfrm>
              <a:off x="2112" y="2380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55" name="Rectangle 116"/>
            <p:cNvSpPr/>
            <p:nvPr/>
          </p:nvSpPr>
          <p:spPr>
            <a:xfrm>
              <a:off x="1872" y="2390"/>
              <a:ext cx="1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</a:t>
              </a:r>
              <a:endParaRPr lang="zh-CN" altLang="en-US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56" name="Rectangle 117"/>
            <p:cNvSpPr/>
            <p:nvPr/>
          </p:nvSpPr>
          <p:spPr>
            <a:xfrm>
              <a:off x="2423" y="2390"/>
              <a:ext cx="1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)</a:t>
              </a:r>
              <a:endParaRPr lang="zh-CN" altLang="en-US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0" name="Group 118"/>
          <p:cNvGrpSpPr/>
          <p:nvPr/>
        </p:nvGrpSpPr>
        <p:grpSpPr>
          <a:xfrm>
            <a:off x="2362200" y="3641725"/>
            <a:ext cx="1497013" cy="793750"/>
            <a:chOff x="1728" y="2544"/>
            <a:chExt cx="943" cy="500"/>
          </a:xfrm>
        </p:grpSpPr>
        <p:sp>
          <p:nvSpPr>
            <p:cNvPr id="29745" name="Line 119"/>
            <p:cNvSpPr/>
            <p:nvPr/>
          </p:nvSpPr>
          <p:spPr>
            <a:xfrm flipH="1" flipV="1">
              <a:off x="2208" y="2592"/>
              <a:ext cx="0" cy="192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6" name="Rectangle 120"/>
            <p:cNvSpPr/>
            <p:nvPr/>
          </p:nvSpPr>
          <p:spPr>
            <a:xfrm>
              <a:off x="2448" y="2784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47" name="Rectangle 121"/>
            <p:cNvSpPr/>
            <p:nvPr/>
          </p:nvSpPr>
          <p:spPr>
            <a:xfrm>
              <a:off x="1728" y="2794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48" name="Rectangle 122"/>
            <p:cNvSpPr/>
            <p:nvPr/>
          </p:nvSpPr>
          <p:spPr>
            <a:xfrm>
              <a:off x="2064" y="2784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endParaRPr lang="en-US" altLang="zh-CN" sz="20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9749" name="Line 123"/>
            <p:cNvSpPr/>
            <p:nvPr/>
          </p:nvSpPr>
          <p:spPr>
            <a:xfrm flipV="1">
              <a:off x="1872" y="2592"/>
              <a:ext cx="288" cy="240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0" name="Line 124"/>
            <p:cNvSpPr/>
            <p:nvPr/>
          </p:nvSpPr>
          <p:spPr>
            <a:xfrm flipH="1" flipV="1">
              <a:off x="2304" y="2544"/>
              <a:ext cx="192" cy="288"/>
            </a:xfrm>
            <a:prstGeom prst="line">
              <a:avLst/>
            </a:prstGeom>
            <a:ln w="9525" cap="flat" cmpd="sng">
              <a:solidFill>
                <a:srgbClr val="80008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9711" name="组合 79"/>
          <p:cNvGrpSpPr/>
          <p:nvPr/>
        </p:nvGrpSpPr>
        <p:grpSpPr>
          <a:xfrm>
            <a:off x="887413" y="5145088"/>
            <a:ext cx="6853237" cy="1122362"/>
            <a:chOff x="899592" y="5181600"/>
            <a:chExt cx="6852333" cy="1122164"/>
          </a:xfrm>
        </p:grpSpPr>
        <p:sp>
          <p:nvSpPr>
            <p:cNvPr id="29712" name="Rectangle 39"/>
            <p:cNvSpPr/>
            <p:nvPr/>
          </p:nvSpPr>
          <p:spPr>
            <a:xfrm>
              <a:off x="4644008" y="5840437"/>
              <a:ext cx="1241425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(v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d)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13" name="Rectangle 43"/>
            <p:cNvSpPr/>
            <p:nvPr/>
          </p:nvSpPr>
          <p:spPr>
            <a:xfrm>
              <a:off x="2894101" y="5879626"/>
              <a:ext cx="1255713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(v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14" name="Rectangle 47"/>
            <p:cNvSpPr/>
            <p:nvPr/>
          </p:nvSpPr>
          <p:spPr>
            <a:xfrm>
              <a:off x="4054613" y="5338043"/>
              <a:ext cx="88900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15" name="Rectangle 54"/>
            <p:cNvSpPr/>
            <p:nvPr/>
          </p:nvSpPr>
          <p:spPr>
            <a:xfrm>
              <a:off x="6524787" y="5325002"/>
              <a:ext cx="1227138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(E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16" name="Rectangle 61"/>
            <p:cNvSpPr/>
            <p:nvPr/>
          </p:nvSpPr>
          <p:spPr>
            <a:xfrm>
              <a:off x="1835696" y="5334000"/>
              <a:ext cx="720725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17" name="Rectangle 65"/>
            <p:cNvSpPr/>
            <p:nvPr/>
          </p:nvSpPr>
          <p:spPr>
            <a:xfrm>
              <a:off x="1043608" y="5334000"/>
              <a:ext cx="354013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18" name="Rectangle 66"/>
            <p:cNvSpPr/>
            <p:nvPr/>
          </p:nvSpPr>
          <p:spPr>
            <a:xfrm>
              <a:off x="2987824" y="5345113"/>
              <a:ext cx="720725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19" name="Rectangle 70"/>
            <p:cNvSpPr/>
            <p:nvPr/>
          </p:nvSpPr>
          <p:spPr>
            <a:xfrm>
              <a:off x="5364088" y="5334000"/>
              <a:ext cx="860425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29720" name="Rectangle 71"/>
            <p:cNvSpPr/>
            <p:nvPr/>
          </p:nvSpPr>
          <p:spPr>
            <a:xfrm>
              <a:off x="1403648" y="5877272"/>
              <a:ext cx="1284288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 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(E</a:t>
              </a:r>
              <a:r>
                <a:rPr lang="en-US" altLang="zh-CN" sz="20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r>
                <a:rPr lang="en-US" altLang="zh-CN" sz="20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E)</a:t>
              </a:r>
              <a:endParaRPr lang="en-US" altLang="zh-CN" sz="20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grpSp>
          <p:nvGrpSpPr>
            <p:cNvPr id="29721" name="组合 89"/>
            <p:cNvGrpSpPr/>
            <p:nvPr/>
          </p:nvGrpSpPr>
          <p:grpSpPr>
            <a:xfrm>
              <a:off x="2411760" y="5197475"/>
              <a:ext cx="703263" cy="530225"/>
              <a:chOff x="2970213" y="5197475"/>
              <a:chExt cx="703263" cy="530225"/>
            </a:xfrm>
          </p:grpSpPr>
          <p:sp>
            <p:nvSpPr>
              <p:cNvPr id="29743" name="Rectangle 46"/>
              <p:cNvSpPr/>
              <p:nvPr/>
            </p:nvSpPr>
            <p:spPr>
              <a:xfrm>
                <a:off x="2970213" y="5197475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6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9744" name="矩形 43"/>
              <p:cNvSpPr/>
              <p:nvPr/>
            </p:nvSpPr>
            <p:spPr>
              <a:xfrm>
                <a:off x="3146425" y="5266035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9722" name="组合 90"/>
            <p:cNvGrpSpPr/>
            <p:nvPr/>
          </p:nvGrpSpPr>
          <p:grpSpPr>
            <a:xfrm>
              <a:off x="1187624" y="5181600"/>
              <a:ext cx="703263" cy="546100"/>
              <a:chOff x="1370013" y="5181600"/>
              <a:chExt cx="703263" cy="546100"/>
            </a:xfrm>
          </p:grpSpPr>
          <p:sp>
            <p:nvSpPr>
              <p:cNvPr id="29741" name="Rectangle 64"/>
              <p:cNvSpPr/>
              <p:nvPr/>
            </p:nvSpPr>
            <p:spPr>
              <a:xfrm>
                <a:off x="1370013" y="51816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1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9742" name="矩形 43"/>
              <p:cNvSpPr/>
              <p:nvPr/>
            </p:nvSpPr>
            <p:spPr>
              <a:xfrm>
                <a:off x="1547664" y="5266035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9723" name="组合 91"/>
            <p:cNvGrpSpPr/>
            <p:nvPr/>
          </p:nvGrpSpPr>
          <p:grpSpPr>
            <a:xfrm>
              <a:off x="3491880" y="5197475"/>
              <a:ext cx="703263" cy="530225"/>
              <a:chOff x="4570413" y="5197475"/>
              <a:chExt cx="703263" cy="530225"/>
            </a:xfrm>
          </p:grpSpPr>
          <p:sp>
            <p:nvSpPr>
              <p:cNvPr id="29739" name="Rectangle 69"/>
              <p:cNvSpPr/>
              <p:nvPr/>
            </p:nvSpPr>
            <p:spPr>
              <a:xfrm>
                <a:off x="4570413" y="5197475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2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9740" name="矩形 43"/>
              <p:cNvSpPr/>
              <p:nvPr/>
            </p:nvSpPr>
            <p:spPr>
              <a:xfrm>
                <a:off x="4743679" y="5266035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9724" name="组合 92"/>
            <p:cNvGrpSpPr/>
            <p:nvPr/>
          </p:nvGrpSpPr>
          <p:grpSpPr>
            <a:xfrm>
              <a:off x="4788024" y="5197475"/>
              <a:ext cx="703263" cy="530225"/>
              <a:chOff x="6256339" y="5197475"/>
              <a:chExt cx="703263" cy="530225"/>
            </a:xfrm>
          </p:grpSpPr>
          <p:sp>
            <p:nvSpPr>
              <p:cNvPr id="29737" name="Rectangle 50"/>
              <p:cNvSpPr/>
              <p:nvPr/>
            </p:nvSpPr>
            <p:spPr>
              <a:xfrm>
                <a:off x="6256339" y="5197475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3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9738" name="矩形 106"/>
              <p:cNvSpPr/>
              <p:nvPr/>
            </p:nvSpPr>
            <p:spPr>
              <a:xfrm>
                <a:off x="6409989" y="5266035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9725" name="组合 93"/>
            <p:cNvGrpSpPr/>
            <p:nvPr/>
          </p:nvGrpSpPr>
          <p:grpSpPr>
            <a:xfrm>
              <a:off x="6028977" y="5192713"/>
              <a:ext cx="703263" cy="534987"/>
              <a:chOff x="303213" y="5753100"/>
              <a:chExt cx="703263" cy="534987"/>
            </a:xfrm>
          </p:grpSpPr>
          <p:sp>
            <p:nvSpPr>
              <p:cNvPr id="29735" name="Rectangle 53"/>
              <p:cNvSpPr/>
              <p:nvPr/>
            </p:nvSpPr>
            <p:spPr>
              <a:xfrm>
                <a:off x="303213" y="57531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1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9736" name="矩形 43"/>
              <p:cNvSpPr/>
              <p:nvPr/>
            </p:nvSpPr>
            <p:spPr>
              <a:xfrm>
                <a:off x="443935" y="5826422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9726" name="组合 94"/>
            <p:cNvGrpSpPr/>
            <p:nvPr/>
          </p:nvGrpSpPr>
          <p:grpSpPr>
            <a:xfrm>
              <a:off x="899592" y="5753100"/>
              <a:ext cx="703263" cy="550664"/>
              <a:chOff x="2284413" y="5753100"/>
              <a:chExt cx="703263" cy="550664"/>
            </a:xfrm>
          </p:grpSpPr>
          <p:sp>
            <p:nvSpPr>
              <p:cNvPr id="29733" name="Rectangle 57"/>
              <p:cNvSpPr/>
              <p:nvPr/>
            </p:nvSpPr>
            <p:spPr>
              <a:xfrm>
                <a:off x="2284413" y="57531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5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9734" name="矩形 43"/>
              <p:cNvSpPr/>
              <p:nvPr/>
            </p:nvSpPr>
            <p:spPr>
              <a:xfrm>
                <a:off x="2425591" y="5842099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9727" name="组合 95"/>
            <p:cNvGrpSpPr/>
            <p:nvPr/>
          </p:nvGrpSpPr>
          <p:grpSpPr>
            <a:xfrm>
              <a:off x="2428577" y="5733256"/>
              <a:ext cx="703263" cy="570508"/>
              <a:chOff x="4418013" y="5807075"/>
              <a:chExt cx="703263" cy="570508"/>
            </a:xfrm>
          </p:grpSpPr>
          <p:sp>
            <p:nvSpPr>
              <p:cNvPr id="29731" name="Rectangle 60"/>
              <p:cNvSpPr/>
              <p:nvPr/>
            </p:nvSpPr>
            <p:spPr>
              <a:xfrm>
                <a:off x="4418013" y="5807075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3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9732" name="矩形 43"/>
              <p:cNvSpPr/>
              <p:nvPr/>
            </p:nvSpPr>
            <p:spPr>
              <a:xfrm>
                <a:off x="4596197" y="5915918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29728" name="组合 96"/>
            <p:cNvGrpSpPr/>
            <p:nvPr/>
          </p:nvGrpSpPr>
          <p:grpSpPr>
            <a:xfrm>
              <a:off x="4067944" y="5733256"/>
              <a:ext cx="703263" cy="540891"/>
              <a:chOff x="6475413" y="5829300"/>
              <a:chExt cx="703263" cy="540891"/>
            </a:xfrm>
          </p:grpSpPr>
          <p:sp>
            <p:nvSpPr>
              <p:cNvPr id="29729" name="Rectangle 42"/>
              <p:cNvSpPr/>
              <p:nvPr/>
            </p:nvSpPr>
            <p:spPr>
              <a:xfrm>
                <a:off x="6475413" y="5829300"/>
                <a:ext cx="703263" cy="3365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（</a:t>
                </a:r>
                <a:r>
                  <a:rPr lang="zh-CN" altLang="en-US" sz="1600" b="1" i="1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4</a:t>
                </a:r>
                <a:r>
                  <a:rPr lang="zh-CN" altLang="en-US" sz="16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）</a:t>
                </a:r>
                <a:endParaRPr lang="zh-CN" altLang="en-US" sz="16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  <p:sp>
            <p:nvSpPr>
              <p:cNvPr id="29730" name="矩形 43"/>
              <p:cNvSpPr/>
              <p:nvPr/>
            </p:nvSpPr>
            <p:spPr>
              <a:xfrm>
                <a:off x="6639154" y="5908526"/>
                <a:ext cx="489236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>
                    <a:solidFill>
                      <a:srgbClr val="333399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</a:t>
                </a:r>
                <a:endPara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96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0722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0723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0724" name="Rectangle 4"/>
          <p:cNvSpPr/>
          <p:nvPr/>
        </p:nvSpPr>
        <p:spPr>
          <a:xfrm>
            <a:off x="1143000" y="533400"/>
            <a:ext cx="69342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/>
            <a:r>
              <a:rPr lang="zh-CN" altLang="en-US" sz="320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归约、推导与分析树之间关系</a:t>
            </a:r>
            <a:endParaRPr lang="zh-CN" altLang="en-US" sz="3200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grpSp>
        <p:nvGrpSpPr>
          <p:cNvPr id="30725" name="Group 5"/>
          <p:cNvGrpSpPr/>
          <p:nvPr/>
        </p:nvGrpSpPr>
        <p:grpSpPr>
          <a:xfrm>
            <a:off x="457200" y="1600200"/>
            <a:ext cx="8153400" cy="3381375"/>
            <a:chOff x="432" y="1518"/>
            <a:chExt cx="5136" cy="2130"/>
          </a:xfrm>
        </p:grpSpPr>
        <p:sp>
          <p:nvSpPr>
            <p:cNvPr id="30726" name="Rectangle 6"/>
            <p:cNvSpPr/>
            <p:nvPr/>
          </p:nvSpPr>
          <p:spPr>
            <a:xfrm>
              <a:off x="432" y="1518"/>
              <a:ext cx="5136" cy="21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buFont typeface="Wingdings" panose="05000000000000000000" pitchFamily="2" charset="2"/>
                <a:buChar char="²"/>
              </a:pPr>
              <a:r>
                <a:rPr lang="zh-CN" altLang="en-US" sz="2400" b="1">
                  <a:solidFill>
                    <a:srgbClr val="80008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三者之间的关系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zh-CN" altLang="en-US" sz="8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   设</a:t>
              </a:r>
              <a:r>
                <a:rPr lang="zh-CN" altLang="en-US" sz="2400" b="1" i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CFG</a:t>
              </a:r>
              <a:r>
                <a:rPr lang="en-US" altLang="zh-CN" sz="2400" b="1" i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G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= (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N,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 i="1">
                  <a:solidFill>
                    <a:srgbClr val="3333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,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P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, S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).   </a:t>
              </a: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以下命题是相互等价的：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zh-CN" altLang="en-US" sz="8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</a:t>
              </a:r>
              <a:r>
                <a:rPr lang="zh-CN" altLang="en-US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(1)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字符串</a:t>
              </a:r>
              <a:r>
                <a:rPr lang="zh-CN" altLang="en-US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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T*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可以归约（递归推理）到非终结符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；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  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en-US" altLang="zh-CN" sz="8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    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(2)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；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en-US" altLang="zh-CN" sz="8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(3)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；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en-US" altLang="zh-CN" sz="8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(4)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；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>
                <a:buFont typeface="Wingdings" panose="05000000000000000000" pitchFamily="2" charset="2"/>
              </a:pPr>
              <a:endParaRPr lang="en-US" altLang="zh-CN" sz="8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(5)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存在一棵根结点为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的分析树，其边缘为</a:t>
              </a:r>
              <a:r>
                <a:rPr lang="zh-CN" altLang="en-US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.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0727" name="Rectangle 7"/>
            <p:cNvSpPr/>
            <p:nvPr/>
          </p:nvSpPr>
          <p:spPr>
            <a:xfrm>
              <a:off x="1252" y="2400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28" name="Rectangle 8"/>
            <p:cNvSpPr/>
            <p:nvPr/>
          </p:nvSpPr>
          <p:spPr>
            <a:xfrm>
              <a:off x="1222" y="2880"/>
              <a:ext cx="26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PMingLiU" pitchFamily="18" charset="-120"/>
                  <a:sym typeface="Symbol" panose="05050102010706020507" pitchFamily="18" charset="2"/>
                </a:rPr>
                <a:t>l</a:t>
              </a:r>
              <a:r>
                <a: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m</a:t>
              </a:r>
              <a:endParaRPr lang="en-US" altLang="zh-CN" sz="1600" b="1" i="1">
                <a:solidFill>
                  <a:srgbClr val="333399"/>
                </a:solidFill>
                <a:latin typeface="Book Antiqua" panose="02040602050305030304" pitchFamily="18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29" name="Rectangle 9"/>
            <p:cNvSpPr/>
            <p:nvPr/>
          </p:nvSpPr>
          <p:spPr>
            <a:xfrm>
              <a:off x="1252" y="2697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30" name="Rectangle 10"/>
            <p:cNvSpPr/>
            <p:nvPr/>
          </p:nvSpPr>
          <p:spPr>
            <a:xfrm>
              <a:off x="1252" y="3024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31" name="Rectangle 11"/>
            <p:cNvSpPr/>
            <p:nvPr/>
          </p:nvSpPr>
          <p:spPr>
            <a:xfrm>
              <a:off x="1215" y="3196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PMingLiU" pitchFamily="18" charset="-120"/>
                  <a:sym typeface="Symbol" panose="05050102010706020507" pitchFamily="18" charset="2"/>
                </a:rPr>
                <a:t>r</a:t>
              </a:r>
              <a:r>
                <a:rPr lang="en-US" altLang="zh-CN" sz="1600" b="1" i="1">
                  <a:solidFill>
                    <a:srgbClr val="333399"/>
                  </a:solidFill>
                  <a:latin typeface="Book Antiqua" panose="0204060205030503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m</a:t>
              </a:r>
              <a:endParaRPr lang="en-US" altLang="zh-CN" sz="1600" b="1" i="1">
                <a:solidFill>
                  <a:srgbClr val="333399"/>
                </a:solidFill>
                <a:latin typeface="Book Antiqua" panose="02040602050305030304" pitchFamily="18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1746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1747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1748" name="Rectangle 2"/>
          <p:cNvSpPr>
            <a:spLocks noGrp="1"/>
          </p:cNvSpPr>
          <p:nvPr>
            <p:ph idx="1"/>
          </p:nvPr>
        </p:nvSpPr>
        <p:spPr>
          <a:xfrm>
            <a:off x="381000" y="1447800"/>
            <a:ext cx="8763000" cy="4724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>
                <a:solidFill>
                  <a:srgbClr val="800080"/>
                </a:solidFill>
              </a:rPr>
              <a:t>定理</a:t>
            </a:r>
            <a:r>
              <a:rPr lang="zh-CN" altLang="en-US">
                <a:solidFill>
                  <a:schemeClr val="tx2"/>
                </a:solidFill>
              </a:rPr>
              <a:t>：</a:t>
            </a:r>
            <a:endParaRPr lang="zh-CN" altLang="en-US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zh-CN" altLang="en-US">
                <a:solidFill>
                  <a:schemeClr val="tx2"/>
                </a:solidFill>
              </a:rPr>
              <a:t>	设2型文法</a:t>
            </a:r>
            <a:r>
              <a:rPr lang="en-US" altLang="zh-CN">
                <a:solidFill>
                  <a:schemeClr val="tx2"/>
                </a:solidFill>
              </a:rPr>
              <a:t>G=（N，T，P，S），</a:t>
            </a:r>
            <a:r>
              <a:rPr lang="zh-CN" altLang="en-US">
                <a:solidFill>
                  <a:schemeClr val="tx2"/>
                </a:solidFill>
              </a:rPr>
              <a:t>如果存在</a:t>
            </a:r>
            <a:r>
              <a:rPr lang="en-US" altLang="zh-CN">
                <a:solidFill>
                  <a:schemeClr val="tx2"/>
                </a:solidFill>
              </a:rPr>
              <a:t>S    ω，</a:t>
            </a:r>
            <a:r>
              <a:rPr lang="zh-CN" altLang="en-US">
                <a:solidFill>
                  <a:schemeClr val="tx2"/>
                </a:solidFill>
              </a:rPr>
              <a:t>当且仅当文法</a:t>
            </a:r>
            <a:r>
              <a:rPr lang="en-US" altLang="zh-CN">
                <a:solidFill>
                  <a:schemeClr val="tx2"/>
                </a:solidFill>
              </a:rPr>
              <a:t>G</a:t>
            </a:r>
            <a:r>
              <a:rPr lang="zh-CN" altLang="en-US">
                <a:solidFill>
                  <a:schemeClr val="tx2"/>
                </a:solidFill>
              </a:rPr>
              <a:t>中有一棵边缘为</a:t>
            </a:r>
            <a:r>
              <a:rPr lang="en-US" altLang="zh-CN">
                <a:solidFill>
                  <a:schemeClr val="tx2"/>
                </a:solidFill>
              </a:rPr>
              <a:t>ω</a:t>
            </a:r>
            <a:r>
              <a:rPr lang="zh-CN" altLang="en-US">
                <a:solidFill>
                  <a:schemeClr val="tx2"/>
                </a:solidFill>
              </a:rPr>
              <a:t>的推导树。</a:t>
            </a:r>
            <a:endParaRPr lang="zh-CN" altLang="en-US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zh-CN" altLang="en-US">
                <a:solidFill>
                  <a:srgbClr val="800080"/>
                </a:solidFill>
              </a:rPr>
              <a:t>证明：</a:t>
            </a:r>
            <a:endParaRPr lang="zh-CN" altLang="en-US">
              <a:solidFill>
                <a:srgbClr val="800080"/>
              </a:solidFill>
            </a:endParaRPr>
          </a:p>
          <a:p>
            <a:pPr eaLnBrk="1" hangingPunct="1">
              <a:buNone/>
            </a:pPr>
            <a:r>
              <a:rPr lang="zh-CN" altLang="en-US">
                <a:solidFill>
                  <a:srgbClr val="800080"/>
                </a:solidFill>
              </a:rPr>
              <a:t>	</a:t>
            </a:r>
            <a:r>
              <a:rPr lang="zh-CN" altLang="en-US">
                <a:solidFill>
                  <a:schemeClr val="tx2"/>
                </a:solidFill>
              </a:rPr>
              <a:t>需证明对任意枝结点</a:t>
            </a:r>
            <a:r>
              <a:rPr lang="en-US" altLang="zh-CN">
                <a:solidFill>
                  <a:schemeClr val="tx2"/>
                </a:solidFill>
              </a:rPr>
              <a:t>B∈N，</a:t>
            </a:r>
            <a:r>
              <a:rPr lang="zh-CN" altLang="en-US">
                <a:solidFill>
                  <a:schemeClr val="tx2"/>
                </a:solidFill>
              </a:rPr>
              <a:t>有</a:t>
            </a:r>
            <a:r>
              <a:rPr lang="en-US" altLang="zh-CN">
                <a:solidFill>
                  <a:schemeClr val="tx2"/>
                </a:solidFill>
              </a:rPr>
              <a:t>B    ω</a:t>
            </a:r>
            <a:r>
              <a:rPr lang="zh-CN" altLang="en-US">
                <a:solidFill>
                  <a:schemeClr val="tx2"/>
                </a:solidFill>
              </a:rPr>
              <a:t>当且仅当存在边缘为</a:t>
            </a:r>
            <a:r>
              <a:rPr lang="en-US" altLang="zh-CN">
                <a:solidFill>
                  <a:schemeClr val="tx2"/>
                </a:solidFill>
              </a:rPr>
              <a:t>ω</a:t>
            </a:r>
            <a:r>
              <a:rPr lang="zh-CN" altLang="en-US">
                <a:solidFill>
                  <a:schemeClr val="tx2"/>
                </a:solidFill>
              </a:rPr>
              <a:t>的</a:t>
            </a:r>
            <a:r>
              <a:rPr lang="en-US" altLang="zh-CN">
                <a:solidFill>
                  <a:schemeClr val="tx2"/>
                </a:solidFill>
              </a:rPr>
              <a:t>B</a:t>
            </a:r>
            <a:r>
              <a:rPr lang="zh-CN" altLang="en-US">
                <a:solidFill>
                  <a:schemeClr val="tx2"/>
                </a:solidFill>
              </a:rPr>
              <a:t>树（根为</a:t>
            </a:r>
            <a:r>
              <a:rPr lang="en-US" altLang="zh-CN">
                <a:solidFill>
                  <a:schemeClr val="tx2"/>
                </a:solidFill>
              </a:rPr>
              <a:t>B</a:t>
            </a:r>
            <a:r>
              <a:rPr lang="zh-CN" altLang="en-US">
                <a:solidFill>
                  <a:schemeClr val="tx2"/>
                </a:solidFill>
              </a:rPr>
              <a:t>的树）</a:t>
            </a:r>
            <a:endParaRPr lang="zh-CN" altLang="en-US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>
              <a:solidFill>
                <a:srgbClr val="80008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>
                <a:solidFill>
                  <a:srgbClr val="800080"/>
                </a:solidFill>
              </a:rPr>
              <a:t>子树概念：</a:t>
            </a:r>
            <a:endParaRPr lang="zh-CN" altLang="en-US">
              <a:solidFill>
                <a:srgbClr val="80008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>
                <a:solidFill>
                  <a:schemeClr val="tx2"/>
                </a:solidFill>
              </a:rPr>
              <a:t>	一棵派生树的子树，是树中的某个顶点连同它的全部后裔，以及连接这些后裔的边。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1749" name="Rectangle 5"/>
          <p:cNvSpPr/>
          <p:nvPr/>
        </p:nvSpPr>
        <p:spPr>
          <a:xfrm>
            <a:off x="1143000" y="533400"/>
            <a:ext cx="69342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/>
            <a:r>
              <a:rPr lang="zh-CN" altLang="en-US" sz="320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归约、推导与分析树之间关系</a:t>
            </a:r>
            <a:endParaRPr lang="zh-CN" altLang="en-US" sz="3200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31750" name="矩形 1"/>
          <p:cNvSpPr/>
          <p:nvPr/>
        </p:nvSpPr>
        <p:spPr>
          <a:xfrm>
            <a:off x="7688263" y="2060575"/>
            <a:ext cx="4127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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1751" name="Rectangle 7"/>
          <p:cNvSpPr/>
          <p:nvPr/>
        </p:nvSpPr>
        <p:spPr>
          <a:xfrm>
            <a:off x="7699375" y="1887538"/>
            <a:ext cx="300038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endParaRPr lang="zh-CN" altLang="en-US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31752" name="组合 2"/>
          <p:cNvGrpSpPr/>
          <p:nvPr/>
        </p:nvGrpSpPr>
        <p:grpSpPr>
          <a:xfrm>
            <a:off x="5867400" y="3319463"/>
            <a:ext cx="412750" cy="550862"/>
            <a:chOff x="5868144" y="3319790"/>
            <a:chExt cx="412292" cy="550550"/>
          </a:xfrm>
        </p:grpSpPr>
        <p:sp>
          <p:nvSpPr>
            <p:cNvPr id="31753" name="矩形 8"/>
            <p:cNvSpPr/>
            <p:nvPr/>
          </p:nvSpPr>
          <p:spPr>
            <a:xfrm>
              <a:off x="5868144" y="3501008"/>
              <a:ext cx="41229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1754" name="Rectangle 7"/>
            <p:cNvSpPr/>
            <p:nvPr/>
          </p:nvSpPr>
          <p:spPr>
            <a:xfrm>
              <a:off x="5868144" y="3319790"/>
              <a:ext cx="30008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2770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2771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>
          <a:xfrm>
            <a:off x="381000" y="1447800"/>
            <a:ext cx="8763000" cy="4724400"/>
          </a:xfrm>
          <a:ln/>
        </p:spPr>
        <p:txBody>
          <a:bodyPr vert="horz" wrap="square" lIns="91440" tIns="45720" rIns="91440" bIns="45720" anchor="t" anchorCtr="0"/>
          <a:p>
            <a:pPr marL="533400" indent="-533400" eaLnBrk="1" hangingPunct="1">
              <a:buNone/>
            </a:pPr>
            <a:r>
              <a:rPr lang="zh-CN" altLang="en-US">
                <a:solidFill>
                  <a:srgbClr val="800080"/>
                </a:solidFill>
              </a:rPr>
              <a:t>证明步骤：</a:t>
            </a:r>
            <a:endParaRPr lang="zh-CN" altLang="en-US">
              <a:solidFill>
                <a:srgbClr val="800080"/>
              </a:solidFill>
            </a:endParaRPr>
          </a:p>
          <a:p>
            <a:pPr marL="533400" indent="-533400" eaLnBrk="1" hangingPunct="1">
              <a:buNone/>
            </a:pPr>
            <a:r>
              <a:rPr lang="zh-CN" altLang="en-US">
                <a:solidFill>
                  <a:schemeClr val="tx2"/>
                </a:solidFill>
              </a:rPr>
              <a:t>1. 证当</a:t>
            </a:r>
            <a:r>
              <a:rPr lang="en-US" altLang="zh-CN">
                <a:solidFill>
                  <a:schemeClr val="tx2"/>
                </a:solidFill>
              </a:rPr>
              <a:t>ω</a:t>
            </a:r>
            <a:r>
              <a:rPr lang="zh-CN" altLang="en-US">
                <a:solidFill>
                  <a:schemeClr val="tx2"/>
                </a:solidFill>
              </a:rPr>
              <a:t>是</a:t>
            </a:r>
            <a:r>
              <a:rPr lang="en-US" altLang="zh-CN">
                <a:solidFill>
                  <a:schemeClr val="tx2"/>
                </a:solidFill>
              </a:rPr>
              <a:t>B</a:t>
            </a:r>
            <a:r>
              <a:rPr lang="zh-CN" altLang="en-US">
                <a:solidFill>
                  <a:schemeClr val="tx2"/>
                </a:solidFill>
              </a:rPr>
              <a:t>树边缘时，有</a:t>
            </a:r>
            <a:r>
              <a:rPr lang="en-US" altLang="zh-CN">
                <a:solidFill>
                  <a:schemeClr val="tx2"/>
                </a:solidFill>
              </a:rPr>
              <a:t>B </a:t>
            </a:r>
            <a:r>
              <a:rPr lang="en-US" altLang="zh-CN" sz="2400">
                <a:solidFill>
                  <a:schemeClr val="tx2"/>
                </a:solidFill>
              </a:rPr>
              <a:t>  </a:t>
            </a:r>
            <a:r>
              <a:rPr lang="en-US" altLang="zh-CN">
                <a:solidFill>
                  <a:schemeClr val="tx2"/>
                </a:solidFill>
              </a:rPr>
              <a:t>  ω</a:t>
            </a:r>
            <a:endParaRPr lang="en-US" altLang="zh-CN">
              <a:solidFill>
                <a:schemeClr val="tx2"/>
              </a:solidFill>
            </a:endParaRPr>
          </a:p>
          <a:p>
            <a:pPr marL="533400" indent="-533400" eaLnBrk="1" hangingPunct="1">
              <a:buNone/>
            </a:pPr>
            <a:r>
              <a:rPr lang="zh-CN" altLang="en-US">
                <a:solidFill>
                  <a:schemeClr val="tx2"/>
                </a:solidFill>
              </a:rPr>
              <a:t>	设</a:t>
            </a:r>
            <a:r>
              <a:rPr lang="en-US" altLang="zh-CN">
                <a:solidFill>
                  <a:schemeClr val="tx2"/>
                </a:solidFill>
              </a:rPr>
              <a:t>B</a:t>
            </a:r>
            <a:r>
              <a:rPr lang="zh-CN" altLang="en-US">
                <a:solidFill>
                  <a:schemeClr val="tx2"/>
                </a:solidFill>
              </a:rPr>
              <a:t>树边缘为</a:t>
            </a:r>
            <a:r>
              <a:rPr lang="en-US" altLang="zh-CN">
                <a:solidFill>
                  <a:schemeClr val="tx2"/>
                </a:solidFill>
              </a:rPr>
              <a:t>ω，</a:t>
            </a:r>
            <a:r>
              <a:rPr lang="zh-CN" altLang="en-US">
                <a:solidFill>
                  <a:schemeClr val="tx2"/>
                </a:solidFill>
              </a:rPr>
              <a:t>对树中枝结点数目</a:t>
            </a:r>
            <a:r>
              <a:rPr lang="en-US" altLang="zh-CN">
                <a:solidFill>
                  <a:schemeClr val="tx2"/>
                </a:solidFill>
              </a:rPr>
              <a:t>m</a:t>
            </a:r>
            <a:r>
              <a:rPr lang="zh-CN" altLang="en-US">
                <a:solidFill>
                  <a:schemeClr val="tx2"/>
                </a:solidFill>
              </a:rPr>
              <a:t>作归纳证明。</a:t>
            </a:r>
            <a:endParaRPr lang="zh-CN" altLang="en-US">
              <a:solidFill>
                <a:schemeClr val="tx2"/>
              </a:solidFill>
            </a:endParaRPr>
          </a:p>
          <a:p>
            <a:pPr marL="533400" indent="-533400" eaLnBrk="1" hangingPunct="1">
              <a:buNone/>
            </a:pPr>
            <a:endParaRPr lang="zh-CN" altLang="en-US">
              <a:solidFill>
                <a:schemeClr val="tx2"/>
              </a:solidFill>
            </a:endParaRPr>
          </a:p>
          <a:p>
            <a:pPr marL="533400" indent="-533400" eaLnBrk="1" hangingPunct="1">
              <a:buNone/>
            </a:pPr>
            <a:r>
              <a:rPr lang="zh-CN" altLang="en-US">
                <a:solidFill>
                  <a:schemeClr val="tx2"/>
                </a:solidFill>
              </a:rPr>
              <a:t>2. 设有</a:t>
            </a:r>
            <a:r>
              <a:rPr lang="en-US" altLang="zh-CN">
                <a:solidFill>
                  <a:schemeClr val="tx2"/>
                </a:solidFill>
              </a:rPr>
              <a:t>B    ω，</a:t>
            </a:r>
            <a:r>
              <a:rPr lang="zh-CN" altLang="en-US">
                <a:solidFill>
                  <a:schemeClr val="tx2"/>
                </a:solidFill>
              </a:rPr>
              <a:t>证明存在一棵边缘为</a:t>
            </a:r>
            <a:r>
              <a:rPr lang="en-US" altLang="zh-CN">
                <a:solidFill>
                  <a:schemeClr val="tx2"/>
                </a:solidFill>
              </a:rPr>
              <a:t>ω</a:t>
            </a:r>
            <a:r>
              <a:rPr lang="zh-CN" altLang="en-US">
                <a:solidFill>
                  <a:schemeClr val="tx2"/>
                </a:solidFill>
              </a:rPr>
              <a:t>的</a:t>
            </a:r>
            <a:r>
              <a:rPr lang="en-US" altLang="zh-CN">
                <a:solidFill>
                  <a:schemeClr val="tx2"/>
                </a:solidFill>
              </a:rPr>
              <a:t>B</a:t>
            </a:r>
            <a:r>
              <a:rPr lang="zh-CN" altLang="en-US">
                <a:solidFill>
                  <a:schemeClr val="tx2"/>
                </a:solidFill>
              </a:rPr>
              <a:t>树。</a:t>
            </a:r>
            <a:endParaRPr lang="zh-CN" altLang="en-US">
              <a:solidFill>
                <a:schemeClr val="tx2"/>
              </a:solidFill>
            </a:endParaRPr>
          </a:p>
          <a:p>
            <a:pPr marL="533400" indent="-533400" eaLnBrk="1" hangingPunct="1">
              <a:buNone/>
            </a:pPr>
            <a:r>
              <a:rPr lang="zh-CN" altLang="en-US">
                <a:solidFill>
                  <a:schemeClr val="tx2"/>
                </a:solidFill>
              </a:rPr>
              <a:t>	对</a:t>
            </a:r>
            <a:r>
              <a:rPr lang="zh-CN" altLang="en-US" u="sng">
                <a:solidFill>
                  <a:schemeClr val="tx2"/>
                </a:solidFill>
              </a:rPr>
              <a:t>推导步数</a:t>
            </a:r>
            <a:r>
              <a:rPr lang="zh-CN" altLang="en-US">
                <a:solidFill>
                  <a:schemeClr val="tx2"/>
                </a:solidFill>
              </a:rPr>
              <a:t>作归纳  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2773" name="矩形 6"/>
          <p:cNvSpPr/>
          <p:nvPr/>
        </p:nvSpPr>
        <p:spPr>
          <a:xfrm>
            <a:off x="4859338" y="1989138"/>
            <a:ext cx="490537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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2774" name="Rectangle 7"/>
          <p:cNvSpPr/>
          <p:nvPr/>
        </p:nvSpPr>
        <p:spPr>
          <a:xfrm>
            <a:off x="4932363" y="1844675"/>
            <a:ext cx="30003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endParaRPr lang="zh-CN" altLang="en-US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32775" name="组合 8"/>
          <p:cNvGrpSpPr/>
          <p:nvPr/>
        </p:nvGrpSpPr>
        <p:grpSpPr>
          <a:xfrm>
            <a:off x="1763713" y="3382963"/>
            <a:ext cx="488950" cy="579437"/>
            <a:chOff x="5796136" y="3319790"/>
            <a:chExt cx="489236" cy="580167"/>
          </a:xfrm>
        </p:grpSpPr>
        <p:sp>
          <p:nvSpPr>
            <p:cNvPr id="32776" name="矩形 9"/>
            <p:cNvSpPr/>
            <p:nvPr/>
          </p:nvSpPr>
          <p:spPr>
            <a:xfrm>
              <a:off x="5796136" y="3438292"/>
              <a:ext cx="489236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2777" name="Rectangle 7"/>
            <p:cNvSpPr/>
            <p:nvPr/>
          </p:nvSpPr>
          <p:spPr>
            <a:xfrm>
              <a:off x="5868144" y="3319790"/>
              <a:ext cx="30008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3794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3795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idx="1"/>
          </p:nvPr>
        </p:nvSpPr>
        <p:spPr>
          <a:xfrm>
            <a:off x="0" y="1371600"/>
            <a:ext cx="8763000" cy="990600"/>
          </a:xfrm>
          <a:ln/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</a:rPr>
              <a:t>1. </a:t>
            </a:r>
            <a:r>
              <a:rPr lang="zh-CN" altLang="en-US">
                <a:solidFill>
                  <a:schemeClr val="tx2"/>
                </a:solidFill>
              </a:rPr>
              <a:t>证当</a:t>
            </a:r>
            <a:r>
              <a:rPr lang="en-US" altLang="zh-CN">
                <a:solidFill>
                  <a:schemeClr val="tx2"/>
                </a:solidFill>
              </a:rPr>
              <a:t>ω</a:t>
            </a:r>
            <a:r>
              <a:rPr lang="zh-CN" altLang="en-US">
                <a:solidFill>
                  <a:schemeClr val="tx2"/>
                </a:solidFill>
              </a:rPr>
              <a:t>是</a:t>
            </a:r>
            <a:r>
              <a:rPr lang="en-US" altLang="zh-CN">
                <a:solidFill>
                  <a:schemeClr val="tx2"/>
                </a:solidFill>
              </a:rPr>
              <a:t>B</a:t>
            </a:r>
            <a:r>
              <a:rPr lang="zh-CN" altLang="en-US">
                <a:solidFill>
                  <a:schemeClr val="tx2"/>
                </a:solidFill>
              </a:rPr>
              <a:t>树边缘时，有</a:t>
            </a:r>
            <a:r>
              <a:rPr lang="en-US" altLang="zh-CN">
                <a:solidFill>
                  <a:schemeClr val="tx2"/>
                </a:solidFill>
              </a:rPr>
              <a:t>B    ω</a:t>
            </a:r>
            <a:endParaRPr lang="en-US" altLang="zh-CN">
              <a:solidFill>
                <a:schemeClr val="tx2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>
                <a:solidFill>
                  <a:schemeClr val="tx2"/>
                </a:solidFill>
              </a:rPr>
              <a:t>	设</a:t>
            </a:r>
            <a:r>
              <a:rPr lang="en-US" altLang="zh-CN">
                <a:solidFill>
                  <a:schemeClr val="tx2"/>
                </a:solidFill>
              </a:rPr>
              <a:t>B</a:t>
            </a:r>
            <a:r>
              <a:rPr lang="zh-CN" altLang="en-US">
                <a:solidFill>
                  <a:schemeClr val="tx2"/>
                </a:solidFill>
              </a:rPr>
              <a:t>树边缘为</a:t>
            </a:r>
            <a:r>
              <a:rPr lang="en-US" altLang="zh-CN">
                <a:solidFill>
                  <a:schemeClr val="tx2"/>
                </a:solidFill>
              </a:rPr>
              <a:t>ω，</a:t>
            </a:r>
            <a:r>
              <a:rPr lang="zh-CN" altLang="en-US">
                <a:solidFill>
                  <a:schemeClr val="tx2"/>
                </a:solidFill>
              </a:rPr>
              <a:t>对树中枝结点数目</a:t>
            </a:r>
            <a:r>
              <a:rPr lang="en-US" altLang="zh-CN">
                <a:solidFill>
                  <a:schemeClr val="tx2"/>
                </a:solidFill>
              </a:rPr>
              <a:t>m</a:t>
            </a:r>
            <a:r>
              <a:rPr lang="zh-CN" altLang="en-US">
                <a:solidFill>
                  <a:schemeClr val="tx2"/>
                </a:solidFill>
              </a:rPr>
              <a:t>作归纳证明。</a:t>
            </a:r>
            <a:endParaRPr lang="zh-CN" altLang="en-US">
              <a:solidFill>
                <a:schemeClr val="tx2"/>
              </a:solidFill>
            </a:endParaRPr>
          </a:p>
        </p:txBody>
      </p:sp>
      <p:grpSp>
        <p:nvGrpSpPr>
          <p:cNvPr id="33797" name="Group 43"/>
          <p:cNvGrpSpPr/>
          <p:nvPr/>
        </p:nvGrpSpPr>
        <p:grpSpPr>
          <a:xfrm>
            <a:off x="5943600" y="2514600"/>
            <a:ext cx="1905000" cy="1150938"/>
            <a:chOff x="3744" y="1963"/>
            <a:chExt cx="1200" cy="725"/>
          </a:xfrm>
        </p:grpSpPr>
        <p:sp>
          <p:nvSpPr>
            <p:cNvPr id="33823" name="AutoShape 44"/>
            <p:cNvSpPr/>
            <p:nvPr/>
          </p:nvSpPr>
          <p:spPr>
            <a:xfrm>
              <a:off x="3744" y="2160"/>
              <a:ext cx="1200" cy="336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800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3824" name="Rectangle 45"/>
            <p:cNvSpPr/>
            <p:nvPr/>
          </p:nvSpPr>
          <p:spPr>
            <a:xfrm>
              <a:off x="4231" y="2457"/>
              <a:ext cx="22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endParaRPr lang="en-US" altLang="zh-CN" b="1" i="1" baseline="-250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3825" name="Line 46"/>
            <p:cNvSpPr/>
            <p:nvPr/>
          </p:nvSpPr>
          <p:spPr>
            <a:xfrm>
              <a:off x="4464" y="2592"/>
              <a:ext cx="480" cy="0"/>
            </a:xfrm>
            <a:prstGeom prst="line">
              <a:avLst/>
            </a:prstGeom>
            <a:ln w="9525" cap="flat" cmpd="sng">
              <a:solidFill>
                <a:srgbClr val="993366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33826" name="Line 47"/>
            <p:cNvSpPr/>
            <p:nvPr/>
          </p:nvSpPr>
          <p:spPr>
            <a:xfrm flipH="1">
              <a:off x="3744" y="2592"/>
              <a:ext cx="480" cy="0"/>
            </a:xfrm>
            <a:prstGeom prst="line">
              <a:avLst/>
            </a:prstGeom>
            <a:ln w="9525" cap="flat" cmpd="sng">
              <a:solidFill>
                <a:srgbClr val="993366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33827" name="Rectangle 48"/>
            <p:cNvSpPr/>
            <p:nvPr/>
          </p:nvSpPr>
          <p:spPr>
            <a:xfrm>
              <a:off x="4224" y="1963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B</a:t>
              </a:r>
              <a:endParaRPr lang="en-US" altLang="zh-CN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3" name="Group 49"/>
          <p:cNvGrpSpPr/>
          <p:nvPr/>
        </p:nvGrpSpPr>
        <p:grpSpPr>
          <a:xfrm>
            <a:off x="5715000" y="4191000"/>
            <a:ext cx="2590800" cy="1890713"/>
            <a:chOff x="3600" y="2784"/>
            <a:chExt cx="1632" cy="1191"/>
          </a:xfrm>
        </p:grpSpPr>
        <p:sp>
          <p:nvSpPr>
            <p:cNvPr id="33808" name="AutoShape 50"/>
            <p:cNvSpPr/>
            <p:nvPr/>
          </p:nvSpPr>
          <p:spPr>
            <a:xfrm>
              <a:off x="3600" y="3495"/>
              <a:ext cx="240" cy="288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800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3809" name="AutoShape 51"/>
            <p:cNvSpPr/>
            <p:nvPr/>
          </p:nvSpPr>
          <p:spPr>
            <a:xfrm>
              <a:off x="4080" y="3495"/>
              <a:ext cx="240" cy="288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800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3810" name="AutoShape 52"/>
            <p:cNvSpPr/>
            <p:nvPr/>
          </p:nvSpPr>
          <p:spPr>
            <a:xfrm>
              <a:off x="4944" y="3495"/>
              <a:ext cx="240" cy="288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800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3811" name="Rectangle 53"/>
            <p:cNvSpPr/>
            <p:nvPr/>
          </p:nvSpPr>
          <p:spPr>
            <a:xfrm>
              <a:off x="3600" y="3255"/>
              <a:ext cx="26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b="1" i="1" baseline="-2500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</a:t>
              </a:r>
              <a:endParaRPr lang="en-US" altLang="zh-CN" b="1" i="1" baseline="-250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3812" name="Rectangle 54"/>
            <p:cNvSpPr/>
            <p:nvPr/>
          </p:nvSpPr>
          <p:spPr>
            <a:xfrm>
              <a:off x="4080" y="3264"/>
              <a:ext cx="26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b="1" i="1" baseline="-2500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2</a:t>
              </a:r>
              <a:endParaRPr lang="en-US" altLang="zh-CN" b="1" i="1" baseline="-250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3813" name="Rectangle 55"/>
            <p:cNvSpPr/>
            <p:nvPr/>
          </p:nvSpPr>
          <p:spPr>
            <a:xfrm>
              <a:off x="4944" y="3303"/>
              <a:ext cx="26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b="1" i="1" baseline="-2500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3</a:t>
              </a:r>
              <a:endParaRPr lang="en-US" altLang="zh-CN" b="1" i="1" baseline="-250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3814" name="Rectangle 56"/>
            <p:cNvSpPr/>
            <p:nvPr/>
          </p:nvSpPr>
          <p:spPr>
            <a:xfrm>
              <a:off x="3607" y="3744"/>
              <a:ext cx="28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b="1" i="1" baseline="-2500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</a:t>
              </a:r>
              <a:endParaRPr lang="en-US" altLang="zh-CN" b="1" i="1" baseline="-250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3815" name="Rectangle 57"/>
            <p:cNvSpPr/>
            <p:nvPr/>
          </p:nvSpPr>
          <p:spPr>
            <a:xfrm>
              <a:off x="4087" y="3744"/>
              <a:ext cx="28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b="1" i="1" baseline="-2500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2</a:t>
              </a:r>
              <a:endParaRPr lang="en-US" altLang="zh-CN" b="1" i="1" baseline="-250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3816" name="Rectangle 58"/>
            <p:cNvSpPr/>
            <p:nvPr/>
          </p:nvSpPr>
          <p:spPr>
            <a:xfrm>
              <a:off x="4951" y="3744"/>
              <a:ext cx="28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b="1" i="1" baseline="-2500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3</a:t>
              </a:r>
              <a:endParaRPr lang="en-US" altLang="zh-CN" b="1" i="1" baseline="-250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3817" name="Rectangle 59"/>
            <p:cNvSpPr/>
            <p:nvPr/>
          </p:nvSpPr>
          <p:spPr>
            <a:xfrm>
              <a:off x="4492" y="3207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…</a:t>
              </a:r>
              <a:endParaRPr lang="zh-CN" altLang="en-US" sz="24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3818" name="Rectangle 60"/>
            <p:cNvSpPr/>
            <p:nvPr/>
          </p:nvSpPr>
          <p:spPr>
            <a:xfrm>
              <a:off x="4464" y="3687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…</a:t>
              </a:r>
              <a:endParaRPr lang="zh-CN" altLang="en-US" sz="2400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3819" name="Rectangle 61"/>
            <p:cNvSpPr/>
            <p:nvPr/>
          </p:nvSpPr>
          <p:spPr>
            <a:xfrm>
              <a:off x="4292" y="2784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B</a:t>
              </a:r>
              <a:endParaRPr lang="en-US" altLang="zh-CN" b="1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3820" name="Line 62"/>
            <p:cNvSpPr/>
            <p:nvPr/>
          </p:nvSpPr>
          <p:spPr>
            <a:xfrm flipH="1">
              <a:off x="3792" y="2967"/>
              <a:ext cx="528" cy="336"/>
            </a:xfrm>
            <a:prstGeom prst="line">
              <a:avLst/>
            </a:prstGeom>
            <a:ln w="9525" cap="flat" cmpd="sng">
              <a:solidFill>
                <a:srgbClr val="993366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33821" name="Line 63"/>
            <p:cNvSpPr/>
            <p:nvPr/>
          </p:nvSpPr>
          <p:spPr>
            <a:xfrm flipH="1">
              <a:off x="4224" y="2967"/>
              <a:ext cx="144" cy="336"/>
            </a:xfrm>
            <a:prstGeom prst="line">
              <a:avLst/>
            </a:prstGeom>
            <a:ln w="9525" cap="flat" cmpd="sng">
              <a:solidFill>
                <a:srgbClr val="993366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33822" name="Line 64"/>
            <p:cNvSpPr/>
            <p:nvPr/>
          </p:nvSpPr>
          <p:spPr>
            <a:xfrm flipH="1" flipV="1">
              <a:off x="4416" y="2967"/>
              <a:ext cx="624" cy="384"/>
            </a:xfrm>
            <a:prstGeom prst="line">
              <a:avLst/>
            </a:prstGeom>
            <a:ln w="9525" cap="flat" cmpd="sng">
              <a:solidFill>
                <a:srgbClr val="993366"/>
              </a:solidFill>
              <a:prstDash val="solid"/>
              <a:headEnd type="none" w="med" len="med"/>
              <a:tailEnd type="none" w="lg" len="lg"/>
            </a:ln>
          </p:spPr>
        </p:sp>
      </p:grpSp>
      <p:grpSp>
        <p:nvGrpSpPr>
          <p:cNvPr id="33799" name="Group 71"/>
          <p:cNvGrpSpPr/>
          <p:nvPr/>
        </p:nvGrpSpPr>
        <p:grpSpPr>
          <a:xfrm>
            <a:off x="533400" y="2362200"/>
            <a:ext cx="4343400" cy="4156075"/>
            <a:chOff x="624" y="1584"/>
            <a:chExt cx="2736" cy="2618"/>
          </a:xfrm>
        </p:grpSpPr>
        <p:sp>
          <p:nvSpPr>
            <p:cNvPr id="33803" name="Rectangle 36"/>
            <p:cNvSpPr/>
            <p:nvPr/>
          </p:nvSpPr>
          <p:spPr>
            <a:xfrm>
              <a:off x="624" y="1584"/>
              <a:ext cx="2688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400" b="1">
                  <a:solidFill>
                    <a:srgbClr val="80008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基础 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m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为 </a:t>
              </a:r>
              <a:r>
                <a:rPr lang="zh-CN" altLang="en-US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. 分析树一定如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右图所示，必定有产生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式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B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w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.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因此，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B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w.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3804" name="Rectangle 38"/>
            <p:cNvSpPr/>
            <p:nvPr/>
          </p:nvSpPr>
          <p:spPr>
            <a:xfrm>
              <a:off x="2788" y="2016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3805" name="Rectangle 67"/>
            <p:cNvSpPr/>
            <p:nvPr/>
          </p:nvSpPr>
          <p:spPr>
            <a:xfrm>
              <a:off x="624" y="2304"/>
              <a:ext cx="2736" cy="18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400" b="1">
                  <a:solidFill>
                    <a:srgbClr val="80008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归纳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m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大于 </a:t>
              </a:r>
              <a:r>
                <a:rPr lang="zh-CN" altLang="en-US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的分析树一定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如右图所示，必定有产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生式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B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2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…X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k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.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存在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,w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2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,…,w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k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，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是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子树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的边缘（</a:t>
              </a:r>
              <a:r>
                <a:rPr lang="zh-CN" altLang="en-US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</a:t>
              </a:r>
              <a:r>
                <a:rPr lang="en-US" altLang="zh-CN" sz="2400" b="1" i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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k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），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且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 = 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2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…w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k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，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由归纳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假设，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（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</a:t>
              </a:r>
              <a:r>
                <a:rPr lang="en-US" altLang="zh-CN" sz="2400" b="1" i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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k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）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. </a:t>
              </a:r>
              <a:endParaRPr lang="en-US" altLang="zh-CN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/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在此基础上易证得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B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w.</a:t>
              </a:r>
              <a:endPara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3806" name="Rectangle 69"/>
            <p:cNvSpPr/>
            <p:nvPr/>
          </p:nvSpPr>
          <p:spPr>
            <a:xfrm>
              <a:off x="1920" y="3635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3807" name="Rectangle 70"/>
            <p:cNvSpPr/>
            <p:nvPr/>
          </p:nvSpPr>
          <p:spPr>
            <a:xfrm>
              <a:off x="2788" y="3875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3800" name="组合 33"/>
          <p:cNvGrpSpPr/>
          <p:nvPr/>
        </p:nvGrpSpPr>
        <p:grpSpPr>
          <a:xfrm>
            <a:off x="4357688" y="1222375"/>
            <a:ext cx="488950" cy="579438"/>
            <a:chOff x="5868144" y="3319790"/>
            <a:chExt cx="489236" cy="580167"/>
          </a:xfrm>
        </p:grpSpPr>
        <p:sp>
          <p:nvSpPr>
            <p:cNvPr id="33801" name="矩形 34"/>
            <p:cNvSpPr/>
            <p:nvPr/>
          </p:nvSpPr>
          <p:spPr>
            <a:xfrm>
              <a:off x="5868144" y="3438292"/>
              <a:ext cx="489236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33802" name="Rectangle 7"/>
            <p:cNvSpPr/>
            <p:nvPr/>
          </p:nvSpPr>
          <p:spPr>
            <a:xfrm>
              <a:off x="5868144" y="3319790"/>
              <a:ext cx="30008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4818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4819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4820" name="Rectangle 2"/>
          <p:cNvSpPr>
            <a:spLocks noGrp="1"/>
          </p:cNvSpPr>
          <p:nvPr>
            <p:ph idx="1"/>
          </p:nvPr>
        </p:nvSpPr>
        <p:spPr>
          <a:xfrm>
            <a:off x="381000" y="1447800"/>
            <a:ext cx="8763000" cy="1066800"/>
          </a:xfrm>
          <a:ln/>
        </p:spPr>
        <p:txBody>
          <a:bodyPr vert="horz" wrap="square" lIns="91440" tIns="45720" rIns="91440" bIns="45720" anchor="t" anchorCtr="0"/>
          <a:p>
            <a:pPr marL="533400" indent="-533400" eaLnBrk="1" hangingPunct="1">
              <a:buNone/>
            </a:pP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</a:rPr>
              <a:t>2. </a:t>
            </a:r>
            <a:r>
              <a:rPr lang="zh-CN" altLang="en-US">
                <a:solidFill>
                  <a:schemeClr val="tx2"/>
                </a:solidFill>
              </a:rPr>
              <a:t>设有</a:t>
            </a:r>
            <a:r>
              <a:rPr lang="en-US" altLang="zh-CN">
                <a:solidFill>
                  <a:schemeClr val="tx2"/>
                </a:solidFill>
              </a:rPr>
              <a:t>B    ω，</a:t>
            </a:r>
            <a:r>
              <a:rPr lang="zh-CN" altLang="en-US">
                <a:solidFill>
                  <a:schemeClr val="tx2"/>
                </a:solidFill>
              </a:rPr>
              <a:t>证明存在一棵边缘为</a:t>
            </a:r>
            <a:r>
              <a:rPr lang="en-US" altLang="zh-CN">
                <a:solidFill>
                  <a:schemeClr val="tx2"/>
                </a:solidFill>
              </a:rPr>
              <a:t>ω</a:t>
            </a:r>
            <a:r>
              <a:rPr lang="zh-CN" altLang="en-US">
                <a:solidFill>
                  <a:schemeClr val="tx2"/>
                </a:solidFill>
              </a:rPr>
              <a:t>的</a:t>
            </a:r>
            <a:r>
              <a:rPr lang="en-US" altLang="zh-CN">
                <a:solidFill>
                  <a:schemeClr val="tx2"/>
                </a:solidFill>
              </a:rPr>
              <a:t>B</a:t>
            </a:r>
            <a:r>
              <a:rPr lang="zh-CN" altLang="en-US">
                <a:solidFill>
                  <a:schemeClr val="tx2"/>
                </a:solidFill>
              </a:rPr>
              <a:t>树。</a:t>
            </a:r>
            <a:endParaRPr lang="zh-CN" altLang="en-US">
              <a:solidFill>
                <a:schemeClr val="tx2"/>
              </a:solidFill>
            </a:endParaRPr>
          </a:p>
          <a:p>
            <a:pPr marL="533400" indent="-533400" eaLnBrk="1" hangingPunct="1">
              <a:buNone/>
            </a:pPr>
            <a:r>
              <a:rPr lang="zh-CN" altLang="en-US">
                <a:solidFill>
                  <a:schemeClr val="tx2"/>
                </a:solidFill>
              </a:rPr>
              <a:t>	对</a:t>
            </a:r>
            <a:r>
              <a:rPr lang="zh-CN" altLang="en-US" u="sng">
                <a:solidFill>
                  <a:schemeClr val="tx2"/>
                </a:solidFill>
              </a:rPr>
              <a:t>推导步数</a:t>
            </a:r>
            <a:r>
              <a:rPr lang="zh-CN" altLang="en-US">
                <a:solidFill>
                  <a:schemeClr val="tx2"/>
                </a:solidFill>
              </a:rPr>
              <a:t>作归纳  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753669" name="Rectangle 5"/>
          <p:cNvSpPr/>
          <p:nvPr/>
        </p:nvSpPr>
        <p:spPr>
          <a:xfrm>
            <a:off x="457200" y="2667000"/>
            <a:ext cx="800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基础 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步数为 </a:t>
            </a:r>
            <a:r>
              <a:rPr lang="zh-CN" altLang="en-US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  一定有产生式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w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w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可以归约到 </a:t>
            </a:r>
            <a:r>
              <a:rPr lang="en-US" altLang="zh-CN" sz="2400" b="1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457200" y="3200400"/>
            <a:ext cx="7924800" cy="3013075"/>
            <a:chOff x="624" y="2526"/>
            <a:chExt cx="4992" cy="1898"/>
          </a:xfrm>
        </p:grpSpPr>
        <p:sp>
          <p:nvSpPr>
            <p:cNvPr id="34826" name="Rectangle 7"/>
            <p:cNvSpPr/>
            <p:nvPr/>
          </p:nvSpPr>
          <p:spPr>
            <a:xfrm>
              <a:off x="624" y="2526"/>
              <a:ext cx="4992" cy="18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400" b="1">
                  <a:solidFill>
                    <a:srgbClr val="80008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归纳 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设步数大于</a:t>
              </a:r>
              <a:r>
                <a:rPr lang="zh-CN" altLang="en-US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1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，第一步使用了产生式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B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2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…X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k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.  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该推导如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B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2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…X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k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. 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可以将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分成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zh-CN" altLang="en-US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 = 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2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…w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k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，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其中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 </a:t>
              </a:r>
              <a:r>
                <a:rPr lang="zh-CN" altLang="en-US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a)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若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为终结符，则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=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.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 (b)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若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为非终结符，则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 </a:t>
              </a:r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.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由归纳假设，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</a:t>
              </a:r>
              <a:endParaRPr lang="en-US" altLang="zh-CN" sz="2400" b="1" i="1" baseline="-2500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                     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可以归约到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.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这样，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或者为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，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或者可以归约到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i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，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使用产生</a:t>
              </a:r>
              <a:endPara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  <a:p>
              <a:pPr eaLnBrk="1" hangingPunct="1"/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        式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B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2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…X</a:t>
              </a:r>
              <a:r>
                <a:rPr lang="en-US" altLang="zh-CN" sz="2400" b="1" i="1" baseline="-250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k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，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得出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w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可以归约到 </a:t>
              </a:r>
              <a:r>
                <a:rPr lang="en-US" altLang="zh-CN" sz="2400" b="1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B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. 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34827" name="Rectangle 8"/>
            <p:cNvSpPr/>
            <p:nvPr/>
          </p:nvSpPr>
          <p:spPr>
            <a:xfrm>
              <a:off x="3220" y="2736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4828" name="Rectangle 9"/>
            <p:cNvSpPr/>
            <p:nvPr/>
          </p:nvSpPr>
          <p:spPr>
            <a:xfrm>
              <a:off x="3460" y="3417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4823" name="组合 33"/>
          <p:cNvGrpSpPr/>
          <p:nvPr/>
        </p:nvGrpSpPr>
        <p:grpSpPr>
          <a:xfrm>
            <a:off x="1763713" y="1341438"/>
            <a:ext cx="488950" cy="579437"/>
            <a:chOff x="5868144" y="3319790"/>
            <a:chExt cx="489236" cy="580167"/>
          </a:xfrm>
        </p:grpSpPr>
        <p:sp>
          <p:nvSpPr>
            <p:cNvPr id="34824" name="矩形 34"/>
            <p:cNvSpPr/>
            <p:nvPr/>
          </p:nvSpPr>
          <p:spPr>
            <a:xfrm>
              <a:off x="5868144" y="3438292"/>
              <a:ext cx="489236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solidFill>
                    <a:srgbClr val="333399"/>
                  </a:solidFill>
                  <a:latin typeface="Times New Roman" panose="02020603050405020304" pitchFamily="18" charset="0"/>
                  <a:ea typeface="华文行楷" panose="02010800040101010101" pitchFamily="2" charset="-122"/>
                  <a:sym typeface="Symbol" panose="05050102010706020507" pitchFamily="18" charset="2"/>
                </a:rPr>
                <a:t></a:t>
              </a:r>
              <a:endParaRPr lang="zh-CN" altLang="en-US" sz="2400" b="1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34825" name="Rectangle 7"/>
            <p:cNvSpPr/>
            <p:nvPr/>
          </p:nvSpPr>
          <p:spPr>
            <a:xfrm>
              <a:off x="5868144" y="3319790"/>
              <a:ext cx="30008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5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66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5842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5843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5844" name="Rectangle 2"/>
          <p:cNvSpPr>
            <a:spLocks noGrp="1"/>
          </p:cNvSpPr>
          <p:nvPr>
            <p:ph idx="1"/>
          </p:nvPr>
        </p:nvSpPr>
        <p:spPr>
          <a:xfrm>
            <a:off x="381000" y="1341438"/>
            <a:ext cx="8534400" cy="5105400"/>
          </a:xfrm>
          <a:ln/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</a:rPr>
              <a:t>定义: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	</a:t>
            </a:r>
            <a:r>
              <a:rPr lang="zh-CN" altLang="en-US" sz="2400">
                <a:solidFill>
                  <a:schemeClr val="tx2"/>
                </a:solidFill>
              </a:rPr>
              <a:t>2型文法是二义的,当且仅当对于句子</a:t>
            </a:r>
            <a:r>
              <a:rPr lang="en-US" altLang="zh-CN" sz="2400">
                <a:solidFill>
                  <a:schemeClr val="tx2"/>
                </a:solidFill>
              </a:rPr>
              <a:t>ω∈L(G),</a:t>
            </a:r>
            <a:r>
              <a:rPr lang="zh-CN" altLang="en-US" sz="2400">
                <a:solidFill>
                  <a:schemeClr val="tx2"/>
                </a:solidFill>
              </a:rPr>
              <a:t>存在两棵不同的具有边缘为</a:t>
            </a:r>
            <a:r>
              <a:rPr lang="en-US" altLang="zh-CN" sz="2400">
                <a:solidFill>
                  <a:schemeClr val="tx2"/>
                </a:solidFill>
              </a:rPr>
              <a:t>ω</a:t>
            </a:r>
            <a:r>
              <a:rPr lang="zh-CN" altLang="en-US" sz="2400">
                <a:solidFill>
                  <a:schemeClr val="tx2"/>
                </a:solidFill>
              </a:rPr>
              <a:t>的推导树。 </a:t>
            </a:r>
            <a:endParaRPr lang="zh-CN" altLang="en-US" sz="2400">
              <a:solidFill>
                <a:schemeClr val="tx2"/>
              </a:solidFill>
            </a:endParaRPr>
          </a:p>
          <a:p>
            <a:pPr marL="533400" indent="-533400" algn="just" eaLnBrk="1" hangingPunct="1">
              <a:lnSpc>
                <a:spcPct val="90000"/>
              </a:lnSpc>
              <a:buNone/>
            </a:pPr>
            <a:r>
              <a:rPr lang="zh-CN" altLang="en-US" sz="2400">
                <a:solidFill>
                  <a:schemeClr val="tx2"/>
                </a:solidFill>
              </a:rPr>
              <a:t>     (即：如果文法是二义的, 那么它所产生的某个句子必然能从不同的最左(右)推导推出)。</a:t>
            </a:r>
            <a:endParaRPr lang="zh-CN" altLang="en-US" sz="2400">
              <a:solidFill>
                <a:schemeClr val="tx2"/>
              </a:solidFill>
            </a:endParaRPr>
          </a:p>
          <a:p>
            <a:pPr marL="533400" indent="-533400" algn="just" eaLnBrk="1" hangingPunct="1">
              <a:lnSpc>
                <a:spcPct val="90000"/>
              </a:lnSpc>
              <a:buNone/>
            </a:pPr>
            <a:r>
              <a:rPr lang="zh-CN" altLang="en-US" sz="2400">
                <a:solidFill>
                  <a:srgbClr val="800080"/>
                </a:solidFill>
              </a:rPr>
              <a:t>例: </a:t>
            </a:r>
            <a:r>
              <a:rPr lang="zh-CN" altLang="en-US" sz="2400">
                <a:solidFill>
                  <a:schemeClr val="tx2"/>
                </a:solidFill>
              </a:rPr>
              <a:t>(书</a:t>
            </a:r>
            <a:r>
              <a:rPr lang="en-US" altLang="zh-CN" sz="2400">
                <a:solidFill>
                  <a:schemeClr val="tx2"/>
                </a:solidFill>
              </a:rPr>
              <a:t>P94 </a:t>
            </a:r>
            <a:r>
              <a:rPr lang="zh-CN" altLang="en-US" sz="2400">
                <a:solidFill>
                  <a:schemeClr val="tx2"/>
                </a:solidFill>
              </a:rPr>
              <a:t>例</a:t>
            </a:r>
            <a:r>
              <a:rPr lang="en-US" altLang="zh-CN" sz="2400">
                <a:solidFill>
                  <a:schemeClr val="tx2"/>
                </a:solidFill>
              </a:rPr>
              <a:t>1</a:t>
            </a:r>
            <a:r>
              <a:rPr lang="zh-CN" altLang="en-US" sz="2400">
                <a:solidFill>
                  <a:schemeClr val="tx2"/>
                </a:solidFill>
              </a:rPr>
              <a:t>)</a:t>
            </a:r>
            <a:endParaRPr lang="zh-CN" altLang="en-US" sz="2400">
              <a:solidFill>
                <a:schemeClr val="tx2"/>
              </a:solidFill>
            </a:endParaRPr>
          </a:p>
          <a:p>
            <a:pPr marL="533400" indent="-533400" algn="just" eaLnBrk="1" hangingPunct="1">
              <a:lnSpc>
                <a:spcPct val="90000"/>
              </a:lnSpc>
              <a:buNone/>
            </a:pPr>
            <a:r>
              <a:rPr lang="zh-CN" altLang="en-US" sz="2400">
                <a:solidFill>
                  <a:schemeClr val="tx2"/>
                </a:solidFill>
              </a:rPr>
              <a:t>	句子(</a:t>
            </a:r>
            <a:r>
              <a:rPr lang="en-US" altLang="zh-CN" sz="2400">
                <a:solidFill>
                  <a:schemeClr val="tx2"/>
                </a:solidFill>
              </a:rPr>
              <a:t>a*a+a)</a:t>
            </a:r>
            <a:r>
              <a:rPr lang="zh-CN" altLang="en-US" sz="2400">
                <a:solidFill>
                  <a:schemeClr val="tx2"/>
                </a:solidFill>
              </a:rPr>
              <a:t>有二棵不同的推导树。(相当于一个先算乘法, 一个先算加法。</a:t>
            </a:r>
            <a:r>
              <a:rPr lang="zh-CN" altLang="en-US" sz="2400" b="0">
                <a:solidFill>
                  <a:schemeClr val="tx2"/>
                </a:solidFill>
              </a:rPr>
              <a:t>)</a:t>
            </a:r>
            <a:endParaRPr lang="zh-CN" altLang="en-US" sz="2400" b="0">
              <a:solidFill>
                <a:schemeClr val="tx2"/>
              </a:solidFill>
            </a:endParaRPr>
          </a:p>
        </p:txBody>
      </p:sp>
      <p:sp>
        <p:nvSpPr>
          <p:cNvPr id="35845" name="Rectangle 8"/>
          <p:cNvSpPr/>
          <p:nvPr/>
        </p:nvSpPr>
        <p:spPr>
          <a:xfrm>
            <a:off x="2133600" y="381000"/>
            <a:ext cx="1555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36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二义性</a:t>
            </a:r>
            <a:endParaRPr lang="zh-CN" altLang="en-US" sz="3600" b="1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graphicFrame>
        <p:nvGraphicFramePr>
          <p:cNvPr id="35846" name="Object 4"/>
          <p:cNvGraphicFramePr>
            <a:graphicFrameLocks noChangeAspect="1"/>
          </p:cNvGraphicFramePr>
          <p:nvPr/>
        </p:nvGraphicFramePr>
        <p:xfrm>
          <a:off x="3035300" y="4089400"/>
          <a:ext cx="4427538" cy="232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7377350" imgH="24879300" progId="Visio.Drawing.11">
                  <p:embed/>
                </p:oleObj>
              </mc:Choice>
              <mc:Fallback>
                <p:oleObj name="" r:id="rId1" imgW="47377350" imgH="2487930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35300" y="4089400"/>
                        <a:ext cx="4427538" cy="232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endParaRPr lang="zh-CN" altLang="en-US"/>
          </a:p>
        </p:txBody>
      </p:sp>
      <p:sp>
        <p:nvSpPr>
          <p:cNvPr id="36866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533400" indent="-533400" algn="just" eaLnBrk="1" hangingPunct="1">
              <a:lnSpc>
                <a:spcPct val="90000"/>
              </a:lnSpc>
              <a:buNone/>
            </a:pP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</a:rPr>
              <a:t>注意:</a:t>
            </a:r>
            <a:endParaRPr lang="zh-CN" altLang="en-US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marL="533400" indent="-533400" algn="just" eaLnBrk="1" hangingPunct="1">
              <a:lnSpc>
                <a:spcPct val="90000"/>
              </a:lnSpc>
              <a:buNone/>
            </a:pP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</a:rPr>
              <a:t>	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</a:rPr>
              <a:t> 可有二个文法,一个有二义,一个无二义,但产生相同的语言.</a:t>
            </a:r>
            <a:endParaRPr lang="zh-CN" altLang="en-US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533400" indent="-533400" algn="just" eaLnBrk="1" hangingPunct="1">
              <a:lnSpc>
                <a:spcPct val="90000"/>
              </a:lnSpc>
              <a:buNone/>
            </a:pP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</a:rPr>
              <a:t>     </a:t>
            </a:r>
            <a:endParaRPr lang="zh-CN" altLang="en-US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533400" indent="-533400" algn="just" eaLnBrk="1" hangingPunct="1">
              <a:lnSpc>
                <a:spcPct val="90000"/>
              </a:lnSpc>
              <a:buNone/>
            </a:pP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</a:rPr>
              <a:t>可否通过变换消除二义性?   —— </a:t>
            </a:r>
            <a:r>
              <a:rPr lang="zh-CN" altLang="en-US">
                <a:solidFill>
                  <a:srgbClr val="FF3300"/>
                </a:solidFill>
                <a:latin typeface="Arial" panose="020B0604020202020204" pitchFamily="34" charset="0"/>
              </a:rPr>
              <a:t>无一般的算法!</a:t>
            </a:r>
            <a:endParaRPr lang="zh-CN" altLang="en-US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endParaRPr lang="zh-CN" altLang="en-US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533400" indent="-533400"/>
            <a:endParaRPr lang="zh-CN" altLang="en-US"/>
          </a:p>
        </p:txBody>
      </p:sp>
      <p:sp>
        <p:nvSpPr>
          <p:cNvPr id="36867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6868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6869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7890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7891" name="页脚占位符 5"/>
          <p:cNvSpPr txBox="1">
            <a:spLocks noGrp="1"/>
          </p:cNvSpPr>
          <p:nvPr>
            <p:ph type="ftr" sz="quarter" idx="12"/>
          </p:nvPr>
        </p:nvSpPr>
        <p:spPr>
          <a:xfrm>
            <a:off x="1447800" y="6421438"/>
            <a:ext cx="6400800" cy="457200"/>
          </a:xfrm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7892" name="Rectangle 2"/>
          <p:cNvSpPr>
            <a:spLocks noGrp="1"/>
          </p:cNvSpPr>
          <p:nvPr>
            <p:ph idx="1"/>
          </p:nvPr>
        </p:nvSpPr>
        <p:spPr>
          <a:xfrm>
            <a:off x="381000" y="1447800"/>
            <a:ext cx="8534400" cy="5105400"/>
          </a:xfrm>
          <a:ln/>
        </p:spPr>
        <p:txBody>
          <a:bodyPr vert="horz" wrap="square" lIns="91440" tIns="45720" rIns="91440" bIns="45720" anchor="t" anchorCtr="0"/>
          <a:p>
            <a:pPr marL="533400" indent="-533400" eaLnBrk="1" hangingPunct="1">
              <a:buNone/>
            </a:pPr>
            <a:endParaRPr lang="zh-CN" altLang="en-US">
              <a:solidFill>
                <a:schemeClr val="tx2"/>
              </a:solidFill>
            </a:endParaRPr>
          </a:p>
          <a:p>
            <a:pPr marL="533400" indent="-533400" algn="just" eaLnBrk="1" hangingPunct="1">
              <a:buNone/>
            </a:pPr>
            <a:r>
              <a:rPr lang="zh-CN" altLang="en-US">
                <a:solidFill>
                  <a:schemeClr val="tx2"/>
                </a:solidFill>
              </a:rPr>
              <a:t>对于前缀表达式文法</a:t>
            </a:r>
            <a:r>
              <a:rPr lang="en-US" altLang="zh-CN">
                <a:solidFill>
                  <a:schemeClr val="tx2"/>
                </a:solidFill>
              </a:rPr>
              <a:t>G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en-US" altLang="zh-CN">
                <a:solidFill>
                  <a:schemeClr val="tx2"/>
                </a:solidFill>
              </a:rPr>
              <a:t>:</a:t>
            </a:r>
            <a:endParaRPr lang="en-US" altLang="zh-CN">
              <a:solidFill>
                <a:schemeClr val="tx2"/>
              </a:solidFill>
            </a:endParaRPr>
          </a:p>
          <a:p>
            <a:pPr marL="533400" indent="-533400" algn="just" eaLnBrk="1" hangingPunct="1">
              <a:buNone/>
            </a:pPr>
            <a:r>
              <a:rPr lang="en-US" altLang="zh-CN">
                <a:solidFill>
                  <a:schemeClr val="tx2"/>
                </a:solidFill>
              </a:rPr>
              <a:t>E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chemeClr val="tx2"/>
                </a:solidFill>
              </a:rPr>
              <a:t> – EE</a:t>
            </a:r>
            <a:endParaRPr lang="en-US" altLang="zh-CN">
              <a:solidFill>
                <a:schemeClr val="tx2"/>
              </a:solidFill>
            </a:endParaRPr>
          </a:p>
          <a:p>
            <a:pPr marL="533400" indent="-533400" algn="just" eaLnBrk="1" hangingPunct="1">
              <a:buNone/>
            </a:pPr>
            <a:r>
              <a:rPr lang="en-US" altLang="zh-CN">
                <a:solidFill>
                  <a:schemeClr val="tx2"/>
                </a:solidFill>
              </a:rPr>
              <a:t>E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 </a:t>
            </a:r>
            <a:r>
              <a:rPr lang="en-US" altLang="zh-CN">
                <a:solidFill>
                  <a:schemeClr val="tx2"/>
                </a:solidFill>
              </a:rPr>
              <a:t> – E</a:t>
            </a:r>
            <a:endParaRPr lang="en-US" altLang="zh-CN">
              <a:solidFill>
                <a:schemeClr val="tx2"/>
              </a:solidFill>
            </a:endParaRPr>
          </a:p>
          <a:p>
            <a:pPr marL="533400" indent="-533400" algn="just" eaLnBrk="1" hangingPunct="1">
              <a:buNone/>
            </a:pPr>
            <a:r>
              <a:rPr lang="en-US" altLang="zh-CN">
                <a:solidFill>
                  <a:schemeClr val="tx2"/>
                </a:solidFill>
              </a:rPr>
              <a:t>E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 </a:t>
            </a:r>
            <a:r>
              <a:rPr lang="en-US" altLang="zh-CN">
                <a:solidFill>
                  <a:schemeClr val="tx2"/>
                </a:solidFill>
              </a:rPr>
              <a:t> a | b | c</a:t>
            </a:r>
            <a:endParaRPr lang="en-US" altLang="zh-CN">
              <a:solidFill>
                <a:schemeClr val="tx2"/>
              </a:solidFill>
            </a:endParaRPr>
          </a:p>
          <a:p>
            <a:pPr marL="533400" indent="-533400" eaLnBrk="1" hangingPunct="1">
              <a:buNone/>
            </a:pPr>
            <a:endParaRPr lang="zh-CN" altLang="en-US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533400" indent="-533400" eaLnBrk="1" hangingPunct="1">
              <a:buNone/>
            </a:pPr>
            <a:r>
              <a:rPr lang="zh-CN" altLang="en-US">
                <a:solidFill>
                  <a:schemeClr val="tx2"/>
                </a:solidFill>
              </a:rPr>
              <a:t>画出文法的句子 – – </a:t>
            </a:r>
            <a:r>
              <a:rPr lang="en-US" altLang="zh-CN">
                <a:solidFill>
                  <a:schemeClr val="tx2"/>
                </a:solidFill>
              </a:rPr>
              <a:t>a – bc </a:t>
            </a:r>
            <a:r>
              <a:rPr lang="zh-CN" altLang="en-US">
                <a:solidFill>
                  <a:schemeClr val="tx2"/>
                </a:solidFill>
              </a:rPr>
              <a:t>的所有可能语法树。</a:t>
            </a:r>
            <a:endParaRPr lang="en-US" altLang="zh-CN">
              <a:solidFill>
                <a:schemeClr val="tx2"/>
              </a:solidFill>
            </a:endParaRPr>
          </a:p>
          <a:p>
            <a:pPr marL="533400" indent="-533400" eaLnBrk="1" hangingPunct="1">
              <a:buNone/>
            </a:pPr>
            <a:endParaRPr lang="en-US" altLang="zh-CN">
              <a:solidFill>
                <a:srgbClr val="003399"/>
              </a:solidFill>
            </a:endParaRPr>
          </a:p>
        </p:txBody>
      </p:sp>
      <p:sp>
        <p:nvSpPr>
          <p:cNvPr id="37893" name="Rectangle 3"/>
          <p:cNvSpPr/>
          <p:nvPr/>
        </p:nvSpPr>
        <p:spPr>
          <a:xfrm>
            <a:off x="1809750" y="457200"/>
            <a:ext cx="2032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36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课堂练习</a:t>
            </a:r>
            <a:endParaRPr lang="zh-CN" altLang="en-US" sz="3600" b="1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标题 1"/>
          <p:cNvSpPr>
            <a:spLocks noGrp="1"/>
          </p:cNvSpPr>
          <p:nvPr>
            <p:ph type="title"/>
          </p:nvPr>
        </p:nvSpPr>
        <p:spPr>
          <a:xfrm>
            <a:off x="1042988" y="350838"/>
            <a:ext cx="7793037" cy="838200"/>
          </a:xfrm>
          <a:ln/>
        </p:spPr>
        <p:txBody>
          <a:bodyPr vert="horz" wrap="square" lIns="91440" tIns="45720" rIns="91440" bIns="45720" anchor="b" anchorCtr="0"/>
          <a:p>
            <a:r>
              <a:rPr lang="zh-CN" altLang="en-US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设计上下文无关文法</a:t>
            </a:r>
            <a:endParaRPr lang="zh-CN" altLang="en-US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9938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9939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39940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pic>
        <p:nvPicPr>
          <p:cNvPr id="39941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88" y="1295400"/>
            <a:ext cx="7073900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2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25" y="1968500"/>
            <a:ext cx="7597775" cy="3159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/>
          <p:cNvSpPr/>
          <p:nvPr/>
        </p:nvSpPr>
        <p:spPr>
          <a:xfrm>
            <a:off x="2195513" y="5727700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33400" indent="-533400" eaLnBrk="1" hangingPunct="1">
              <a:buFont typeface="Wingdings" panose="05000000000000000000" pitchFamily="2" charset="2"/>
            </a:pP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</a:rPr>
              <a:t>是否有二义性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0962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0963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0964" name="文本框 8"/>
          <p:cNvSpPr txBox="1"/>
          <p:nvPr>
            <p:custDataLst>
              <p:tags r:id="rId1"/>
            </p:custDataLst>
          </p:nvPr>
        </p:nvSpPr>
        <p:spPr>
          <a:xfrm>
            <a:off x="879475" y="476250"/>
            <a:ext cx="7315200" cy="12747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下列文法是否具有二义性？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40965" name="文本框 9"/>
          <p:cNvSpPr txBox="1"/>
          <p:nvPr>
            <p:custDataLst>
              <p:tags r:id="rId2"/>
            </p:custDataLst>
          </p:nvPr>
        </p:nvSpPr>
        <p:spPr>
          <a:xfrm>
            <a:off x="1828800" y="479742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0966" name="文本框 10"/>
          <p:cNvSpPr txBox="1"/>
          <p:nvPr>
            <p:custDataLst>
              <p:tags r:id="rId3"/>
            </p:custDataLst>
          </p:nvPr>
        </p:nvSpPr>
        <p:spPr>
          <a:xfrm>
            <a:off x="1828800" y="56546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否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0967" name="椭圆 13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14425" y="486092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0968" name="椭圆 1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571817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0969" name="矩形: 圆角 17"/>
          <p:cNvSpPr/>
          <p:nvPr>
            <p:custDataLst>
              <p:tags r:id="rId6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40970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38" y="1466850"/>
            <a:ext cx="7597775" cy="31591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0971" name="组合 22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4097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/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097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/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097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4097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40972" name="图片 7"/>
          <p:cNvPicPr/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1986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1987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pic>
        <p:nvPicPr>
          <p:cNvPr id="41988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1295400"/>
            <a:ext cx="8750300" cy="596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89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892300"/>
            <a:ext cx="8102600" cy="1054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90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" y="2798763"/>
            <a:ext cx="8096250" cy="1489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2195513" y="5202238"/>
            <a:ext cx="45720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33400" indent="-533400" eaLnBrk="1" hangingPunct="1">
              <a:buFont typeface="Wingdings" panose="05000000000000000000" pitchFamily="2" charset="2"/>
            </a:pP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</a:rPr>
              <a:t>是否有二义性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199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设计上下文无关文法</a:t>
            </a:r>
            <a:endParaRPr lang="zh-CN" altLang="en-US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3010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3011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3012" name="文本框 8"/>
          <p:cNvSpPr txBox="1"/>
          <p:nvPr>
            <p:custDataLst>
              <p:tags r:id="rId1"/>
            </p:custDataLst>
          </p:nvPr>
        </p:nvSpPr>
        <p:spPr>
          <a:xfrm>
            <a:off x="879475" y="476250"/>
            <a:ext cx="7315200" cy="12747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下列文法是否具有二义性？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43013" name="文本框 9"/>
          <p:cNvSpPr txBox="1"/>
          <p:nvPr>
            <p:custDataLst>
              <p:tags r:id="rId2"/>
            </p:custDataLst>
          </p:nvPr>
        </p:nvSpPr>
        <p:spPr>
          <a:xfrm>
            <a:off x="1828800" y="479742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3014" name="文本框 10"/>
          <p:cNvSpPr txBox="1"/>
          <p:nvPr>
            <p:custDataLst>
              <p:tags r:id="rId3"/>
            </p:custDataLst>
          </p:nvPr>
        </p:nvSpPr>
        <p:spPr>
          <a:xfrm>
            <a:off x="1828800" y="56546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否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3015" name="椭圆 13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14425" y="486092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3016" name="椭圆 1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571817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3017" name="矩形: 圆角 17"/>
          <p:cNvSpPr/>
          <p:nvPr>
            <p:custDataLst>
              <p:tags r:id="rId6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4301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213" y="1592263"/>
            <a:ext cx="8102600" cy="1054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01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2660650"/>
            <a:ext cx="8096250" cy="14890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3020" name="组合 22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43022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/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3023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/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3024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43025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43021" name="图片 7"/>
          <p:cNvPicPr/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03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13" y="1211263"/>
            <a:ext cx="5718175" cy="5345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34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4035" name="日期占位符 4"/>
          <p:cNvSpPr txBox="1">
            <a:spLocks noGrp="1"/>
          </p:cNvSpPr>
          <p:nvPr>
            <p:ph type="dt" sz="half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" altLang="en-US" sz="1200" b="1" i="1">
                <a:latin typeface="Arial Narrow" panose="020B0606020202030204" pitchFamily="34" charset="0"/>
              </a:rPr>
            </a:fld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4036" name="页脚占位符 5"/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" altLang="zh-CN" sz="1200" b="1" i="1">
                <a:latin typeface="Arial Narrow" panose="020B0606020202030204" pitchFamily="34" charset="0"/>
              </a:rPr>
              <a:t>School of Computer Science , BUPT</a:t>
            </a:r>
            <a:endParaRPr lang="" altLang="en-US" sz="1200" b="1" i="1">
              <a:latin typeface="Arial Narrow" panose="020B0606020202030204" pitchFamily="34" charset="0"/>
            </a:endParaRPr>
          </a:p>
        </p:txBody>
      </p:sp>
      <p:sp>
        <p:nvSpPr>
          <p:cNvPr id="44037" name="Rectangle 3"/>
          <p:cNvSpPr/>
          <p:nvPr/>
        </p:nvSpPr>
        <p:spPr>
          <a:xfrm>
            <a:off x="1116013" y="25400"/>
            <a:ext cx="7704137" cy="1765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3200" b="1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作业   </a:t>
            </a:r>
            <a:r>
              <a:rPr lang="en-US" altLang="zh-CN" sz="3200" b="1">
                <a:solidFill>
                  <a:srgbClr val="003399"/>
                </a:solidFill>
                <a:latin typeface="Arial" panose="020B0604020202020204" pitchFamily="34" charset="0"/>
                <a:ea typeface="楷体_GB2312" pitchFamily="49" charset="-122"/>
              </a:rPr>
              <a:t>P138  1 .  2.  3</a:t>
            </a:r>
            <a:endParaRPr lang="en-US" altLang="zh-CN" sz="3200" b="1">
              <a:solidFill>
                <a:srgbClr val="00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3200" b="1">
                <a:solidFill>
                  <a:srgbClr val="003399"/>
                </a:solidFill>
                <a:latin typeface="Arial" panose="020B0604020202020204" pitchFamily="34" charset="0"/>
                <a:ea typeface="楷体_GB2312" pitchFamily="49" charset="-122"/>
              </a:rPr>
              <a:t>P139  6(1),(2),(3)</a:t>
            </a:r>
            <a:endParaRPr lang="zh-CN" altLang="en-US" sz="3200" b="1">
              <a:solidFill>
                <a:srgbClr val="00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sz="3200" b="1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pic>
        <p:nvPicPr>
          <p:cNvPr id="44038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988" y="2924175"/>
            <a:ext cx="4672012" cy="1241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p="http://schemas.openxmlformats.org/presentationml/2006/main">
  <p:tag name="RAINPROBLEM" val="ProblemSubmit"/>
  <p:tag name="RAINPROBLEMTYPE" val="MultipleChoice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" val="ProblemSetting"/>
  <p:tag name="RAINPROBLEMTYPE" val="MultipleChoice"/>
</p:tagLst>
</file>

<file path=ppt/tags/tag12.xml><?xml version="1.0" encoding="utf-8"?>
<p:tagLst xmlns:p="http://schemas.openxmlformats.org/presentationml/2006/main">
  <p:tag name="RAINPROBLEM" val="MultipleChoice"/>
  <p:tag name="PROBLEMSCORE" val="1.0"/>
</p:tagLst>
</file>

<file path=ppt/tags/tag13.xml><?xml version="1.0" encoding="utf-8"?>
<p:tagLst xmlns:p="http://schemas.openxmlformats.org/presentationml/2006/main">
  <p:tag name="RAINPROBLEM" val="ProblemBody"/>
</p:tagLst>
</file>

<file path=ppt/tags/tag14.xml><?xml version="1.0" encoding="utf-8"?>
<p:tagLst xmlns:p="http://schemas.openxmlformats.org/presentationml/2006/main">
  <p:tag name="RAINPROBLEM" val="ProblemItem"/>
</p:tagLst>
</file>

<file path=ppt/tags/tag15.xml><?xml version="1.0" encoding="utf-8"?>
<p:tagLst xmlns:p="http://schemas.openxmlformats.org/presentationml/2006/main">
  <p:tag name="RAINPROBLEM" val="ProblemItem"/>
</p:tagLst>
</file>

<file path=ppt/tags/tag1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.xml><?xml version="1.0" encoding="utf-8"?>
<p:tagLst xmlns:p="http://schemas.openxmlformats.org/presentationml/2006/main">
  <p:tag name="RAINPROBLEM" val="ProblemSubmit"/>
  <p:tag name="RAINPROBLEMTYPE" val="MultipleChoice"/>
</p:tagLst>
</file>

<file path=ppt/tags/tag19.xml><?xml version="1.0" encoding="utf-8"?>
<p:tagLst xmlns:p="http://schemas.openxmlformats.org/presentationml/2006/main">
  <p:tag name="RAINPROBLEMTYPE" val="ProblemTypeMarker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" val="ProblemSetting"/>
  <p:tag name="RAINPROBLEMTYPE" val="MultipleChoice"/>
</p:tagLst>
</file>

<file path=ppt/tags/tag24.xml><?xml version="1.0" encoding="utf-8"?>
<p:tagLst xmlns:p="http://schemas.openxmlformats.org/presentationml/2006/main">
  <p:tag name="RAINPROBLEM" val="MultipleChoice"/>
  <p:tag name="PROBLEMSCORE" val="1.0"/>
</p:tagLst>
</file>

<file path=ppt/tags/tag25.xml><?xml version="1.0" encoding="utf-8"?>
<p:tagLst xmlns:p="http://schemas.openxmlformats.org/presentationml/2006/main">
  <p:tag name="KSO_WPP_MARK_KEY" val="4a3668c3-8ce6-4eba-b696-d47f6bd81f71"/>
  <p:tag name="COMMONDATA" val="eyJoZGlkIjoiYjZhMmY1NGQwZjE0MWY4MTkzZjM4YzBiNDA1ZmM3ZDEifQ=="/>
</p:tagLst>
</file>

<file path=ppt/theme/theme1.xml><?xml version="1.0" encoding="utf-8"?>
<a:theme xmlns:a="http://schemas.openxmlformats.org/drawingml/2006/main" name="自动机">
  <a:themeElements>
    <a:clrScheme name="自动机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动机">
      <a:majorFont>
        <a:latin typeface="Copperplate Gothic Light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动机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Settings\wang bai\Application Data\Microsoft\Templates\自动机.pot</Template>
  <TotalTime>0</TotalTime>
  <Words>5059</Words>
  <Application>WPS 演示</Application>
  <PresentationFormat>全屏显示(4:3)</PresentationFormat>
  <Paragraphs>882</Paragraphs>
  <Slides>26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49" baseType="lpstr">
      <vt:lpstr>Arial</vt:lpstr>
      <vt:lpstr>宋体</vt:lpstr>
      <vt:lpstr>Wingdings</vt:lpstr>
      <vt:lpstr>Times New Roman</vt:lpstr>
      <vt:lpstr>Copperplate Gothic Light</vt:lpstr>
      <vt:lpstr>楷体_GB2312</vt:lpstr>
      <vt:lpstr>新宋体</vt:lpstr>
      <vt:lpstr>Arial Narrow</vt:lpstr>
      <vt:lpstr>Tahoma</vt:lpstr>
      <vt:lpstr>华文行楷</vt:lpstr>
      <vt:lpstr>Symbol</vt:lpstr>
      <vt:lpstr>Book Antiqua</vt:lpstr>
      <vt:lpstr>PMingLiU</vt:lpstr>
      <vt:lpstr>MingLiU-ExtB</vt:lpstr>
      <vt:lpstr>微软雅黑</vt:lpstr>
      <vt:lpstr>Arial Unicode MS</vt:lpstr>
      <vt:lpstr>MS PGothic</vt:lpstr>
      <vt:lpstr>KSOF3FA5480E</vt:lpstr>
      <vt:lpstr>FFont-Family</vt:lpstr>
      <vt:lpstr>自动机</vt:lpstr>
      <vt:lpstr>Visio.Drawing.6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BUPT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第五讲</dc:title>
  <dc:creator>wangbai</dc:creator>
  <cp:lastModifiedBy>冰针</cp:lastModifiedBy>
  <cp:revision>116</cp:revision>
  <cp:lastPrinted>2001-10-15T13:50:00Z</cp:lastPrinted>
  <dcterms:created xsi:type="dcterms:W3CDTF">2002-09-25T09:08:00Z</dcterms:created>
  <dcterms:modified xsi:type="dcterms:W3CDTF">2026-06-22T06:53:07Z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09B103EF55C24A76A650E1B102AB795C_13</vt:lpwstr>
  </property>
  <property fmtid="{D5CDD505-2E9C-101B-9397-08002B2CF9AE}" pid="3" name="KSOProductBuildVer">
    <vt:lpwstr>2052-12.1.0.26895</vt:lpwstr>
  </property>
</Properties>
</file>