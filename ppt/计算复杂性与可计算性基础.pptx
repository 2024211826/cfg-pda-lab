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
  </p:handoutMasterIdLst>
  <p:sldIdLst>
    <p:sldId id="398" r:id="rId3"/>
    <p:sldId id="354" r:id="rId5"/>
    <p:sldId id="388" r:id="rId6"/>
    <p:sldId id="391" r:id="rId7"/>
    <p:sldId id="383" r:id="rId8"/>
    <p:sldId id="382" r:id="rId9"/>
    <p:sldId id="392" r:id="rId10"/>
    <p:sldId id="384" r:id="rId11"/>
    <p:sldId id="395" r:id="rId12"/>
    <p:sldId id="389" r:id="rId13"/>
    <p:sldId id="390" r:id="rId14"/>
  </p:sldIdLst>
  <p:sldSz cx="9144000" cy="6858000" type="screen4x3"/>
  <p:notesSz cx="6797675" cy="9926320"/>
  <p:defaultTextStyle>
    <a:defPPr>
      <a:defRPr lang="en-US"/>
    </a:defPPr>
    <a:lvl1pPr algn="l" rtl="0" eaLnBrk="0" fontAlgn="base" hangingPunct="0">
      <a:spcBef>
        <a:spcPct val="0"/>
      </a:spcBef>
      <a:spcAft>
        <a:spcPct val="0"/>
      </a:spcAft>
      <a:defRPr kumimoji="1" kern="1200">
        <a:solidFill>
          <a:srgbClr val="009999"/>
        </a:solidFill>
        <a:latin typeface="Times New Roman" panose="02020503050405090304" charset="0"/>
        <a:ea typeface="宋体" pitchFamily="2" charset="-122"/>
        <a:cs typeface="+mn-cs"/>
      </a:defRPr>
    </a:lvl1pPr>
    <a:lvl2pPr marL="457200" algn="l" rtl="0" eaLnBrk="0" fontAlgn="base" hangingPunct="0">
      <a:spcBef>
        <a:spcPct val="0"/>
      </a:spcBef>
      <a:spcAft>
        <a:spcPct val="0"/>
      </a:spcAft>
      <a:defRPr kumimoji="1" kern="1200">
        <a:solidFill>
          <a:srgbClr val="009999"/>
        </a:solidFill>
        <a:latin typeface="Times New Roman" panose="02020503050405090304" charset="0"/>
        <a:ea typeface="宋体" pitchFamily="2" charset="-122"/>
        <a:cs typeface="+mn-cs"/>
      </a:defRPr>
    </a:lvl2pPr>
    <a:lvl3pPr marL="914400" algn="l" rtl="0" eaLnBrk="0" fontAlgn="base" hangingPunct="0">
      <a:spcBef>
        <a:spcPct val="0"/>
      </a:spcBef>
      <a:spcAft>
        <a:spcPct val="0"/>
      </a:spcAft>
      <a:defRPr kumimoji="1" kern="1200">
        <a:solidFill>
          <a:srgbClr val="009999"/>
        </a:solidFill>
        <a:latin typeface="Times New Roman" panose="02020503050405090304" charset="0"/>
        <a:ea typeface="宋体" pitchFamily="2" charset="-122"/>
        <a:cs typeface="+mn-cs"/>
      </a:defRPr>
    </a:lvl3pPr>
    <a:lvl4pPr marL="1371600" algn="l" rtl="0" eaLnBrk="0" fontAlgn="base" hangingPunct="0">
      <a:spcBef>
        <a:spcPct val="0"/>
      </a:spcBef>
      <a:spcAft>
        <a:spcPct val="0"/>
      </a:spcAft>
      <a:defRPr kumimoji="1" kern="1200">
        <a:solidFill>
          <a:srgbClr val="009999"/>
        </a:solidFill>
        <a:latin typeface="Times New Roman" panose="02020503050405090304" charset="0"/>
        <a:ea typeface="宋体" pitchFamily="2" charset="-122"/>
        <a:cs typeface="+mn-cs"/>
      </a:defRPr>
    </a:lvl4pPr>
    <a:lvl5pPr marL="1828800" algn="l" rtl="0" eaLnBrk="0" fontAlgn="base" hangingPunct="0">
      <a:spcBef>
        <a:spcPct val="0"/>
      </a:spcBef>
      <a:spcAft>
        <a:spcPct val="0"/>
      </a:spcAft>
      <a:defRPr kumimoji="1" kern="1200">
        <a:solidFill>
          <a:srgbClr val="009999"/>
        </a:solidFill>
        <a:latin typeface="Times New Roman" panose="02020503050405090304" charset="0"/>
        <a:ea typeface="宋体" pitchFamily="2" charset="-122"/>
        <a:cs typeface="+mn-cs"/>
      </a:defRPr>
    </a:lvl5pPr>
    <a:lvl6pPr marL="2286000" algn="l" defTabSz="914400" rtl="0" eaLnBrk="1" latinLnBrk="0" hangingPunct="1">
      <a:defRPr kumimoji="1" kern="1200">
        <a:solidFill>
          <a:srgbClr val="009999"/>
        </a:solidFill>
        <a:latin typeface="Times New Roman" panose="02020503050405090304" charset="0"/>
        <a:ea typeface="宋体" pitchFamily="2" charset="-122"/>
        <a:cs typeface="+mn-cs"/>
      </a:defRPr>
    </a:lvl6pPr>
    <a:lvl7pPr marL="2743200" algn="l" defTabSz="914400" rtl="0" eaLnBrk="1" latinLnBrk="0" hangingPunct="1">
      <a:defRPr kumimoji="1" kern="1200">
        <a:solidFill>
          <a:srgbClr val="009999"/>
        </a:solidFill>
        <a:latin typeface="Times New Roman" panose="02020503050405090304" charset="0"/>
        <a:ea typeface="宋体" pitchFamily="2" charset="-122"/>
        <a:cs typeface="+mn-cs"/>
      </a:defRPr>
    </a:lvl7pPr>
    <a:lvl8pPr marL="3200400" algn="l" defTabSz="914400" rtl="0" eaLnBrk="1" latinLnBrk="0" hangingPunct="1">
      <a:defRPr kumimoji="1" kern="1200">
        <a:solidFill>
          <a:srgbClr val="009999"/>
        </a:solidFill>
        <a:latin typeface="Times New Roman" panose="02020503050405090304" charset="0"/>
        <a:ea typeface="宋体" pitchFamily="2" charset="-122"/>
        <a:cs typeface="+mn-cs"/>
      </a:defRPr>
    </a:lvl8pPr>
    <a:lvl9pPr marL="3657600" algn="l" defTabSz="914400" rtl="0" eaLnBrk="1" latinLnBrk="0" hangingPunct="1">
      <a:defRPr kumimoji="1" kern="1200">
        <a:solidFill>
          <a:srgbClr val="009999"/>
        </a:solidFill>
        <a:latin typeface="Times New Roman" panose="02020503050405090304" charset="0"/>
        <a:ea typeface="宋体" pitchFamily="2"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FF6600"/>
    <a:srgbClr val="3366CC"/>
    <a:srgbClr val="FF3300"/>
    <a:srgbClr val="003399"/>
    <a:srgbClr val="336699"/>
    <a:srgbClr val="008080"/>
    <a:srgbClr val="009999"/>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343"/>
  </p:normalViewPr>
  <p:slideViewPr>
    <p:cSldViewPr showGuides="1">
      <p:cViewPr>
        <p:scale>
          <a:sx n="90" d="100"/>
          <a:sy n="90" d="100"/>
        </p:scale>
        <p:origin x="1744" y="128"/>
      </p:cViewPr>
      <p:guideLst>
        <p:guide orient="horz" pos="2156"/>
        <p:guide pos="29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628"/>
    </p:cViewPr>
  </p:sorterViewPr>
  <p:notesViewPr>
    <p:cSldViewPr>
      <p:cViewPr varScale="1">
        <p:scale>
          <a:sx n="49" d="100"/>
          <a:sy n="49" d="100"/>
        </p:scale>
        <p:origin x="-1944" y="-108"/>
      </p:cViewPr>
      <p:guideLst>
        <p:guide orient="horz" pos="3120"/>
        <p:guide pos="215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lstStyle>
            <a:lvl1pPr algn="l">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zh-CN" altLang="en-US"/>
          </a:p>
        </p:txBody>
      </p:sp>
      <p:sp>
        <p:nvSpPr>
          <p:cNvPr id="17411" name="Rectangle 3"/>
          <p:cNvSpPr>
            <a:spLocks noGrp="1" noChangeArrowheads="1"/>
          </p:cNvSpPr>
          <p:nvPr>
            <p:ph type="dt" sz="quarter" idx="1"/>
          </p:nvPr>
        </p:nvSpPr>
        <p:spPr bwMode="auto">
          <a:xfrm>
            <a:off x="3851275" y="0"/>
            <a:ext cx="2946400" cy="496888"/>
          </a:xfrm>
          <a:prstGeom prst="rect">
            <a:avLst/>
          </a:prstGeom>
          <a:noFill/>
          <a:ln>
            <a:noFill/>
          </a:ln>
          <a:effectLst/>
        </p:spPr>
        <p:txBody>
          <a:bodyPr vert="horz" wrap="square" lIns="91440" tIns="45720" rIns="91440" bIns="45720" numCol="1" anchor="t" anchorCtr="0" compatLnSpc="1"/>
          <a:lstStyle>
            <a:lvl1pPr algn="r">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en-US" altLang="zh-CN"/>
          </a:p>
        </p:txBody>
      </p:sp>
      <p:sp>
        <p:nvSpPr>
          <p:cNvPr id="17412" name="Rectangle 4"/>
          <p:cNvSpPr>
            <a:spLocks noGrp="1" noChangeArrowheads="1"/>
          </p:cNvSpPr>
          <p:nvPr>
            <p:ph type="ftr" sz="quarter" idx="2"/>
          </p:nvPr>
        </p:nvSpPr>
        <p:spPr bwMode="auto">
          <a:xfrm>
            <a:off x="0" y="9429750"/>
            <a:ext cx="2946400" cy="496888"/>
          </a:xfrm>
          <a:prstGeom prst="rect">
            <a:avLst/>
          </a:prstGeom>
          <a:noFill/>
          <a:ln>
            <a:noFill/>
          </a:ln>
          <a:effectLst/>
        </p:spPr>
        <p:txBody>
          <a:bodyPr vert="horz" wrap="square" lIns="91440" tIns="45720" rIns="91440" bIns="45720" numCol="1" anchor="b" anchorCtr="0" compatLnSpc="1"/>
          <a:lstStyle>
            <a:lvl1pPr algn="l">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zh-CN" altLang="en-US"/>
          </a:p>
        </p:txBody>
      </p:sp>
      <p:sp>
        <p:nvSpPr>
          <p:cNvPr id="17413" name="Rectangle 5"/>
          <p:cNvSpPr>
            <a:spLocks noGrp="1" noChangeArrowheads="1"/>
          </p:cNvSpPr>
          <p:nvPr>
            <p:ph type="sldNum" sz="quarter" idx="3"/>
          </p:nvPr>
        </p:nvSpPr>
        <p:spPr bwMode="auto">
          <a:xfrm>
            <a:off x="3851275" y="9429750"/>
            <a:ext cx="2946400" cy="496888"/>
          </a:xfrm>
          <a:prstGeom prst="rect">
            <a:avLst/>
          </a:prstGeom>
          <a:noFill/>
          <a:ln>
            <a:noFill/>
          </a:ln>
          <a:effectLst/>
        </p:spPr>
        <p:txBody>
          <a:bodyPr vert="horz" wrap="square" lIns="91440" tIns="45720" rIns="91440" bIns="45720" numCol="1" anchor="b" anchorCtr="0" compatLnSpc="1"/>
          <a:lstStyle>
            <a:lvl1pPr algn="r">
              <a:spcBef>
                <a:spcPct val="0"/>
              </a:spcBef>
              <a:buClrTx/>
              <a:buSzTx/>
              <a:buFontTx/>
              <a:buNone/>
              <a:defRPr kumimoji="0" sz="1200">
                <a:solidFill>
                  <a:schemeClr val="tx1"/>
                </a:solidFill>
                <a:ea typeface="宋体" charset="0"/>
              </a:defRPr>
            </a:lvl1pPr>
          </a:lstStyle>
          <a:p>
            <a:pPr>
              <a:defRPr/>
            </a:pPr>
            <a:fld id="{EEB81C51-2166-A84A-B5D2-1D130541509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lstStyle>
            <a:lvl1pPr algn="l">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zh-CN" altLang="en-US"/>
          </a:p>
        </p:txBody>
      </p:sp>
      <p:sp>
        <p:nvSpPr>
          <p:cNvPr id="15363" name="Rectangle 3"/>
          <p:cNvSpPr>
            <a:spLocks noGrp="1" noChangeArrowheads="1"/>
          </p:cNvSpPr>
          <p:nvPr>
            <p:ph type="dt" idx="1"/>
          </p:nvPr>
        </p:nvSpPr>
        <p:spPr bwMode="auto">
          <a:xfrm>
            <a:off x="3851275" y="0"/>
            <a:ext cx="2946400" cy="496888"/>
          </a:xfrm>
          <a:prstGeom prst="rect">
            <a:avLst/>
          </a:prstGeom>
          <a:noFill/>
          <a:ln>
            <a:noFill/>
          </a:ln>
          <a:effectLst/>
        </p:spPr>
        <p:txBody>
          <a:bodyPr vert="horz" wrap="square" lIns="91440" tIns="45720" rIns="91440" bIns="45720" numCol="1" anchor="t" anchorCtr="0" compatLnSpc="1"/>
          <a:lstStyle>
            <a:lvl1pPr algn="r">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06463" y="4714875"/>
            <a:ext cx="4984750" cy="4467225"/>
          </a:xfrm>
          <a:prstGeom prst="rect">
            <a:avLst/>
          </a:prstGeom>
          <a:noFill/>
          <a:ln>
            <a:noFill/>
          </a:ln>
          <a:effectLst/>
        </p:spPr>
        <p:txBody>
          <a:bodyPr vert="horz" wrap="square" lIns="91440" tIns="45720" rIns="91440" bIns="45720" numCol="1" anchor="t" anchorCtr="0" compatLnSpc="1"/>
          <a:lstStyle/>
          <a:p>
            <a:pPr lvl="0"/>
            <a:r>
              <a:rPr lang="en-US" altLang="zh-CN" noProof="0" smtClean="0"/>
              <a:t>Click to edit Master text styles</a:t>
            </a:r>
            <a:endParaRPr lang="en-US" altLang="zh-CN" noProof="0" smtClean="0"/>
          </a:p>
          <a:p>
            <a:pPr lvl="1"/>
            <a:r>
              <a:rPr lang="en-US" altLang="zh-CN" noProof="0" smtClean="0"/>
              <a:t>Second level</a:t>
            </a:r>
            <a:endParaRPr lang="en-US" altLang="zh-CN" noProof="0" smtClean="0"/>
          </a:p>
          <a:p>
            <a:pPr lvl="2"/>
            <a:r>
              <a:rPr lang="en-US" altLang="zh-CN" noProof="0" smtClean="0"/>
              <a:t>Third level</a:t>
            </a:r>
            <a:endParaRPr lang="en-US" altLang="zh-CN" noProof="0" smtClean="0"/>
          </a:p>
          <a:p>
            <a:pPr lvl="3"/>
            <a:r>
              <a:rPr lang="en-US" altLang="zh-CN" noProof="0" smtClean="0"/>
              <a:t>Fourth level</a:t>
            </a:r>
            <a:endParaRPr lang="en-US" altLang="zh-CN" noProof="0" smtClean="0"/>
          </a:p>
          <a:p>
            <a:pPr lvl="4"/>
            <a:r>
              <a:rPr lang="en-US" altLang="zh-CN" noProof="0" smtClean="0"/>
              <a:t>Fifth level</a:t>
            </a:r>
            <a:endParaRPr lang="en-US" altLang="zh-CN" noProof="0" smtClean="0"/>
          </a:p>
        </p:txBody>
      </p:sp>
      <p:sp>
        <p:nvSpPr>
          <p:cNvPr id="15366" name="Rectangle 6"/>
          <p:cNvSpPr>
            <a:spLocks noGrp="1" noChangeArrowheads="1"/>
          </p:cNvSpPr>
          <p:nvPr>
            <p:ph type="ftr" sz="quarter" idx="4"/>
          </p:nvPr>
        </p:nvSpPr>
        <p:spPr bwMode="auto">
          <a:xfrm>
            <a:off x="0" y="9429750"/>
            <a:ext cx="2946400" cy="496888"/>
          </a:xfrm>
          <a:prstGeom prst="rect">
            <a:avLst/>
          </a:prstGeom>
          <a:noFill/>
          <a:ln>
            <a:noFill/>
          </a:ln>
          <a:effectLst/>
        </p:spPr>
        <p:txBody>
          <a:bodyPr vert="horz" wrap="square" lIns="91440" tIns="45720" rIns="91440" bIns="45720" numCol="1" anchor="b" anchorCtr="0" compatLnSpc="1"/>
          <a:lstStyle>
            <a:lvl1pPr algn="l">
              <a:spcBef>
                <a:spcPct val="0"/>
              </a:spcBef>
              <a:buClrTx/>
              <a:buSzTx/>
              <a:buFontTx/>
              <a:buNone/>
              <a:defRPr kumimoji="0" sz="1200">
                <a:solidFill>
                  <a:schemeClr val="tx1"/>
                </a:solidFill>
                <a:latin typeface="Times New Roman" panose="02020503050405090304" charset="0"/>
                <a:ea typeface="宋体" pitchFamily="2" charset="-122"/>
                <a:cs typeface="+mn-cs"/>
              </a:defRPr>
            </a:lvl1pPr>
          </a:lstStyle>
          <a:p>
            <a:pPr>
              <a:defRPr/>
            </a:pPr>
            <a:endParaRPr lang="en-US" altLang="zh-CN"/>
          </a:p>
        </p:txBody>
      </p:sp>
      <p:sp>
        <p:nvSpPr>
          <p:cNvPr id="15367" name="Rectangle 7"/>
          <p:cNvSpPr>
            <a:spLocks noGrp="1" noChangeArrowheads="1"/>
          </p:cNvSpPr>
          <p:nvPr>
            <p:ph type="sldNum" sz="quarter" idx="5"/>
          </p:nvPr>
        </p:nvSpPr>
        <p:spPr bwMode="auto">
          <a:xfrm>
            <a:off x="3851275" y="9429750"/>
            <a:ext cx="2946400" cy="496888"/>
          </a:xfrm>
          <a:prstGeom prst="rect">
            <a:avLst/>
          </a:prstGeom>
          <a:noFill/>
          <a:ln>
            <a:noFill/>
          </a:ln>
          <a:effectLst/>
        </p:spPr>
        <p:txBody>
          <a:bodyPr vert="horz" wrap="square" lIns="91440" tIns="45720" rIns="91440" bIns="45720" numCol="1" anchor="b" anchorCtr="0" compatLnSpc="1"/>
          <a:lstStyle>
            <a:lvl1pPr algn="r">
              <a:spcBef>
                <a:spcPct val="0"/>
              </a:spcBef>
              <a:buClrTx/>
              <a:buSzTx/>
              <a:buFontTx/>
              <a:buNone/>
              <a:defRPr kumimoji="0" sz="1200">
                <a:solidFill>
                  <a:schemeClr val="tx1"/>
                </a:solidFill>
                <a:ea typeface="宋体" charset="0"/>
              </a:defRPr>
            </a:lvl1pPr>
          </a:lstStyle>
          <a:p>
            <a:pPr>
              <a:defRPr/>
            </a:pPr>
            <a:fld id="{C0AE2061-8781-7C44-8B16-7A49964A2112}"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503050405090304" charset="0"/>
                <a:ea typeface="宋体" pitchFamily="2" charset="-122"/>
              </a:defRPr>
            </a:lvl1pPr>
            <a:lvl2pPr marL="742950" indent="-285750">
              <a:defRPr kumimoji="1">
                <a:solidFill>
                  <a:srgbClr val="009999"/>
                </a:solidFill>
                <a:latin typeface="Times New Roman" panose="02020503050405090304" charset="0"/>
                <a:ea typeface="宋体" pitchFamily="2" charset="-122"/>
              </a:defRPr>
            </a:lvl2pPr>
            <a:lvl3pPr marL="1143000" indent="-228600">
              <a:defRPr kumimoji="1">
                <a:solidFill>
                  <a:srgbClr val="009999"/>
                </a:solidFill>
                <a:latin typeface="Times New Roman" panose="02020503050405090304" charset="0"/>
                <a:ea typeface="宋体" pitchFamily="2" charset="-122"/>
              </a:defRPr>
            </a:lvl3pPr>
            <a:lvl4pPr marL="1600200" indent="-228600">
              <a:defRPr kumimoji="1">
                <a:solidFill>
                  <a:srgbClr val="009999"/>
                </a:solidFill>
                <a:latin typeface="Times New Roman" panose="02020503050405090304" charset="0"/>
                <a:ea typeface="宋体" pitchFamily="2" charset="-122"/>
              </a:defRPr>
            </a:lvl4pPr>
            <a:lvl5pPr marL="2057400" indent="-228600">
              <a:defRPr kumimoji="1">
                <a:solidFill>
                  <a:srgbClr val="009999"/>
                </a:solidFill>
                <a:latin typeface="Times New Roman" panose="02020503050405090304" charset="0"/>
                <a:ea typeface="宋体" pitchFamily="2" charset="-122"/>
              </a:defRPr>
            </a:lvl5pPr>
            <a:lvl6pPr marL="25146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6pPr>
            <a:lvl7pPr marL="29718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7pPr>
            <a:lvl8pPr marL="34290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8pPr>
            <a:lvl9pPr marL="38862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9pPr>
          </a:lstStyle>
          <a:p>
            <a:fld id="{F5521EF0-D173-1C4C-8E65-EE4F42BDD059}" type="slidenum">
              <a:rPr kumimoji="0" lang="zh-CN" altLang="en-US">
                <a:solidFill>
                  <a:schemeClr val="tx1"/>
                </a:solidFill>
              </a:rPr>
            </a:fld>
            <a:endParaRPr kumimoji="0" lang="en-US" altLang="zh-CN">
              <a:solidFill>
                <a:schemeClr val="tx1"/>
              </a:solidFill>
            </a:endParaRPr>
          </a:p>
        </p:txBody>
      </p:sp>
      <p:sp>
        <p:nvSpPr>
          <p:cNvPr id="16386" name="Rectangle 2"/>
          <p:cNvSpPr>
            <a:spLocks noGrp="1" noRot="1" noChangeAspect="1" noChangeArrowheads="1" noTextEdit="1"/>
          </p:cNvSpPr>
          <p:nvPr>
            <p:ph type="sldImg"/>
          </p:nvPr>
        </p:nvSpPr>
        <p:spPr>
          <a:xfrm>
            <a:off x="917575" y="744538"/>
            <a:ext cx="4962525" cy="3722687"/>
          </a:xfrm>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rgbClr val="009999"/>
                </a:solidFill>
                <a:latin typeface="Times New Roman" panose="02020503050405090304" charset="0"/>
                <a:ea typeface="宋体" pitchFamily="2" charset="-122"/>
              </a:defRPr>
            </a:lvl1pPr>
            <a:lvl2pPr marL="742950" indent="-285750">
              <a:defRPr kumimoji="1">
                <a:solidFill>
                  <a:srgbClr val="009999"/>
                </a:solidFill>
                <a:latin typeface="Times New Roman" panose="02020503050405090304" charset="0"/>
                <a:ea typeface="宋体" pitchFamily="2" charset="-122"/>
              </a:defRPr>
            </a:lvl2pPr>
            <a:lvl3pPr marL="1143000" indent="-228600">
              <a:defRPr kumimoji="1">
                <a:solidFill>
                  <a:srgbClr val="009999"/>
                </a:solidFill>
                <a:latin typeface="Times New Roman" panose="02020503050405090304" charset="0"/>
                <a:ea typeface="宋体" pitchFamily="2" charset="-122"/>
              </a:defRPr>
            </a:lvl3pPr>
            <a:lvl4pPr marL="1600200" indent="-228600">
              <a:defRPr kumimoji="1">
                <a:solidFill>
                  <a:srgbClr val="009999"/>
                </a:solidFill>
                <a:latin typeface="Times New Roman" panose="02020503050405090304" charset="0"/>
                <a:ea typeface="宋体" pitchFamily="2" charset="-122"/>
              </a:defRPr>
            </a:lvl4pPr>
            <a:lvl5pPr marL="2057400" indent="-228600">
              <a:defRPr kumimoji="1">
                <a:solidFill>
                  <a:srgbClr val="009999"/>
                </a:solidFill>
                <a:latin typeface="Times New Roman" panose="02020503050405090304" charset="0"/>
                <a:ea typeface="宋体" pitchFamily="2" charset="-122"/>
              </a:defRPr>
            </a:lvl5pPr>
            <a:lvl6pPr marL="25146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6pPr>
            <a:lvl7pPr marL="29718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7pPr>
            <a:lvl8pPr marL="34290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8pPr>
            <a:lvl9pPr marL="3886200" indent="-228600" eaLnBrk="0" fontAlgn="base" hangingPunct="0">
              <a:spcBef>
                <a:spcPct val="0"/>
              </a:spcBef>
              <a:spcAft>
                <a:spcPct val="0"/>
              </a:spcAft>
              <a:defRPr kumimoji="1">
                <a:solidFill>
                  <a:srgbClr val="009999"/>
                </a:solidFill>
                <a:latin typeface="Times New Roman" panose="02020503050405090304" charset="0"/>
                <a:ea typeface="宋体" pitchFamily="2" charset="-122"/>
              </a:defRPr>
            </a:lvl9pPr>
          </a:lstStyle>
          <a:p>
            <a:fld id="{32992789-1B11-B245-B3BD-CF4CC4CB3DD7}" type="slidenum">
              <a:rPr kumimoji="0" lang="zh-CN" altLang="en-US">
                <a:solidFill>
                  <a:schemeClr val="tx1"/>
                </a:solidFill>
              </a:rPr>
            </a:fld>
            <a:endParaRPr kumimoji="0" lang="en-US" altLang="zh-CN">
              <a:solidFill>
                <a:schemeClr val="tx1"/>
              </a:solidFill>
            </a:endParaRPr>
          </a:p>
        </p:txBody>
      </p:sp>
      <p:sp>
        <p:nvSpPr>
          <p:cNvPr id="18434" name="Rectangle 2"/>
          <p:cNvSpPr>
            <a:spLocks noGrp="1" noRot="1" noChangeAspect="1" noChangeArrowheads="1" noTextEdit="1"/>
          </p:cNvSpPr>
          <p:nvPr>
            <p:ph type="sldImg"/>
          </p:nvPr>
        </p:nvSpPr>
        <p:spPr>
          <a:xfrm>
            <a:off x="917575" y="744538"/>
            <a:ext cx="4962525" cy="3722687"/>
          </a:xfrm>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fld id="{44DC0E25-CE92-684F-8C69-B0F26C21ED03}" type="slidenum">
              <a:rPr lang="zh-CN" altLang="en-US"/>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fld id="{DDAFA344-1EA3-5D45-9EE5-CDFD3D4E9E52}" type="slidenum">
              <a:rPr lang="zh-CN" altLang="en-US"/>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16"/>
          <p:cNvSpPr>
            <a:spLocks noGrp="1" noChangeArrowheads="1"/>
          </p:cNvSpPr>
          <p:nvPr>
            <p:ph type="sldNum" sz="quarter" idx="10"/>
          </p:nvPr>
        </p:nvSpPr>
        <p:spPr/>
        <p:txBody>
          <a:bodyPr/>
          <a:lstStyle>
            <a:lvl1pPr>
              <a:defRPr/>
            </a:lvl1pPr>
          </a:lstStyle>
          <a:p>
            <a:pPr>
              <a:defRPr/>
            </a:pPr>
            <a:fld id="{37F6657C-E558-7C43-B803-455B4CD0F540}" type="slidenum">
              <a:rPr lang="zh-CN" altLang="en-US"/>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244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fld id="{F297CFFF-6FBC-F149-A893-C6E7DFDDA715}" type="slidenum">
              <a:rPr lang="zh-CN" altLang="en-US"/>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16"/>
          <p:cNvSpPr>
            <a:spLocks noGrp="1" noChangeArrowheads="1"/>
          </p:cNvSpPr>
          <p:nvPr>
            <p:ph type="sldNum" sz="quarter" idx="10"/>
          </p:nvPr>
        </p:nvSpPr>
        <p:spPr/>
        <p:txBody>
          <a:bodyPr/>
          <a:lstStyle>
            <a:lvl1pPr>
              <a:defRPr/>
            </a:lvl1pPr>
          </a:lstStyle>
          <a:p>
            <a:pPr>
              <a:defRPr/>
            </a:pPr>
            <a:fld id="{396B94E9-D923-F84A-9779-0AFF877A5096}" type="slidenum">
              <a:rPr lang="zh-CN" altLang="en-US"/>
            </a:fld>
            <a:endParaRPr lang="en-US" altLang="zh-CN"/>
          </a:p>
        </p:txBody>
      </p:sp>
      <p:sp>
        <p:nvSpPr>
          <p:cNvPr id="8"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6"/>
          <p:cNvSpPr>
            <a:spLocks noGrp="1" noChangeArrowheads="1"/>
          </p:cNvSpPr>
          <p:nvPr>
            <p:ph type="sldNum" sz="quarter" idx="10"/>
          </p:nvPr>
        </p:nvSpPr>
        <p:spPr/>
        <p:txBody>
          <a:bodyPr/>
          <a:lstStyle>
            <a:lvl1pPr>
              <a:defRPr/>
            </a:lvl1pPr>
          </a:lstStyle>
          <a:p>
            <a:pPr>
              <a:defRPr/>
            </a:pPr>
            <a:fld id="{399F50FB-E779-DF4E-A128-FE1A8B9731D5}" type="slidenum">
              <a:rPr lang="zh-CN" altLang="en-US"/>
            </a:fld>
            <a:endParaRPr lang="en-US" altLang="zh-CN"/>
          </a:p>
        </p:txBody>
      </p:sp>
      <p:sp>
        <p:nvSpPr>
          <p:cNvPr id="4"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fld id="{7D479173-9D74-194C-A7D7-6DA2EBAAA50C}" type="slidenum">
              <a:rPr lang="zh-CN" altLang="en-US"/>
            </a:fld>
            <a:endParaRPr lang="en-US" altLang="zh-CN"/>
          </a:p>
        </p:txBody>
      </p:sp>
      <p:sp>
        <p:nvSpPr>
          <p:cNvPr id="3"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6"/>
          <p:cNvSpPr>
            <a:spLocks noGrp="1" noChangeArrowheads="1"/>
          </p:cNvSpPr>
          <p:nvPr>
            <p:ph type="sldNum" sz="quarter" idx="10"/>
          </p:nvPr>
        </p:nvSpPr>
        <p:spPr/>
        <p:txBody>
          <a:bodyPr/>
          <a:lstStyle>
            <a:lvl1pPr>
              <a:defRPr/>
            </a:lvl1pPr>
          </a:lstStyle>
          <a:p>
            <a:pPr>
              <a:defRPr/>
            </a:pPr>
            <a:fld id="{C3E9F4E6-3151-4A44-AA23-D43637659EAA}" type="slidenum">
              <a:rPr lang="zh-CN" altLang="en-US"/>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6"/>
          <p:cNvSpPr>
            <a:spLocks noGrp="1" noChangeArrowheads="1"/>
          </p:cNvSpPr>
          <p:nvPr>
            <p:ph type="sldNum" sz="quarter" idx="10"/>
          </p:nvPr>
        </p:nvSpPr>
        <p:spPr/>
        <p:txBody>
          <a:bodyPr/>
          <a:lstStyle>
            <a:lvl1pPr>
              <a:defRPr/>
            </a:lvl1pPr>
          </a:lstStyle>
          <a:p>
            <a:pPr>
              <a:defRPr/>
            </a:pPr>
            <a:fld id="{4C046C84-9C06-594B-81B2-246C44BFDE2A}" type="slidenum">
              <a:rPr lang="zh-CN" altLang="en-US"/>
            </a:fld>
            <a:endParaRPr lang="en-US" altLang="zh-CN"/>
          </a:p>
        </p:txBody>
      </p:sp>
      <p:sp>
        <p:nvSpPr>
          <p:cNvPr id="6"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fld id="{329949F5-2B7A-924A-A271-95EABEBC0DA4}" type="slidenum">
              <a:rPr lang="zh-CN" altLang="en-US"/>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7675" y="304800"/>
            <a:ext cx="2138363" cy="6019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304800"/>
            <a:ext cx="6264275"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fld id="{19656F86-AD80-FA40-97CA-DA6285DD04BA}" type="slidenum">
              <a:rPr lang="zh-CN" altLang="en-US"/>
            </a:fld>
            <a:endParaRPr lang="en-US" altLang="zh-CN"/>
          </a:p>
        </p:txBody>
      </p:sp>
      <p:sp>
        <p:nvSpPr>
          <p:cNvPr id="5" name="Rectangle 15"/>
          <p:cNvSpPr>
            <a:spLocks noGrp="1" noChangeArrowheads="1"/>
          </p:cNvSpPr>
          <p:nvPr>
            <p:ph type="ftr" sz="quarter" idx="11"/>
          </p:nvPr>
        </p:nvSpPr>
        <p:spPr/>
        <p:txBody>
          <a:bodyPr/>
          <a:lstStyle>
            <a:lvl1pPr>
              <a:defRPr/>
            </a:lvl1pPr>
          </a:lstStyle>
          <a:p>
            <a:pPr>
              <a:defRPr/>
            </a:pPr>
            <a:r>
              <a:rPr lang="en-US" altLang="zh-CN"/>
              <a:t>School of Computer Science &amp; Technology, BUPT</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92" name="Rectangle 16"/>
          <p:cNvSpPr>
            <a:spLocks noGrp="1" noChangeArrowheads="1"/>
          </p:cNvSpPr>
          <p:nvPr>
            <p:ph type="sldNum" sz="quarter" idx="4"/>
          </p:nvPr>
        </p:nvSpPr>
        <p:spPr bwMode="auto">
          <a:xfrm>
            <a:off x="7620000" y="6400800"/>
            <a:ext cx="1524000" cy="457200"/>
          </a:xfrm>
          <a:prstGeom prst="rect">
            <a:avLst/>
          </a:prstGeom>
          <a:noFill/>
          <a:ln>
            <a:noFill/>
          </a:ln>
          <a:effectLst/>
        </p:spPr>
        <p:txBody>
          <a:bodyPr vert="horz" wrap="square" lIns="91440" tIns="45720" rIns="91440" bIns="45720" numCol="1" anchor="b" anchorCtr="0" compatLnSpc="1"/>
          <a:lstStyle>
            <a:lvl1pPr algn="r" eaLnBrk="1" hangingPunct="1">
              <a:spcBef>
                <a:spcPct val="0"/>
              </a:spcBef>
              <a:buClrTx/>
              <a:buSzTx/>
              <a:buFontTx/>
              <a:buNone/>
              <a:defRPr kumimoji="0" sz="1200" b="1" i="1">
                <a:latin typeface="Arial Narrow" panose="020B0606020202030204" charset="0"/>
                <a:ea typeface="宋体" charset="0"/>
              </a:defRPr>
            </a:lvl1pPr>
          </a:lstStyle>
          <a:p>
            <a:pPr>
              <a:defRPr/>
            </a:pPr>
            <a:fld id="{3AD2929D-025C-E74C-82E9-B4BF922B636F}" type="slidenum">
              <a:rPr lang="zh-CN" altLang="en-US"/>
            </a:fld>
            <a:endParaRPr lang="en-US" altLang="zh-CN"/>
          </a:p>
        </p:txBody>
      </p:sp>
      <p:sp>
        <p:nvSpPr>
          <p:cNvPr id="1027" name="Rectangle 2"/>
          <p:cNvSpPr>
            <a:spLocks noChangeArrowheads="1"/>
          </p:cNvSpPr>
          <p:nvPr/>
        </p:nvSpPr>
        <p:spPr bwMode="ltGray">
          <a:xfrm>
            <a:off x="457200" y="76200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28" name="Rectangle 3"/>
          <p:cNvSpPr>
            <a:spLocks noChangeArrowheads="1"/>
          </p:cNvSpPr>
          <p:nvPr/>
        </p:nvSpPr>
        <p:spPr bwMode="ltGray">
          <a:xfrm>
            <a:off x="762000" y="83820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29" name="Rectangle 4"/>
          <p:cNvSpPr>
            <a:spLocks noChangeArrowheads="1"/>
          </p:cNvSpPr>
          <p:nvPr/>
        </p:nvSpPr>
        <p:spPr bwMode="ltGray">
          <a:xfrm>
            <a:off x="533400" y="4572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30" name="Rectangle 5"/>
          <p:cNvSpPr>
            <a:spLocks noChangeArrowheads="1"/>
          </p:cNvSpPr>
          <p:nvPr/>
        </p:nvSpPr>
        <p:spPr bwMode="ltGray">
          <a:xfrm>
            <a:off x="304800" y="3810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31" name="Rectangle 6"/>
          <p:cNvSpPr>
            <a:spLocks noChangeArrowheads="1"/>
          </p:cNvSpPr>
          <p:nvPr/>
        </p:nvSpPr>
        <p:spPr bwMode="ltGray">
          <a:xfrm>
            <a:off x="0" y="685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32" name="Rectangle 7"/>
          <p:cNvSpPr>
            <a:spLocks noChangeArrowheads="1"/>
          </p:cNvSpPr>
          <p:nvPr/>
        </p:nvSpPr>
        <p:spPr bwMode="gray">
          <a:xfrm>
            <a:off x="914400" y="3810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33" name="Rectangle 8"/>
          <p:cNvSpPr>
            <a:spLocks noChangeArrowheads="1"/>
          </p:cNvSpPr>
          <p:nvPr/>
        </p:nvSpPr>
        <p:spPr bwMode="gray">
          <a:xfrm>
            <a:off x="609600" y="12192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1pPr>
            <a:lvl2pPr marL="742950" indent="-28575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2pPr>
            <a:lvl3pPr marL="11430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3pPr>
            <a:lvl4pPr marL="16002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4pPr>
            <a:lvl5pPr marL="2057400" indent="-228600" algn="r">
              <a:spcBef>
                <a:spcPct val="20000"/>
              </a:spcBef>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5pPr>
            <a:lvl6pPr marL="25146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6pPr>
            <a:lvl7pPr marL="29718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7pPr>
            <a:lvl8pPr marL="34290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8pPr>
            <a:lvl9pPr marL="3886200" indent="-228600" algn="r" eaLnBrk="0" fontAlgn="base" hangingPunct="0">
              <a:spcBef>
                <a:spcPct val="20000"/>
              </a:spcBef>
              <a:spcAft>
                <a:spcPct val="0"/>
              </a:spcAft>
              <a:buClr>
                <a:schemeClr val="folHlink"/>
              </a:buClr>
              <a:buSzPct val="60000"/>
              <a:buFont typeface="Wingdings" panose="05000000000000000000" pitchFamily="2" charset="2"/>
              <a:defRPr kumimoji="1">
                <a:solidFill>
                  <a:srgbClr val="009999"/>
                </a:solidFill>
                <a:latin typeface="Times New Roman" panose="02020503050405090304" charset="0"/>
                <a:ea typeface="宋体" charset="0"/>
              </a:defRPr>
            </a:lvl9pPr>
          </a:lstStyle>
          <a:p>
            <a:pPr algn="ctr" eaLnBrk="1" hangingPunct="1">
              <a:spcBef>
                <a:spcPct val="0"/>
              </a:spcBef>
              <a:buClrTx/>
              <a:buSzTx/>
              <a:buFontTx/>
              <a:buNone/>
              <a:defRPr/>
            </a:pPr>
            <a:endParaRPr lang="zh-CN" altLang="en-US" sz="2400" smtClean="0">
              <a:solidFill>
                <a:schemeClr val="tx1"/>
              </a:solidFill>
              <a:latin typeface="Tahoma" panose="020B0604030504040204" charset="0"/>
            </a:endParaRPr>
          </a:p>
        </p:txBody>
      </p:sp>
      <p:sp>
        <p:nvSpPr>
          <p:cNvPr id="1034" name="Rectangle 9"/>
          <p:cNvSpPr>
            <a:spLocks noGrp="1" noChangeArrowheads="1"/>
          </p:cNvSpPr>
          <p:nvPr>
            <p:ph type="title"/>
          </p:nvPr>
        </p:nvSpPr>
        <p:spPr bwMode="auto">
          <a:xfrm>
            <a:off x="1143000" y="304800"/>
            <a:ext cx="77930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35" name="Rectangle 10"/>
          <p:cNvSpPr>
            <a:spLocks noGrp="1" noChangeArrowheads="1"/>
          </p:cNvSpPr>
          <p:nvPr>
            <p:ph type="body" idx="1"/>
          </p:nvPr>
        </p:nvSpPr>
        <p:spPr bwMode="auto">
          <a:xfrm>
            <a:off x="381000" y="12954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2591" name="Rectangle 15"/>
          <p:cNvSpPr>
            <a:spLocks noGrp="1" noChangeArrowheads="1"/>
          </p:cNvSpPr>
          <p:nvPr>
            <p:ph type="ftr" sz="quarter" idx="3"/>
          </p:nvPr>
        </p:nvSpPr>
        <p:spPr bwMode="auto">
          <a:xfrm>
            <a:off x="1447800" y="6400800"/>
            <a:ext cx="6400800" cy="457200"/>
          </a:xfrm>
          <a:prstGeom prst="rect">
            <a:avLst/>
          </a:prstGeom>
          <a:noFill/>
          <a:ln>
            <a:noFill/>
          </a:ln>
          <a:effectLst/>
        </p:spPr>
        <p:txBody>
          <a:bodyPr vert="horz" wrap="square" lIns="91440" tIns="45720" rIns="91440" bIns="45720" numCol="1" anchor="b" anchorCtr="0" compatLnSpc="1"/>
          <a:lstStyle>
            <a:lvl1pPr algn="ctr" eaLnBrk="1" hangingPunct="1">
              <a:lnSpc>
                <a:spcPct val="110000"/>
              </a:lnSpc>
              <a:spcBef>
                <a:spcPct val="0"/>
              </a:spcBef>
              <a:buClrTx/>
              <a:buSzTx/>
              <a:buFontTx/>
              <a:buNone/>
              <a:defRPr sz="1200" b="1" i="1">
                <a:latin typeface="Arial Narrow" panose="020B0606020202030204" charset="0"/>
                <a:ea typeface="宋体" charset="0"/>
                <a:cs typeface="宋体" charset="0"/>
              </a:defRPr>
            </a:lvl1pPr>
          </a:lstStyle>
          <a:p>
            <a:pPr>
              <a:defRPr/>
            </a:pPr>
            <a:r>
              <a:rPr lang="en-US" altLang="zh-CN"/>
              <a:t>School of Computer Science &amp; Technology, BUPT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kumimoji="1" sz="3600">
          <a:solidFill>
            <a:schemeClr val="tx2"/>
          </a:solidFill>
          <a:latin typeface="+mj-lt"/>
          <a:ea typeface="+mj-ea"/>
          <a:cs typeface="宋体" charset="0"/>
        </a:defRPr>
      </a:lvl1pPr>
      <a:lvl2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itchFamily="2" charset="-122"/>
          <a:cs typeface="宋体" charset="0"/>
        </a:defRPr>
      </a:lvl2pPr>
      <a:lvl3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itchFamily="2" charset="-122"/>
          <a:cs typeface="宋体" charset="0"/>
        </a:defRPr>
      </a:lvl3pPr>
      <a:lvl4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itchFamily="2" charset="-122"/>
          <a:cs typeface="宋体" charset="0"/>
        </a:defRPr>
      </a:lvl4pPr>
      <a:lvl5pPr algn="l" rtl="0" eaLnBrk="0" fontAlgn="base" hangingPunct="0">
        <a:spcBef>
          <a:spcPct val="0"/>
        </a:spcBef>
        <a:spcAft>
          <a:spcPct val="0"/>
        </a:spcAft>
        <a:defRPr kumimoji="1" sz="3600">
          <a:solidFill>
            <a:schemeClr val="tx2"/>
          </a:solidFill>
          <a:latin typeface="Copperplate Gothic Light" panose="020E0507020206020404" pitchFamily="34" charset="0"/>
          <a:ea typeface="宋体" pitchFamily="2" charset="-122"/>
          <a:cs typeface="宋体" charset="0"/>
        </a:defRPr>
      </a:lvl5pPr>
      <a:lvl6pPr marL="457200" algn="l" rtl="0" fontAlgn="base">
        <a:spcBef>
          <a:spcPct val="0"/>
        </a:spcBef>
        <a:spcAft>
          <a:spcPct val="0"/>
        </a:spcAft>
        <a:defRPr kumimoji="1" sz="36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36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36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36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2800" b="1">
          <a:solidFill>
            <a:schemeClr val="tx1"/>
          </a:solidFill>
          <a:latin typeface="+mn-lt"/>
          <a:ea typeface="+mn-ea"/>
          <a:cs typeface="楷体_GB2312" charset="0"/>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400">
          <a:solidFill>
            <a:schemeClr val="tx1"/>
          </a:solidFill>
          <a:latin typeface="+mn-lt"/>
          <a:ea typeface="+mn-ea"/>
          <a:cs typeface="楷体_GB2312"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cs typeface="楷体_GB2312" charset="0"/>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F9856650-589C-AD4A-B8E9-3D9C3E6E6669}"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15362" name="页脚占位符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15363" name="Rectangle 2"/>
          <p:cNvSpPr>
            <a:spLocks noGrp="1" noChangeArrowheads="1"/>
          </p:cNvSpPr>
          <p:nvPr>
            <p:ph type="title"/>
          </p:nvPr>
        </p:nvSpPr>
        <p:spPr/>
        <p:txBody>
          <a:bodyPr/>
          <a:lstStyle/>
          <a:p>
            <a:pPr eaLnBrk="1" hangingPunct="1"/>
            <a:r>
              <a:rPr lang="zh-CN" altLang="en-US" b="1">
                <a:solidFill>
                  <a:srgbClr val="800080"/>
                </a:solidFill>
                <a:latin typeface="Arial" panose="020B0604020202090204" pitchFamily="34" charset="0"/>
                <a:ea typeface="楷体_GB2312" charset="0"/>
              </a:rPr>
              <a:t>附录  计算复杂性与可计算</a:t>
            </a:r>
            <a:r>
              <a:rPr lang="zh-CN" altLang="en-US" b="1">
                <a:solidFill>
                  <a:srgbClr val="800080"/>
                </a:solidFill>
                <a:latin typeface="Arial" panose="020B0604020202090204" pitchFamily="34" charset="0"/>
                <a:ea typeface="楷体_GB2312" charset="0"/>
              </a:rPr>
              <a:t>性基础</a:t>
            </a:r>
            <a:endParaRPr lang="zh-CN" altLang="en-US" b="1">
              <a:solidFill>
                <a:srgbClr val="800080"/>
              </a:solidFill>
              <a:latin typeface="Arial" panose="020B0604020202090204" pitchFamily="34" charset="0"/>
              <a:ea typeface="楷体_GB2312" charset="0"/>
            </a:endParaRPr>
          </a:p>
        </p:txBody>
      </p:sp>
      <p:sp>
        <p:nvSpPr>
          <p:cNvPr id="17412" name="Rectangle 3"/>
          <p:cNvSpPr>
            <a:spLocks noGrp="1" noChangeArrowheads="1"/>
          </p:cNvSpPr>
          <p:nvPr/>
        </p:nvSpPr>
        <p:spPr>
          <a:xfrm>
            <a:off x="533400" y="1447800"/>
            <a:ext cx="8077200" cy="50292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2800" b="1">
                <a:solidFill>
                  <a:schemeClr val="tx1"/>
                </a:solidFill>
                <a:latin typeface="+mn-lt"/>
                <a:ea typeface="+mn-ea"/>
                <a:cs typeface="楷体_GB2312" charset="0"/>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400">
                <a:solidFill>
                  <a:schemeClr val="tx1"/>
                </a:solidFill>
                <a:latin typeface="+mn-lt"/>
                <a:ea typeface="+mn-ea"/>
                <a:cs typeface="楷体_GB2312"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cs typeface="楷体_GB2312" charset="0"/>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9pPr>
          </a:lstStyle>
          <a:p>
            <a:pPr lvl="0" eaLnBrk="1" hangingPunct="1"/>
            <a:r>
              <a:rPr lang="zh-CN" altLang="en-US">
                <a:solidFill>
                  <a:srgbClr val="333399"/>
                </a:solidFill>
                <a:latin typeface="楷体_GB2312" charset="0"/>
                <a:sym typeface="+mn-ea"/>
              </a:rPr>
              <a:t>计算理论包含三个传统核心领域：自动机、可计算性和复杂性。它们共同探讨一个根本问题：什么是计算机的基本能力和限制？</a:t>
            </a:r>
            <a:endParaRPr lang="zh-CN" altLang="en-US">
              <a:solidFill>
                <a:srgbClr val="333399"/>
              </a:solidFill>
              <a:latin typeface="楷体_GB2312" charset="0"/>
              <a:sym typeface="+mn-ea"/>
            </a:endParaRPr>
          </a:p>
          <a:p>
            <a:pPr lvl="1" eaLnBrk="1" hangingPunct="1"/>
            <a:r>
              <a:rPr lang="zh-CN" altLang="en-US">
                <a:solidFill>
                  <a:srgbClr val="333399"/>
                </a:solidFill>
                <a:latin typeface="楷体_GB2312" charset="0"/>
                <a:sym typeface="+mn-ea"/>
              </a:rPr>
              <a:t>1.自动机：研究抽象计算模型，为计算机和计算过程提供精确的数学描述。</a:t>
            </a:r>
            <a:endParaRPr lang="zh-CN" altLang="en-US">
              <a:solidFill>
                <a:srgbClr val="333399"/>
              </a:solidFill>
              <a:latin typeface="楷体_GB2312" charset="0"/>
              <a:sym typeface="+mn-ea"/>
            </a:endParaRPr>
          </a:p>
          <a:p>
            <a:pPr lvl="1" eaLnBrk="1" hangingPunct="1"/>
            <a:r>
              <a:rPr lang="zh-CN" altLang="en-US">
                <a:solidFill>
                  <a:srgbClr val="333399"/>
                </a:solidFill>
                <a:latin typeface="楷体_GB2312" charset="0"/>
                <a:sym typeface="+mn-ea"/>
              </a:rPr>
              <a:t>2.可计算性：分析解决这个问题的可能性，研究问题是否可能被计算</a:t>
            </a:r>
            <a:endParaRPr lang="zh-CN" altLang="en-US">
              <a:solidFill>
                <a:srgbClr val="333399"/>
              </a:solidFill>
              <a:latin typeface="楷体_GB2312" charset="0"/>
              <a:sym typeface="+mn-ea"/>
            </a:endParaRPr>
          </a:p>
          <a:p>
            <a:pPr lvl="1" eaLnBrk="1" hangingPunct="1"/>
            <a:r>
              <a:rPr lang="zh-CN" altLang="en-US">
                <a:solidFill>
                  <a:srgbClr val="333399"/>
                </a:solidFill>
                <a:latin typeface="楷体_GB2312" charset="0"/>
                <a:sym typeface="+mn-ea"/>
              </a:rPr>
              <a:t>3.复杂性：研究解决问题所需的代价（时间、空间），区分问题的难易程度，以及是否有更快、更好的算法。</a:t>
            </a:r>
            <a:endParaRPr lang="zh-CN" altLang="en-US">
              <a:solidFill>
                <a:srgbClr val="333399"/>
              </a:solidFill>
              <a:latin typeface="楷体_GB231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C04D4A1B-7D1B-2B4B-8063-44BA0053BFEE}"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17410" name="页脚占位符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17411" name="Rectangle 2"/>
          <p:cNvSpPr>
            <a:spLocks noGrp="1" noChangeArrowheads="1"/>
          </p:cNvSpPr>
          <p:nvPr>
            <p:ph type="title"/>
          </p:nvPr>
        </p:nvSpPr>
        <p:spPr>
          <a:xfrm>
            <a:off x="4343400" y="304800"/>
            <a:ext cx="3657600" cy="838200"/>
          </a:xfrm>
        </p:spPr>
        <p:txBody>
          <a:bodyPr/>
          <a:lstStyle/>
          <a:p>
            <a:pPr algn="r" eaLnBrk="1" hangingPunct="1"/>
            <a:r>
              <a:rPr lang="zh-CN" altLang="en-US" b="1">
                <a:solidFill>
                  <a:srgbClr val="800080"/>
                </a:solidFill>
                <a:latin typeface="Arial" panose="020B0604020202090204" pitchFamily="34" charset="0"/>
                <a:ea typeface="楷体_GB2312" charset="0"/>
              </a:rPr>
              <a:t>主要内容</a:t>
            </a:r>
            <a:endParaRPr lang="zh-CN" altLang="en-US" b="1">
              <a:solidFill>
                <a:srgbClr val="800080"/>
              </a:solidFill>
              <a:latin typeface="Arial" panose="020B0604020202090204" pitchFamily="34" charset="0"/>
              <a:ea typeface="楷体_GB2312" charset="0"/>
            </a:endParaRPr>
          </a:p>
        </p:txBody>
      </p:sp>
      <p:sp>
        <p:nvSpPr>
          <p:cNvPr id="17412" name="Rectangle 3"/>
          <p:cNvSpPr>
            <a:spLocks noGrp="1" noChangeArrowheads="1"/>
          </p:cNvSpPr>
          <p:nvPr>
            <p:ph type="body" idx="1"/>
          </p:nvPr>
        </p:nvSpPr>
        <p:spPr>
          <a:xfrm>
            <a:off x="533400" y="1447800"/>
            <a:ext cx="8077200" cy="5029200"/>
          </a:xfrm>
        </p:spPr>
        <p:txBody>
          <a:bodyPr/>
          <a:lstStyle/>
          <a:p>
            <a:pPr eaLnBrk="1" hangingPunct="1">
              <a:lnSpc>
                <a:spcPct val="130000"/>
              </a:lnSpc>
              <a:spcAft>
                <a:spcPts val="600"/>
              </a:spcAft>
            </a:pPr>
            <a:r>
              <a:rPr lang="zh-CN" altLang="en-US" b="0">
                <a:solidFill>
                  <a:srgbClr val="333399"/>
                </a:solidFill>
                <a:latin typeface="楷体_GB2312" charset="0"/>
              </a:rPr>
              <a:t>计算复杂性</a:t>
            </a:r>
            <a:r>
              <a:rPr lang="zh-CN" altLang="en-US" b="0">
                <a:solidFill>
                  <a:srgbClr val="333399"/>
                </a:solidFill>
                <a:latin typeface="楷体_GB2312" charset="0"/>
              </a:rPr>
              <a:t>理论</a:t>
            </a:r>
            <a:endParaRPr lang="zh-CN" altLang="en-US" b="0">
              <a:solidFill>
                <a:srgbClr val="333399"/>
              </a:solidFill>
              <a:latin typeface="楷体_GB2312" charset="0"/>
            </a:endParaRPr>
          </a:p>
          <a:p>
            <a:pPr lvl="1" eaLnBrk="1" hangingPunct="1"/>
            <a:r>
              <a:rPr lang="zh-CN" altLang="en-US">
                <a:solidFill>
                  <a:srgbClr val="333399"/>
                </a:solidFill>
                <a:latin typeface="楷体_GB2312" charset="0"/>
                <a:sym typeface="+mn-ea"/>
              </a:rPr>
              <a:t>时间</a:t>
            </a:r>
            <a:r>
              <a:rPr lang="zh-CN" altLang="en-US">
                <a:solidFill>
                  <a:srgbClr val="333399"/>
                </a:solidFill>
                <a:latin typeface="楷体_GB2312" charset="0"/>
                <a:sym typeface="+mn-ea"/>
              </a:rPr>
              <a:t>复杂性</a:t>
            </a:r>
            <a:endParaRPr lang="zh-CN" altLang="en-US">
              <a:solidFill>
                <a:srgbClr val="333399"/>
              </a:solidFill>
              <a:latin typeface="楷体_GB2312" charset="0"/>
              <a:sym typeface="+mn-ea"/>
            </a:endParaRPr>
          </a:p>
          <a:p>
            <a:pPr lvl="2" eaLnBrk="1" hangingPunct="1"/>
            <a:r>
              <a:rPr lang="en-US" altLang="zh-CN">
                <a:solidFill>
                  <a:srgbClr val="333399"/>
                </a:solidFill>
                <a:latin typeface="Times New Roman Regular" panose="02020503050405090304" charset="0"/>
                <a:cs typeface="Times New Roman Regular" panose="02020503050405090304" charset="0"/>
                <a:sym typeface="+mn-ea"/>
              </a:rPr>
              <a:t>O(n)</a:t>
            </a:r>
            <a:r>
              <a:rPr lang="zh-CN" altLang="en-US">
                <a:solidFill>
                  <a:srgbClr val="333399"/>
                </a:solidFill>
                <a:latin typeface="Times New Roman Regular" panose="02020503050405090304" charset="0"/>
                <a:cs typeface="Times New Roman Regular" panose="02020503050405090304" charset="0"/>
                <a:sym typeface="+mn-ea"/>
              </a:rPr>
              <a:t>、</a:t>
            </a:r>
            <a:r>
              <a:rPr lang="en-US" altLang="zh-CN">
                <a:solidFill>
                  <a:srgbClr val="333399"/>
                </a:solidFill>
                <a:latin typeface="Times New Roman Regular" panose="02020503050405090304" charset="0"/>
                <a:cs typeface="Times New Roman Regular" panose="02020503050405090304" charset="0"/>
                <a:sym typeface="+mn-ea"/>
              </a:rPr>
              <a:t>o(n)</a:t>
            </a:r>
            <a:endParaRPr lang="en-US" altLang="zh-CN">
              <a:solidFill>
                <a:srgbClr val="333399"/>
              </a:solidFill>
              <a:latin typeface="Times New Roman Regular" panose="02020503050405090304" charset="0"/>
              <a:cs typeface="Times New Roman Regular" panose="02020503050405090304" charset="0"/>
              <a:sym typeface="+mn-ea"/>
            </a:endParaRPr>
          </a:p>
          <a:p>
            <a:pPr lvl="2" eaLnBrk="1" hangingPunct="1"/>
            <a:r>
              <a:rPr lang="en-US" altLang="zh-CN">
                <a:solidFill>
                  <a:srgbClr val="333399"/>
                </a:solidFill>
                <a:latin typeface="Times New Roman Regular" panose="02020503050405090304" charset="0"/>
                <a:cs typeface="Times New Roman Regular" panose="02020503050405090304" charset="0"/>
                <a:sym typeface="+mn-ea"/>
              </a:rPr>
              <a:t>P、NP、NP-complete</a:t>
            </a:r>
            <a:r>
              <a:rPr lang="zh-CN" altLang="en-US">
                <a:solidFill>
                  <a:srgbClr val="333399"/>
                </a:solidFill>
                <a:latin typeface="Times New Roman Regular" panose="02020503050405090304" charset="0"/>
                <a:cs typeface="Times New Roman Regular" panose="02020503050405090304" charset="0"/>
                <a:sym typeface="+mn-ea"/>
              </a:rPr>
              <a:t>、</a:t>
            </a:r>
            <a:r>
              <a:rPr lang="en-US" altLang="zh-CN">
                <a:solidFill>
                  <a:srgbClr val="333399"/>
                </a:solidFill>
                <a:latin typeface="Times New Roman Regular" panose="02020503050405090304" charset="0"/>
                <a:cs typeface="Times New Roman Regular" panose="02020503050405090304" charset="0"/>
                <a:sym typeface="+mn-ea"/>
              </a:rPr>
              <a:t>NP</a:t>
            </a:r>
            <a:r>
              <a:rPr lang="zh-CN" altLang="en-US">
                <a:solidFill>
                  <a:srgbClr val="333399"/>
                </a:solidFill>
                <a:latin typeface="Times New Roman Regular" panose="02020503050405090304" charset="0"/>
                <a:cs typeface="Times New Roman Regular" panose="02020503050405090304" charset="0"/>
                <a:sym typeface="+mn-ea"/>
              </a:rPr>
              <a:t>-</a:t>
            </a:r>
            <a:r>
              <a:rPr lang="en-US" altLang="zh-CN">
                <a:solidFill>
                  <a:srgbClr val="333399"/>
                </a:solidFill>
                <a:latin typeface="Times New Roman Regular" panose="02020503050405090304" charset="0"/>
                <a:cs typeface="Times New Roman Regular" panose="02020503050405090304" charset="0"/>
                <a:sym typeface="+mn-ea"/>
              </a:rPr>
              <a:t>hard</a:t>
            </a:r>
            <a:endParaRPr lang="zh-CN" altLang="en-US">
              <a:solidFill>
                <a:srgbClr val="333399"/>
              </a:solidFill>
              <a:latin typeface="Times New Roman Regular" panose="02020503050405090304" charset="0"/>
              <a:cs typeface="Times New Roman Regular" panose="02020503050405090304" charset="0"/>
              <a:sym typeface="+mn-ea"/>
            </a:endParaRPr>
          </a:p>
          <a:p>
            <a:pPr lvl="1" eaLnBrk="1" hangingPunct="1"/>
            <a:r>
              <a:rPr lang="zh-CN" altLang="en-US" b="0">
                <a:solidFill>
                  <a:srgbClr val="333399"/>
                </a:solidFill>
                <a:latin typeface="楷体_GB2312" charset="0"/>
              </a:rPr>
              <a:t>空间</a:t>
            </a:r>
            <a:r>
              <a:rPr lang="zh-CN" altLang="en-US" b="0">
                <a:solidFill>
                  <a:srgbClr val="333399"/>
                </a:solidFill>
                <a:latin typeface="楷体_GB2312" charset="0"/>
              </a:rPr>
              <a:t>复杂性</a:t>
            </a:r>
            <a:endParaRPr lang="zh-CN" altLang="en-US" b="0">
              <a:solidFill>
                <a:srgbClr val="333399"/>
              </a:solidFill>
              <a:latin typeface="楷体_GB2312" charset="0"/>
            </a:endParaRPr>
          </a:p>
          <a:p>
            <a:pPr eaLnBrk="1" hangingPunct="1">
              <a:lnSpc>
                <a:spcPct val="130000"/>
              </a:lnSpc>
              <a:spcAft>
                <a:spcPts val="600"/>
              </a:spcAft>
            </a:pPr>
            <a:r>
              <a:rPr lang="zh-CN" altLang="en-US" b="0">
                <a:solidFill>
                  <a:srgbClr val="333399"/>
                </a:solidFill>
                <a:latin typeface="楷体_GB2312" charset="0"/>
              </a:rPr>
              <a:t>可计算性</a:t>
            </a:r>
            <a:endParaRPr lang="zh-CN" altLang="en-US" b="0">
              <a:solidFill>
                <a:srgbClr val="333399"/>
              </a:solidFill>
              <a:latin typeface="楷体_GB2312" charset="0"/>
            </a:endParaRPr>
          </a:p>
          <a:p>
            <a:pPr lvl="1" eaLnBrk="1" hangingPunct="1"/>
            <a:r>
              <a:rPr lang="zh-CN" altLang="en-US">
                <a:solidFill>
                  <a:srgbClr val="333399"/>
                </a:solidFill>
                <a:latin typeface="楷体_GB2312" charset="0"/>
              </a:rPr>
              <a:t>可判定</a:t>
            </a:r>
            <a:r>
              <a:rPr lang="zh-CN" altLang="en-US">
                <a:solidFill>
                  <a:srgbClr val="333399"/>
                </a:solidFill>
                <a:latin typeface="楷体_GB2312" charset="0"/>
              </a:rPr>
              <a:t>问题 </a:t>
            </a:r>
            <a:endParaRPr lang="zh-CN" altLang="en-US">
              <a:solidFill>
                <a:srgbClr val="333399"/>
              </a:solidFill>
              <a:latin typeface="楷体_GB2312" charset="0"/>
            </a:endParaRPr>
          </a:p>
          <a:p>
            <a:pPr lvl="1" eaLnBrk="1" hangingPunct="1"/>
            <a:r>
              <a:rPr lang="zh-CN" altLang="en-US">
                <a:solidFill>
                  <a:srgbClr val="333399"/>
                </a:solidFill>
                <a:latin typeface="楷体_GB2312" charset="0"/>
              </a:rPr>
              <a:t>不可判定</a:t>
            </a:r>
            <a:r>
              <a:rPr lang="zh-CN" altLang="en-US">
                <a:solidFill>
                  <a:srgbClr val="333399"/>
                </a:solidFill>
                <a:latin typeface="楷体_GB2312" charset="0"/>
              </a:rPr>
              <a:t>问题</a:t>
            </a:r>
            <a:endParaRPr lang="zh-CN" altLang="en-US">
              <a:solidFill>
                <a:srgbClr val="333399"/>
              </a:solidFill>
              <a:latin typeface="楷体_GB2312"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90204" pitchFamily="34" charset="0"/>
                <a:ea typeface="华文行楷" panose="02010800040101010101" charset="-122"/>
              </a:rPr>
              <a:t>大</a:t>
            </a:r>
            <a:r>
              <a:rPr lang="en-US" altLang="zh-CN" sz="3200">
                <a:solidFill>
                  <a:srgbClr val="800080"/>
                </a:solidFill>
                <a:latin typeface="Arial" panose="020B0604020202090204" pitchFamily="34" charset="0"/>
                <a:ea typeface="华文行楷" panose="02010800040101010101" charset="-122"/>
              </a:rPr>
              <a:t>O</a:t>
            </a:r>
            <a:r>
              <a:rPr lang="zh-CN" altLang="en-US" sz="3200">
                <a:solidFill>
                  <a:srgbClr val="800080"/>
                </a:solidFill>
                <a:latin typeface="Arial" panose="020B0604020202090204" pitchFamily="34" charset="0"/>
                <a:ea typeface="华文行楷" panose="02010800040101010101" charset="-122"/>
              </a:rPr>
              <a:t>和小</a:t>
            </a:r>
            <a:r>
              <a:rPr lang="en-US" altLang="zh-CN" sz="3200">
                <a:solidFill>
                  <a:srgbClr val="800080"/>
                </a:solidFill>
                <a:latin typeface="Arial" panose="020B0604020202090204" pitchFamily="34" charset="0"/>
                <a:ea typeface="华文行楷" panose="02010800040101010101" charset="-122"/>
              </a:rPr>
              <a:t>o</a:t>
            </a:r>
            <a:endParaRPr lang="en-US" altLang="zh-CN"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2178901"/>
          </a:xfrm>
          <a:prstGeom prst="rect">
            <a:avLst/>
          </a:prstGeom>
          <a:noFill/>
        </p:spPr>
        <p:txBody>
          <a:bodyPr wrap="square" rtlCol="0" anchor="t">
            <a:noAutofit/>
          </a:bodyPr>
          <a:p>
            <a:pPr marL="0" indent="0">
              <a:buNone/>
            </a:pPr>
            <a:r>
              <a:rPr lang="zh-CN" altLang="en-US" sz="2400" b="1">
                <a:solidFill>
                  <a:srgbClr val="800080"/>
                </a:solidFill>
                <a:ea typeface="华文行楷" panose="02010800040101010101" charset="-122"/>
                <a:sym typeface="+mn-ea"/>
              </a:rPr>
              <a:t>时间复杂度：</a:t>
            </a:r>
            <a:r>
              <a:rPr lang="zh-CN" altLang="en-US" sz="2400" b="1">
                <a:solidFill>
                  <a:srgbClr val="333399"/>
                </a:solidFill>
                <a:ea typeface="华文行楷" panose="02010800040101010101" charset="-122"/>
                <a:sym typeface="+mn-ea"/>
              </a:rPr>
              <a:t>描述了算法执行时间随问题规模</a:t>
            </a:r>
            <a:r>
              <a:rPr lang="en-US" altLang="zh-CN" sz="2400" b="1">
                <a:solidFill>
                  <a:srgbClr val="333399"/>
                </a:solidFill>
                <a:ea typeface="华文行楷" panose="02010800040101010101" charset="-122"/>
                <a:sym typeface="+mn-ea"/>
              </a:rPr>
              <a:t>n</a:t>
            </a:r>
            <a:r>
              <a:rPr lang="zh-CN" altLang="en-US" sz="2400" b="1">
                <a:solidFill>
                  <a:srgbClr val="333399"/>
                </a:solidFill>
                <a:ea typeface="华文行楷" panose="02010800040101010101" charset="-122"/>
                <a:sym typeface="+mn-ea"/>
              </a:rPr>
              <a:t>增长的趋势。通常是算法在最坏情况下语句执行的最大次数（频度）。</a:t>
            </a:r>
            <a:endParaRPr lang="zh-CN" altLang="en-US" sz="2400" b="1">
              <a:solidFill>
                <a:srgbClr val="333399"/>
              </a:solidFill>
              <a:ea typeface="华文行楷" panose="02010800040101010101" charset="-122"/>
              <a:sym typeface="+mn-ea"/>
            </a:endParaRPr>
          </a:p>
          <a:p>
            <a:pPr marL="0" indent="0">
              <a:buNone/>
            </a:pPr>
            <a:endParaRPr lang="zh-CN" altLang="en-US" sz="2400" b="1">
              <a:solidFill>
                <a:srgbClr val="003399"/>
              </a:solidFill>
              <a:latin typeface="宋体" charset="0"/>
              <a:ea typeface="楷体_GB2312" charset="0"/>
              <a:sym typeface="+mn-ea"/>
            </a:endParaRPr>
          </a:p>
        </p:txBody>
      </p:sp>
      <p:sp>
        <p:nvSpPr>
          <p:cNvPr id="19460" name="Text Box 65"/>
          <p:cNvSpPr txBox="1">
            <a:spLocks noChangeArrowheads="1"/>
          </p:cNvSpPr>
          <p:nvPr/>
        </p:nvSpPr>
        <p:spPr bwMode="auto">
          <a:xfrm>
            <a:off x="598515" y="2280533"/>
            <a:ext cx="8251825" cy="412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eaLnBrk="1" hangingPunct="1">
              <a:lnSpc>
                <a:spcPct val="120000"/>
              </a:lnSpc>
            </a:pPr>
            <a:r>
              <a:rPr lang="zh-CN" altLang="en-US" sz="2400">
                <a:solidFill>
                  <a:srgbClr val="003399"/>
                </a:solidFill>
                <a:latin typeface="宋体" pitchFamily="2" charset="-122"/>
              </a:rPr>
              <a:t> 大</a:t>
            </a:r>
            <a:r>
              <a:rPr lang="en-US" altLang="zh-CN" sz="2400">
                <a:solidFill>
                  <a:srgbClr val="003399"/>
                </a:solidFill>
                <a:latin typeface="宋体" pitchFamily="2" charset="-122"/>
              </a:rPr>
              <a:t>O</a:t>
            </a:r>
            <a:r>
              <a:rPr lang="zh-CN" altLang="en-US" sz="2400">
                <a:solidFill>
                  <a:srgbClr val="003399"/>
                </a:solidFill>
                <a:latin typeface="宋体" pitchFamily="2" charset="-122"/>
              </a:rPr>
              <a:t>：定义</a:t>
            </a:r>
            <a:r>
              <a:rPr lang="en-US" altLang="zh-CN" sz="2400">
                <a:solidFill>
                  <a:srgbClr val="003399"/>
                </a:solidFill>
                <a:latin typeface="宋体" pitchFamily="2" charset="-122"/>
              </a:rPr>
              <a:t>T(n) </a:t>
            </a:r>
            <a:r>
              <a:rPr lang="zh-CN" altLang="en-US" sz="2400">
                <a:solidFill>
                  <a:srgbClr val="003399"/>
                </a:solidFill>
                <a:latin typeface="宋体" pitchFamily="2" charset="-122"/>
              </a:rPr>
              <a:t>= </a:t>
            </a:r>
            <a:r>
              <a:rPr lang="en-US" altLang="zh-CN" sz="2400">
                <a:solidFill>
                  <a:srgbClr val="003399"/>
                </a:solidFill>
                <a:latin typeface="宋体" pitchFamily="2" charset="-122"/>
              </a:rPr>
              <a:t>O(f(n)) </a:t>
            </a:r>
            <a:r>
              <a:rPr lang="zh-CN" altLang="en-US" sz="2400">
                <a:solidFill>
                  <a:srgbClr val="003399"/>
                </a:solidFill>
                <a:latin typeface="宋体" pitchFamily="2" charset="-122"/>
              </a:rPr>
              <a:t>，表示 </a:t>
            </a:r>
            <a:r>
              <a:rPr lang="en-US" altLang="zh-CN" sz="2400">
                <a:solidFill>
                  <a:srgbClr val="003399"/>
                </a:solidFill>
                <a:latin typeface="宋体" pitchFamily="2" charset="-122"/>
              </a:rPr>
              <a:t>T(n) </a:t>
            </a:r>
            <a:r>
              <a:rPr lang="zh-CN" altLang="en-US" sz="2400">
                <a:solidFill>
                  <a:srgbClr val="003399"/>
                </a:solidFill>
                <a:latin typeface="宋体" pitchFamily="2" charset="-122"/>
              </a:rPr>
              <a:t>增长不超过</a:t>
            </a:r>
            <a:r>
              <a:rPr lang="en-US" altLang="zh-CN" sz="2400">
                <a:solidFill>
                  <a:srgbClr val="003399"/>
                </a:solidFill>
                <a:latin typeface="宋体" pitchFamily="2" charset="-122"/>
              </a:rPr>
              <a:t>f(n) </a:t>
            </a:r>
            <a:r>
              <a:rPr lang="zh-CN" altLang="en-US" sz="2400">
                <a:solidFill>
                  <a:srgbClr val="003399"/>
                </a:solidFill>
                <a:latin typeface="宋体" pitchFamily="2" charset="-122"/>
              </a:rPr>
              <a:t>的某个常数倍，提供时间复杂度的上界。</a:t>
            </a:r>
            <a:endParaRPr lang="zh-CN" altLang="en-US" sz="2400">
              <a:solidFill>
                <a:srgbClr val="003399"/>
              </a:solidFill>
              <a:latin typeface="宋体" pitchFamily="2" charset="-122"/>
            </a:endParaRPr>
          </a:p>
          <a:p>
            <a:pPr marL="457200" lvl="1" eaLnBrk="1" hangingPunct="1">
              <a:lnSpc>
                <a:spcPct val="120000"/>
              </a:lnSpc>
            </a:pPr>
            <a:r>
              <a:rPr lang="zh-CN" altLang="en-US" sz="2400">
                <a:solidFill>
                  <a:srgbClr val="003399"/>
                </a:solidFill>
                <a:latin typeface="宋体" charset="0"/>
              </a:rPr>
              <a:t>存在常数</a:t>
            </a:r>
            <a:r>
              <a:rPr lang="en-US" altLang="zh-CN" sz="2400">
                <a:solidFill>
                  <a:srgbClr val="003399"/>
                </a:solidFill>
                <a:latin typeface="宋体" charset="0"/>
              </a:rPr>
              <a:t>c</a:t>
            </a:r>
            <a:r>
              <a:rPr lang="zh-CN" altLang="en-US" sz="2400">
                <a:solidFill>
                  <a:srgbClr val="003399"/>
                </a:solidFill>
                <a:latin typeface="宋体" charset="0"/>
              </a:rPr>
              <a:t>，对于一般的</a:t>
            </a:r>
            <a:r>
              <a:rPr lang="en-US" altLang="zh-CN" sz="2400">
                <a:solidFill>
                  <a:srgbClr val="003399"/>
                </a:solidFill>
                <a:latin typeface="宋体" charset="0"/>
              </a:rPr>
              <a:t>n</a:t>
            </a:r>
            <a:r>
              <a:rPr lang="zh-CN" altLang="en-US" sz="2400">
                <a:solidFill>
                  <a:srgbClr val="003399"/>
                </a:solidFill>
                <a:latin typeface="宋体" charset="0"/>
              </a:rPr>
              <a:t>，有</a:t>
            </a:r>
            <a:r>
              <a:rPr lang="en-US" altLang="zh-CN" sz="2400">
                <a:solidFill>
                  <a:srgbClr val="003399"/>
                </a:solidFill>
                <a:latin typeface="宋体" charset="0"/>
              </a:rPr>
              <a:t>T(n)&lt;</a:t>
            </a:r>
            <a:r>
              <a:rPr lang="zh-CN" altLang="en-US" sz="2400">
                <a:solidFill>
                  <a:srgbClr val="003399"/>
                </a:solidFill>
                <a:latin typeface="宋体" charset="0"/>
              </a:rPr>
              <a:t>=</a:t>
            </a:r>
            <a:r>
              <a:rPr lang="en-US" altLang="zh-CN" sz="2400">
                <a:solidFill>
                  <a:srgbClr val="003399"/>
                </a:solidFill>
                <a:latin typeface="宋体" charset="0"/>
              </a:rPr>
              <a:t>c</a:t>
            </a:r>
            <a:r>
              <a:rPr lang="zh-CN" altLang="en-US" sz="2400">
                <a:solidFill>
                  <a:srgbClr val="003399"/>
                </a:solidFill>
                <a:latin typeface="宋体" charset="0"/>
              </a:rPr>
              <a:t>·</a:t>
            </a:r>
            <a:r>
              <a:rPr lang="en-US" altLang="zh-CN" sz="2400">
                <a:solidFill>
                  <a:srgbClr val="003399"/>
                </a:solidFill>
                <a:latin typeface="宋体" charset="0"/>
              </a:rPr>
              <a:t>f(n)</a:t>
            </a:r>
            <a:endParaRPr lang="en-US" altLang="zh-CN" sz="2400">
              <a:solidFill>
                <a:srgbClr val="003399"/>
              </a:solidFill>
              <a:latin typeface="宋体" charset="0"/>
            </a:endParaRPr>
          </a:p>
          <a:p>
            <a:pPr marL="457200" lvl="1" eaLnBrk="1" hangingPunct="1">
              <a:lnSpc>
                <a:spcPct val="120000"/>
              </a:lnSpc>
            </a:pPr>
            <a:r>
              <a:rPr lang="zh-CN" altLang="en-US" sz="2400">
                <a:solidFill>
                  <a:srgbClr val="003399"/>
                </a:solidFill>
                <a:latin typeface="宋体" pitchFamily="2" charset="-122"/>
              </a:rPr>
              <a:t>例如：函数</a:t>
            </a:r>
            <a:r>
              <a:rPr lang="en-US" altLang="zh-CN" sz="2400">
                <a:solidFill>
                  <a:srgbClr val="003399"/>
                </a:solidFill>
                <a:latin typeface="宋体" pitchFamily="2" charset="-122"/>
              </a:rPr>
              <a:t>3n³</a:t>
            </a:r>
            <a:r>
              <a:rPr lang="zh-CN" altLang="en-US" sz="2400">
                <a:solidFill>
                  <a:srgbClr val="003399"/>
                </a:solidFill>
                <a:latin typeface="宋体" pitchFamily="2" charset="-122"/>
              </a:rPr>
              <a:t>+</a:t>
            </a:r>
            <a:r>
              <a:rPr lang="en-US" altLang="zh-CN" sz="2400">
                <a:solidFill>
                  <a:srgbClr val="003399"/>
                </a:solidFill>
                <a:latin typeface="宋体" pitchFamily="2" charset="-122"/>
              </a:rPr>
              <a:t>2n²</a:t>
            </a:r>
            <a:r>
              <a:rPr lang="zh-CN" altLang="en-US" sz="2400">
                <a:solidFill>
                  <a:srgbClr val="003399"/>
                </a:solidFill>
                <a:latin typeface="宋体" pitchFamily="2" charset="-122"/>
              </a:rPr>
              <a:t>的时间复杂度为</a:t>
            </a:r>
            <a:r>
              <a:rPr lang="en-US" altLang="zh-CN" sz="2400">
                <a:solidFill>
                  <a:srgbClr val="003399"/>
                </a:solidFill>
                <a:latin typeface="宋体" pitchFamily="2" charset="-122"/>
              </a:rPr>
              <a:t>O(n³)</a:t>
            </a:r>
            <a:r>
              <a:rPr lang="zh-CN" altLang="en-US" sz="2400">
                <a:solidFill>
                  <a:srgbClr val="003399"/>
                </a:solidFill>
                <a:latin typeface="宋体" pitchFamily="2" charset="-122"/>
              </a:rPr>
              <a:t>。</a:t>
            </a:r>
            <a:endParaRPr lang="zh-CN" altLang="en-US" sz="2400">
              <a:solidFill>
                <a:srgbClr val="003399"/>
              </a:solidFill>
              <a:latin typeface="宋体" pitchFamily="2" charset="-122"/>
            </a:endParaRPr>
          </a:p>
          <a:p>
            <a:pPr marL="0" lvl="0" eaLnBrk="1" hangingPunct="1">
              <a:lnSpc>
                <a:spcPct val="120000"/>
              </a:lnSpc>
            </a:pPr>
            <a:r>
              <a:rPr lang="zh-CN" altLang="en-US" sz="2400">
                <a:solidFill>
                  <a:srgbClr val="003399"/>
                </a:solidFill>
                <a:latin typeface="宋体" charset="0"/>
              </a:rPr>
              <a:t>小</a:t>
            </a:r>
            <a:r>
              <a:rPr lang="en-US" altLang="zh-CN" sz="2400">
                <a:solidFill>
                  <a:srgbClr val="003399"/>
                </a:solidFill>
                <a:latin typeface="宋体" charset="0"/>
              </a:rPr>
              <a:t>o</a:t>
            </a:r>
            <a:r>
              <a:rPr lang="zh-CN" altLang="en-US" sz="2400">
                <a:solidFill>
                  <a:srgbClr val="003399"/>
                </a:solidFill>
                <a:latin typeface="宋体" charset="0"/>
              </a:rPr>
              <a:t>：定义</a:t>
            </a:r>
            <a:r>
              <a:rPr lang="en-US" altLang="zh-CN" sz="2400">
                <a:solidFill>
                  <a:srgbClr val="003399"/>
                </a:solidFill>
                <a:latin typeface="宋体" charset="0"/>
              </a:rPr>
              <a:t>T(n) </a:t>
            </a:r>
            <a:r>
              <a:rPr lang="zh-CN" altLang="en-US" sz="2400">
                <a:solidFill>
                  <a:srgbClr val="003399"/>
                </a:solidFill>
                <a:latin typeface="宋体" charset="0"/>
              </a:rPr>
              <a:t>= </a:t>
            </a:r>
            <a:r>
              <a:rPr lang="en-US" altLang="zh-CN" sz="2400">
                <a:solidFill>
                  <a:srgbClr val="003399"/>
                </a:solidFill>
                <a:latin typeface="宋体" charset="0"/>
              </a:rPr>
              <a:t>o(f(n)) </a:t>
            </a:r>
            <a:r>
              <a:rPr lang="zh-CN" altLang="en-US" sz="2400">
                <a:solidFill>
                  <a:srgbClr val="003399"/>
                </a:solidFill>
                <a:latin typeface="宋体" charset="0"/>
              </a:rPr>
              <a:t>，表示 </a:t>
            </a:r>
            <a:r>
              <a:rPr lang="en-US" altLang="zh-CN" sz="2400">
                <a:solidFill>
                  <a:srgbClr val="003399"/>
                </a:solidFill>
                <a:latin typeface="宋体" charset="0"/>
              </a:rPr>
              <a:t>T(n) </a:t>
            </a:r>
            <a:r>
              <a:rPr lang="zh-CN" altLang="en-US" sz="2400">
                <a:solidFill>
                  <a:srgbClr val="003399"/>
                </a:solidFill>
                <a:latin typeface="宋体" charset="0"/>
              </a:rPr>
              <a:t>增长严格慢于</a:t>
            </a:r>
            <a:r>
              <a:rPr lang="en-US" altLang="zh-CN" sz="2400">
                <a:solidFill>
                  <a:srgbClr val="003399"/>
                </a:solidFill>
                <a:latin typeface="宋体" charset="0"/>
              </a:rPr>
              <a:t>f(n)</a:t>
            </a:r>
            <a:r>
              <a:rPr lang="zh-CN" altLang="en-US" sz="2400">
                <a:solidFill>
                  <a:srgbClr val="003399"/>
                </a:solidFill>
                <a:latin typeface="宋体" charset="0"/>
              </a:rPr>
              <a:t>。</a:t>
            </a:r>
            <a:endParaRPr lang="zh-CN" altLang="en-US" sz="2400">
              <a:solidFill>
                <a:srgbClr val="003399"/>
              </a:solidFill>
              <a:latin typeface="宋体" charset="0"/>
            </a:endParaRPr>
          </a:p>
          <a:p>
            <a:pPr marL="457200" lvl="1" eaLnBrk="1" hangingPunct="1">
              <a:lnSpc>
                <a:spcPct val="120000"/>
              </a:lnSpc>
            </a:pPr>
            <a:r>
              <a:rPr lang="zh-CN" altLang="en-US" sz="2400">
                <a:solidFill>
                  <a:srgbClr val="003399"/>
                </a:solidFill>
                <a:latin typeface="宋体" charset="0"/>
              </a:rPr>
              <a:t>存在常数</a:t>
            </a:r>
            <a:r>
              <a:rPr lang="en-US" altLang="zh-CN" sz="2400">
                <a:solidFill>
                  <a:srgbClr val="003399"/>
                </a:solidFill>
                <a:latin typeface="宋体" charset="0"/>
              </a:rPr>
              <a:t>c</a:t>
            </a:r>
            <a:r>
              <a:rPr lang="zh-CN" altLang="en-US" sz="2400">
                <a:solidFill>
                  <a:srgbClr val="003399"/>
                </a:solidFill>
                <a:latin typeface="宋体" charset="0"/>
              </a:rPr>
              <a:t>，对于一般的</a:t>
            </a:r>
            <a:r>
              <a:rPr lang="en-US" altLang="zh-CN" sz="2400">
                <a:solidFill>
                  <a:srgbClr val="003399"/>
                </a:solidFill>
                <a:latin typeface="宋体" charset="0"/>
              </a:rPr>
              <a:t>n</a:t>
            </a:r>
            <a:r>
              <a:rPr lang="zh-CN" altLang="en-US" sz="2400">
                <a:solidFill>
                  <a:srgbClr val="003399"/>
                </a:solidFill>
                <a:latin typeface="宋体" charset="0"/>
              </a:rPr>
              <a:t>，有</a:t>
            </a:r>
            <a:r>
              <a:rPr lang="en-US" altLang="zh-CN" sz="2400">
                <a:solidFill>
                  <a:srgbClr val="003399"/>
                </a:solidFill>
                <a:latin typeface="宋体" charset="0"/>
              </a:rPr>
              <a:t>T(n)&lt;c·f(n)</a:t>
            </a:r>
            <a:endParaRPr lang="zh-CN" altLang="en-US" sz="2400">
              <a:solidFill>
                <a:srgbClr val="003399"/>
              </a:solidFill>
              <a:latin typeface="宋体" charset="0"/>
            </a:endParaRPr>
          </a:p>
          <a:p>
            <a:pPr marL="0" lvl="0" eaLnBrk="1" hangingPunct="1">
              <a:lnSpc>
                <a:spcPct val="120000"/>
              </a:lnSpc>
            </a:pPr>
            <a:r>
              <a:rPr lang="zh-CN" altLang="en-US" sz="2400">
                <a:solidFill>
                  <a:srgbClr val="003399"/>
                </a:solidFill>
                <a:latin typeface="宋体" charset="0"/>
              </a:rPr>
              <a:t>大</a:t>
            </a:r>
            <a:r>
              <a:rPr lang="en-US" altLang="zh-CN" sz="2400">
                <a:solidFill>
                  <a:srgbClr val="003399"/>
                </a:solidFill>
                <a:latin typeface="宋体" charset="0"/>
              </a:rPr>
              <a:t>O</a:t>
            </a:r>
            <a:r>
              <a:rPr lang="zh-CN" altLang="en-US" sz="2400">
                <a:solidFill>
                  <a:srgbClr val="003399"/>
                </a:solidFill>
                <a:latin typeface="宋体" charset="0"/>
              </a:rPr>
              <a:t>和小</a:t>
            </a:r>
            <a:r>
              <a:rPr lang="en-US" altLang="zh-CN" sz="2400">
                <a:solidFill>
                  <a:srgbClr val="003399"/>
                </a:solidFill>
                <a:latin typeface="宋体" charset="0"/>
              </a:rPr>
              <a:t>o</a:t>
            </a:r>
            <a:r>
              <a:rPr lang="zh-CN" altLang="en-US" sz="2400">
                <a:solidFill>
                  <a:srgbClr val="003399"/>
                </a:solidFill>
                <a:latin typeface="宋体" charset="0"/>
              </a:rPr>
              <a:t>的记法区别，类似于</a:t>
            </a:r>
            <a:r>
              <a:rPr lang="en-US" altLang="zh-CN" sz="2400">
                <a:solidFill>
                  <a:srgbClr val="003399"/>
                </a:solidFill>
                <a:latin typeface="宋体" charset="0"/>
              </a:rPr>
              <a:t>&lt;</a:t>
            </a:r>
            <a:r>
              <a:rPr lang="zh-CN" altLang="en-US" sz="2400">
                <a:solidFill>
                  <a:srgbClr val="003399"/>
                </a:solidFill>
                <a:latin typeface="宋体" charset="0"/>
              </a:rPr>
              <a:t>=和</a:t>
            </a:r>
            <a:r>
              <a:rPr lang="en-US" altLang="zh-CN" sz="2400">
                <a:solidFill>
                  <a:srgbClr val="003399"/>
                </a:solidFill>
                <a:latin typeface="宋体" charset="0"/>
              </a:rPr>
              <a:t>&lt;</a:t>
            </a:r>
            <a:r>
              <a:rPr lang="zh-CN" altLang="en-US" sz="2400">
                <a:solidFill>
                  <a:srgbClr val="003399"/>
                </a:solidFill>
                <a:latin typeface="宋体" charset="0"/>
              </a:rPr>
              <a:t>之间的区别。</a:t>
            </a:r>
            <a:endParaRPr lang="zh-CN" altLang="en-US" sz="2400">
              <a:solidFill>
                <a:srgbClr val="003399"/>
              </a:solidFill>
              <a:latin typeface="宋体" pitchFamily="2" charset="-122"/>
            </a:endParaRPr>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90204" pitchFamily="34" charset="0"/>
                <a:ea typeface="华文行楷" panose="02010800040101010101" charset="-122"/>
              </a:rPr>
              <a:t>大</a:t>
            </a:r>
            <a:r>
              <a:rPr lang="en-US" altLang="zh-CN" sz="3200">
                <a:solidFill>
                  <a:srgbClr val="800080"/>
                </a:solidFill>
                <a:latin typeface="Arial" panose="020B0604020202090204" pitchFamily="34" charset="0"/>
                <a:ea typeface="华文行楷" panose="02010800040101010101" charset="-122"/>
              </a:rPr>
              <a:t>O</a:t>
            </a:r>
            <a:r>
              <a:rPr lang="zh-CN" altLang="en-US" sz="3200">
                <a:solidFill>
                  <a:srgbClr val="800080"/>
                </a:solidFill>
                <a:latin typeface="Arial" panose="020B0604020202090204" pitchFamily="34" charset="0"/>
                <a:ea typeface="华文行楷" panose="02010800040101010101" charset="-122"/>
              </a:rPr>
              <a:t>的计算规则</a:t>
            </a:r>
            <a:endParaRPr lang="en-US" altLang="zh-CN" sz="3200">
              <a:solidFill>
                <a:srgbClr val="800080"/>
              </a:solidFill>
              <a:latin typeface="Arial" panose="020B0604020202090204" pitchFamily="34" charset="0"/>
              <a:ea typeface="华文行楷" panose="02010800040101010101" charset="-122"/>
            </a:endParaRPr>
          </a:p>
        </p:txBody>
      </p:sp>
      <mc:AlternateContent xmlns:mc="http://schemas.openxmlformats.org/markup-compatibility/2006">
        <mc:Choice xmlns:a14="http://schemas.microsoft.com/office/drawing/2010/main" Requires="a14">
          <p:sp>
            <p:nvSpPr>
              <p:cNvPr id="2" name="文本框 1"/>
              <p:cNvSpPr txBox="1"/>
              <p:nvPr/>
            </p:nvSpPr>
            <p:spPr>
              <a:xfrm>
                <a:off x="304800" y="1400810"/>
                <a:ext cx="9569450" cy="2178685"/>
              </a:xfrm>
              <a:prstGeom prst="rect">
                <a:avLst/>
              </a:prstGeom>
              <a:noFill/>
            </p:spPr>
            <p:txBody>
              <a:bodyPr wrap="square" rtlCol="0" anchor="t">
                <a:noAutofit/>
              </a:bodyPr>
              <a:p>
                <a:pPr marL="0" indent="0">
                  <a:buNone/>
                </a:pPr>
                <a:r>
                  <a:rPr lang="zh-CN" altLang="en-US" sz="2400" b="1">
                    <a:solidFill>
                      <a:srgbClr val="800080"/>
                    </a:solidFill>
                    <a:latin typeface="宋体" charset="0"/>
                    <a:ea typeface="楷体_GB2312" charset="0"/>
                    <a:sym typeface="+mn-ea"/>
                  </a:rPr>
                  <a:t>设算法的两部分时间复杂性分别为</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b="1">
                            <a:solidFill>
                              <a:srgbClr val="003399"/>
                            </a:solidFill>
                            <a:latin typeface="Cambria Math" panose="02040503050406030204" charset="0"/>
                            <a:ea typeface="楷体_GB2312" charset="0"/>
                            <a:cs typeface="Cambria Math" panose="02040503050406030204" charset="0"/>
                          </a:rPr>
                          <m:t>𝑇</m:t>
                        </m:r>
                      </m:e>
                      <m:sub>
                        <m:r>
                          <a:rPr lang="en-US" altLang="zh-CN" sz="2000" b="1">
                            <a:solidFill>
                              <a:srgbClr val="003399"/>
                            </a:solidFill>
                            <a:latin typeface="Cambria Math" panose="02040503050406030204" charset="0"/>
                            <a:ea typeface="MS Mincho" panose="02020609040205080304" charset="0"/>
                            <a:cs typeface="Cambria Math" panose="02040503050406030204" charset="0"/>
                          </a:rPr>
                          <m:t>1</m:t>
                        </m:r>
                      </m:sub>
                    </m:sSub>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𝑛</m:t>
                    </m:r>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𝑂</m:t>
                    </m:r>
                    <m:r>
                      <a:rPr lang="en-US" altLang="zh-CN" sz="2000" b="1">
                        <a:solidFill>
                          <a:srgbClr val="003399"/>
                        </a:solidFill>
                        <a:latin typeface="Cambria Math" panose="02040503050406030204" charset="0"/>
                        <a:ea typeface="MS Mincho" panose="02020609040205080304" charset="0"/>
                        <a:cs typeface="Cambria Math" panose="02040503050406030204" charset="0"/>
                      </a:rPr>
                      <m:t>(</m:t>
                    </m:r>
                    <m:sSub>
                      <m:sSubPr>
                        <m:ctrlPr>
                          <a:rPr lang="en-US" altLang="zh-CN" sz="2000" b="1">
                            <a:solidFill>
                              <a:srgbClr val="003399"/>
                            </a:solidFill>
                            <a:latin typeface="Cambria Math" panose="02040503050406030204" charset="0"/>
                            <a:ea typeface="楷体_GB2312" charset="0"/>
                            <a:cs typeface="Cambria Math" panose="02040503050406030204" charset="0"/>
                          </a:rPr>
                        </m:ctrlPr>
                      </m:sSubPr>
                      <m:e>
                        <m:r>
                          <a:rPr lang="en-US" altLang="zh-CN" sz="2000" b="1">
                            <a:solidFill>
                              <a:srgbClr val="003399"/>
                            </a:solidFill>
                            <a:latin typeface="Cambria Math" panose="02040503050406030204" charset="0"/>
                            <a:ea typeface="楷体_GB2312" charset="0"/>
                            <a:cs typeface="Cambria Math" panose="02040503050406030204" charset="0"/>
                          </a:rPr>
                          <m:t>𝑓</m:t>
                        </m:r>
                      </m:e>
                      <m:sub>
                        <m:r>
                          <a:rPr lang="en-US" altLang="zh-CN" sz="2000" b="1">
                            <a:solidFill>
                              <a:srgbClr val="003399"/>
                            </a:solidFill>
                            <a:latin typeface="Cambria Math" panose="02040503050406030204" charset="0"/>
                            <a:ea typeface="MS Mincho" panose="02020609040205080304" charset="0"/>
                            <a:cs typeface="Cambria Math" panose="02040503050406030204" charset="0"/>
                          </a:rPr>
                          <m:t>1</m:t>
                        </m:r>
                      </m:sub>
                    </m:sSub>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𝑛</m:t>
                    </m:r>
                    <m:r>
                      <a:rPr lang="en-US" altLang="zh-CN" sz="2000" b="1">
                        <a:solidFill>
                          <a:srgbClr val="003399"/>
                        </a:solidFill>
                        <a:latin typeface="Cambria Math" panose="02040503050406030204" charset="0"/>
                        <a:ea typeface="MS Mincho" panose="02020609040205080304" charset="0"/>
                        <a:cs typeface="Cambria Math" panose="02040503050406030204" charset="0"/>
                      </a:rPr>
                      <m:t>))</m:t>
                    </m:r>
                  </m:oMath>
                </a14:m>
                <a:r>
                  <a:rPr lang="en-US" altLang="zh-CN" sz="2000" b="1">
                    <a:solidFill>
                      <a:srgbClr val="003399"/>
                    </a:solidFill>
                    <a:latin typeface="宋体" charset="0"/>
                    <a:ea typeface="楷体_GB2312" charset="0"/>
                  </a:rPr>
                  <a:t>, </a:t>
                </a:r>
                <a14:m>
                  <m:oMath xmlns:m="http://schemas.openxmlformats.org/officeDocument/2006/math">
                    <m:sSub>
                      <m:sSubPr>
                        <m:ctrlPr>
                          <a:rPr lang="en-US" altLang="zh-CN" sz="2000" b="1">
                            <a:solidFill>
                              <a:srgbClr val="003399"/>
                            </a:solidFill>
                            <a:latin typeface="Cambria Math" panose="02040503050406030204" charset="0"/>
                            <a:ea typeface="楷体_GB2312" charset="0"/>
                            <a:cs typeface="Cambria Math" panose="02040503050406030204" charset="0"/>
                          </a:rPr>
                        </m:ctrlPr>
                      </m:sSubPr>
                      <m:e>
                        <m:r>
                          <a:rPr lang="en-US" altLang="zh-CN" sz="2000" b="1">
                            <a:solidFill>
                              <a:srgbClr val="003399"/>
                            </a:solidFill>
                            <a:latin typeface="Cambria Math" panose="02040503050406030204" charset="0"/>
                            <a:ea typeface="楷体_GB2312" charset="0"/>
                            <a:cs typeface="Cambria Math" panose="02040503050406030204" charset="0"/>
                          </a:rPr>
                          <m:t>𝑇</m:t>
                        </m:r>
                      </m:e>
                      <m:sub>
                        <m:r>
                          <a:rPr lang="en-US" altLang="zh-CN" sz="2000" b="1">
                            <a:solidFill>
                              <a:srgbClr val="003399"/>
                            </a:solidFill>
                            <a:latin typeface="Cambria Math" panose="02040503050406030204" charset="0"/>
                            <a:ea typeface="MS Mincho" panose="02020609040205080304" charset="0"/>
                            <a:cs typeface="Cambria Math" panose="02040503050406030204" charset="0"/>
                          </a:rPr>
                          <m:t>2</m:t>
                        </m:r>
                      </m:sub>
                    </m:sSub>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𝑛</m:t>
                    </m:r>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𝑂</m:t>
                    </m:r>
                    <m:r>
                      <a:rPr lang="en-US" altLang="zh-CN" sz="2000" b="1">
                        <a:solidFill>
                          <a:srgbClr val="003399"/>
                        </a:solidFill>
                        <a:latin typeface="Cambria Math" panose="02040503050406030204" charset="0"/>
                        <a:ea typeface="MS Mincho" panose="02020609040205080304" charset="0"/>
                        <a:cs typeface="Cambria Math" panose="02040503050406030204" charset="0"/>
                      </a:rPr>
                      <m:t>(</m:t>
                    </m:r>
                    <m:sSub>
                      <m:sSubPr>
                        <m:ctrlPr>
                          <a:rPr lang="en-US" altLang="zh-CN" sz="2000" b="1">
                            <a:solidFill>
                              <a:srgbClr val="003399"/>
                            </a:solidFill>
                            <a:latin typeface="Cambria Math" panose="02040503050406030204" charset="0"/>
                            <a:ea typeface="楷体_GB2312" charset="0"/>
                            <a:cs typeface="Cambria Math" panose="02040503050406030204" charset="0"/>
                          </a:rPr>
                        </m:ctrlPr>
                      </m:sSubPr>
                      <m:e>
                        <m:r>
                          <a:rPr lang="en-US" altLang="zh-CN" sz="2000" b="1">
                            <a:solidFill>
                              <a:srgbClr val="003399"/>
                            </a:solidFill>
                            <a:latin typeface="Cambria Math" panose="02040503050406030204" charset="0"/>
                            <a:ea typeface="楷体_GB2312" charset="0"/>
                            <a:cs typeface="Cambria Math" panose="02040503050406030204" charset="0"/>
                          </a:rPr>
                          <m:t>𝑓</m:t>
                        </m:r>
                      </m:e>
                      <m:sub>
                        <m:r>
                          <a:rPr lang="en-US" altLang="zh-CN" sz="2000" b="1">
                            <a:solidFill>
                              <a:srgbClr val="003399"/>
                            </a:solidFill>
                            <a:latin typeface="Cambria Math" panose="02040503050406030204" charset="0"/>
                            <a:ea typeface="MS Mincho" panose="02020609040205080304" charset="0"/>
                            <a:cs typeface="Cambria Math" panose="02040503050406030204" charset="0"/>
                          </a:rPr>
                          <m:t>2</m:t>
                        </m:r>
                      </m:sub>
                    </m:sSub>
                    <m:r>
                      <a:rPr lang="en-US" altLang="zh-CN" sz="2000" b="1">
                        <a:solidFill>
                          <a:srgbClr val="003399"/>
                        </a:solidFill>
                        <a:latin typeface="Cambria Math" panose="02040503050406030204" charset="0"/>
                        <a:ea typeface="MS Mincho" panose="02020609040205080304" charset="0"/>
                        <a:cs typeface="Cambria Math" panose="02040503050406030204" charset="0"/>
                      </a:rPr>
                      <m:t>(</m:t>
                    </m:r>
                    <m:r>
                      <a:rPr lang="en-US" altLang="zh-CN" sz="2000" b="1">
                        <a:solidFill>
                          <a:srgbClr val="003399"/>
                        </a:solidFill>
                        <a:latin typeface="Cambria Math" panose="02040503050406030204" charset="0"/>
                        <a:ea typeface="楷体_GB2312" charset="0"/>
                        <a:cs typeface="Cambria Math" panose="02040503050406030204" charset="0"/>
                      </a:rPr>
                      <m:t>𝑛</m:t>
                    </m:r>
                    <m:r>
                      <a:rPr lang="en-US" altLang="zh-CN" sz="2000" i="1">
                        <a:solidFill>
                          <a:srgbClr val="003399"/>
                        </a:solidFill>
                        <a:latin typeface="Cambria Math" panose="02040503050406030204" charset="0"/>
                        <a:cs typeface="Cambria Math" panose="02040503050406030204" charset="0"/>
                      </a:rPr>
                      <m:t>))</m:t>
                    </m:r>
                  </m:oMath>
                </a14:m>
                <a:endParaRPr lang="en-US" altLang="zh-CN" sz="2000">
                  <a:solidFill>
                    <a:srgbClr val="003399"/>
                  </a:solidFill>
                  <a:latin typeface="Cambria Math" panose="02040503050406030204" charset="0"/>
                  <a:cs typeface="Cambria Math" panose="02040503050406030204"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04800" y="1400810"/>
                <a:ext cx="9569450" cy="217868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460" name="Text Box 65"/>
              <p:cNvSpPr txBox="1">
                <a:spLocks noChangeArrowheads="1"/>
              </p:cNvSpPr>
              <p:nvPr/>
            </p:nvSpPr>
            <p:spPr bwMode="auto">
              <a:xfrm>
                <a:off x="446076" y="1942787"/>
                <a:ext cx="8251825" cy="412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eaLnBrk="1" hangingPunct="1">
                  <a:lnSpc>
                    <a:spcPct val="120000"/>
                  </a:lnSpc>
                </a:pPr>
                <a:r>
                  <a:rPr lang="zh-CN" altLang="en-US" sz="2400">
                    <a:solidFill>
                      <a:srgbClr val="003399"/>
                    </a:solidFill>
                    <a:latin typeface="宋体" pitchFamily="2" charset="-122"/>
                  </a:rPr>
                  <a:t> 加法规则：</a:t>
                </a:r>
                <a:endParaRPr lang="zh-CN" altLang="en-US" sz="2400">
                  <a:solidFill>
                    <a:srgbClr val="003399"/>
                  </a:solidFill>
                  <a:latin typeface="宋体" pitchFamily="2" charset="-122"/>
                </a:endParaRPr>
              </a:p>
              <a:p>
                <a:pPr marL="457200" lvl="1" eaLnBrk="1" hangingPunct="1">
                  <a:lnSpc>
                    <a:spcPct val="120000"/>
                  </a:lnSpc>
                </a:pPr>
                <a14:m>
                  <m:oMath xmlns:m="http://schemas.openxmlformats.org/officeDocument/2006/math">
                    <m:r>
                      <a:rPr lang="en-US" altLang="zh-CN" sz="2400" i="1">
                        <a:latin typeface="Cambria Math" panose="02040503050406030204" charset="0"/>
                        <a:cs typeface="Cambria Math" panose="02040503050406030204" charset="0"/>
                      </a:rPr>
                      <m:t>𝑇</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𝑇</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𝑇</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𝑚𝑎𝑥</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𝑓</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𝑓</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oMath>
                </a14:m>
                <a:endParaRPr lang="zh-CN" altLang="en-US" sz="2400">
                  <a:solidFill>
                    <a:srgbClr val="003399"/>
                  </a:solidFill>
                  <a:latin typeface="宋体" pitchFamily="2" charset="-122"/>
                </a:endParaRPr>
              </a:p>
              <a:p>
                <a:pPr marL="0" lvl="0" eaLnBrk="1" hangingPunct="1">
                  <a:lnSpc>
                    <a:spcPct val="120000"/>
                  </a:lnSpc>
                </a:pPr>
                <a:r>
                  <a:rPr lang="zh-CN" altLang="en-US" sz="2400">
                    <a:solidFill>
                      <a:srgbClr val="003399"/>
                    </a:solidFill>
                    <a:latin typeface="宋体" charset="0"/>
                  </a:rPr>
                  <a:t>乘法规则：</a:t>
                </a:r>
                <a:endParaRPr lang="zh-CN" altLang="en-US" sz="2400">
                  <a:solidFill>
                    <a:srgbClr val="003399"/>
                  </a:solidFill>
                  <a:latin typeface="宋体" charset="0"/>
                </a:endParaRPr>
              </a:p>
              <a:p>
                <a:pPr marL="457200" lvl="1" eaLnBrk="1" hangingPunct="1">
                  <a:lnSpc>
                    <a:spcPct val="120000"/>
                  </a:lnSpc>
                </a:pPr>
                <a14:m>
                  <m:oMath xmlns:m="http://schemas.openxmlformats.org/officeDocument/2006/math">
                    <m:r>
                      <a:rPr lang="en-US" altLang="zh-CN" sz="2400" i="1">
                        <a:latin typeface="Cambria Math" panose="02040503050406030204" charset="0"/>
                        <a:cs typeface="Cambria Math" panose="02040503050406030204" charset="0"/>
                      </a:rPr>
                      <m:t>𝑇</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𝑇</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𝑇</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𝑓</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𝑓</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oMath>
                </a14:m>
                <a:endParaRPr lang="zh-CN" altLang="en-US" sz="2400">
                  <a:solidFill>
                    <a:srgbClr val="003399"/>
                  </a:solidFill>
                  <a:latin typeface="宋体" charset="0"/>
                </a:endParaRPr>
              </a:p>
              <a:p>
                <a:pPr marL="0" lvl="0" eaLnBrk="1" hangingPunct="1">
                  <a:lnSpc>
                    <a:spcPct val="120000"/>
                  </a:lnSpc>
                </a:pPr>
                <a:r>
                  <a:rPr lang="zh-CN" altLang="en-US" sz="2400">
                    <a:solidFill>
                      <a:srgbClr val="003399"/>
                    </a:solidFill>
                    <a:latin typeface="宋体" pitchFamily="2" charset="-122"/>
                  </a:rPr>
                  <a:t>对含有量级的等价式进行操作的规则还有：</a:t>
                </a:r>
                <a:endParaRPr lang="zh-CN" altLang="en-US" sz="2400">
                  <a:solidFill>
                    <a:srgbClr val="003399"/>
                  </a:solidFill>
                  <a:latin typeface="宋体" pitchFamily="2" charset="-122"/>
                </a:endParaRPr>
              </a:p>
              <a:p>
                <a:pPr marL="457200" lvl="1" eaLnBrk="1" hangingPunct="1">
                  <a:lnSpc>
                    <a:spcPct val="120000"/>
                  </a:lnSpc>
                </a:pPr>
                <a14:m>
                  <m:oMath xmlns:m="http://schemas.openxmlformats.org/officeDocument/2006/math">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pPr marL="457200" lvl="1" eaLnBrk="1" hangingPunct="1">
                  <a:lnSpc>
                    <a:spcPct val="120000"/>
                  </a:lnSpc>
                </a:pPr>
                <a14:m>
                  <m:oMath xmlns:m="http://schemas.openxmlformats.org/officeDocument/2006/math">
                    <m:r>
                      <a:rPr lang="en-US" altLang="zh-CN" sz="2400" i="1">
                        <a:latin typeface="Cambria Math" panose="02040503050406030204" charset="0"/>
                        <a:cs typeface="Cambria Math" panose="02040503050406030204" charset="0"/>
                      </a:rPr>
                      <m:t>𝑘</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pPr marL="457200" lvl="1" eaLnBrk="1" hangingPunct="1">
                  <a:lnSpc>
                    <a:spcPct val="120000"/>
                  </a:lnSpc>
                </a:pPr>
                <a14:m>
                  <m:oMath xmlns:m="http://schemas.openxmlformats.org/officeDocument/2006/math">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𝑂</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𝑓</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𝑛</m:t>
                    </m:r>
                    <m:r>
                      <a:rPr lang="en-US" altLang="zh-CN" sz="2400" i="1">
                        <a:latin typeface="Cambria Math" panose="02040503050406030204" charset="0"/>
                        <a:cs typeface="Cambria Math" panose="02040503050406030204" charset="0"/>
                      </a:rPr>
                      <m:t>))</m:t>
                    </m:r>
                  </m:oMath>
                </a14:m>
                <a:endParaRPr lang="zh-CN" altLang="en-US" sz="2400">
                  <a:solidFill>
                    <a:srgbClr val="003399"/>
                  </a:solidFill>
                  <a:latin typeface="宋体" pitchFamily="2" charset="-122"/>
                </a:endParaRPr>
              </a:p>
            </p:txBody>
          </p:sp>
        </mc:Choice>
        <mc:Fallback>
          <p:sp>
            <p:nvSpPr>
              <p:cNvPr id="19460" name="Text Box 65"/>
              <p:cNvSpPr txBox="1">
                <a:spLocks noRot="1" noChangeAspect="1" noMove="1" noResize="1" noEditPoints="1" noAdjustHandles="1" noChangeArrowheads="1" noChangeShapeType="1" noTextEdit="1"/>
              </p:cNvSpPr>
              <p:nvPr/>
            </p:nvSpPr>
            <p:spPr bwMode="auto">
              <a:xfrm>
                <a:off x="446076" y="1942787"/>
                <a:ext cx="8251825" cy="4120262"/>
              </a:xfrm>
              <a:prstGeom prst="rect">
                <a:avLst/>
              </a:prstGeom>
              <a:blipFill rotWithShape="1">
                <a:blip r:embed="rId2"/>
                <a:stretch>
                  <a:fillRect l="-4" t="-8" r="4" b="-94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en-US" altLang="zh-CN" sz="3200">
                <a:solidFill>
                  <a:srgbClr val="800080"/>
                </a:solidFill>
                <a:latin typeface="Arial" panose="020B0604020202090204" pitchFamily="34" charset="0"/>
                <a:ea typeface="华文行楷" panose="02010800040101010101" charset="-122"/>
              </a:rPr>
              <a:t>P</a:t>
            </a:r>
            <a:r>
              <a:rPr lang="zh-CN" altLang="en-US" sz="3200">
                <a:solidFill>
                  <a:srgbClr val="800080"/>
                </a:solidFill>
                <a:latin typeface="Arial" panose="020B0604020202090204" pitchFamily="34" charset="0"/>
                <a:ea typeface="华文行楷" panose="02010800040101010101" charset="-122"/>
              </a:rPr>
              <a:t>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518795"/>
          </a:xfrm>
          <a:prstGeom prst="rect">
            <a:avLst/>
          </a:prstGeom>
          <a:noFill/>
        </p:spPr>
        <p:txBody>
          <a:bodyPr wrap="square" rtlCol="0" anchor="t">
            <a:noAutofit/>
          </a:bodyPr>
          <a:p>
            <a:pPr marL="0" indent="0">
              <a:buNone/>
            </a:pPr>
            <a:r>
              <a:rPr lang="en-US" altLang="zh-CN" sz="2400" b="1">
                <a:solidFill>
                  <a:srgbClr val="800080"/>
                </a:solidFill>
                <a:ea typeface="华文行楷" panose="02010800040101010101" charset="-122"/>
                <a:sym typeface="+mn-ea"/>
              </a:rPr>
              <a:t>P</a:t>
            </a:r>
            <a:r>
              <a:rPr lang="zh-CN" altLang="en-US" sz="2400" b="1">
                <a:solidFill>
                  <a:srgbClr val="800080"/>
                </a:solidFill>
                <a:ea typeface="华文行楷" panose="02010800040101010101" charset="-122"/>
                <a:sym typeface="+mn-ea"/>
              </a:rPr>
              <a:t>问题:  </a:t>
            </a:r>
            <a:r>
              <a:rPr lang="en-US" altLang="zh-CN" sz="2400" b="1">
                <a:solidFill>
                  <a:srgbClr val="333399"/>
                </a:solidFill>
                <a:ea typeface="华文行楷" panose="02010800040101010101" charset="-122"/>
                <a:sym typeface="+mn-ea"/>
              </a:rPr>
              <a:t>P</a:t>
            </a:r>
            <a:r>
              <a:rPr lang="zh-CN" altLang="en-US" sz="2400" b="1">
                <a:solidFill>
                  <a:srgbClr val="333399"/>
                </a:solidFill>
                <a:ea typeface="华文行楷" panose="02010800040101010101" charset="-122"/>
                <a:sym typeface="+mn-ea"/>
              </a:rPr>
              <a:t>是确定型图灵机在多项式时间内可判定的语言类</a:t>
            </a:r>
            <a:endParaRPr lang="zh-CN" altLang="en-US" sz="2400" b="1">
              <a:solidFill>
                <a:srgbClr val="333399"/>
              </a:solidFill>
              <a:ea typeface="华文行楷" panose="02010800040101010101" charset="-122"/>
              <a:sym typeface="+mn-ea"/>
            </a:endParaRPr>
          </a:p>
        </p:txBody>
      </p:sp>
      <p:sp>
        <p:nvSpPr>
          <p:cNvPr id="3" name="文本框 2"/>
          <p:cNvSpPr txBox="1"/>
          <p:nvPr/>
        </p:nvSpPr>
        <p:spPr>
          <a:xfrm>
            <a:off x="525548" y="1839567"/>
            <a:ext cx="7815842" cy="952350"/>
          </a:xfrm>
          <a:prstGeom prst="rect">
            <a:avLst/>
          </a:prstGeom>
          <a:noFill/>
          <a:ln>
            <a:noFill/>
          </a:ln>
        </p:spPr>
        <p:txBody>
          <a:bodyPr wrap="square" anchor="t">
            <a:noAutofit/>
          </a:bodyPr>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400" b="1">
                <a:solidFill>
                  <a:srgbClr val="003399"/>
                </a:solidFill>
                <a:latin typeface="宋体" charset="0"/>
                <a:ea typeface="楷体_GB2312" charset="0"/>
              </a:rPr>
              <a:t>一个问题是 </a:t>
            </a:r>
            <a:r>
              <a:rPr lang="en-US" altLang="zh-CN" sz="2400" b="1">
                <a:solidFill>
                  <a:srgbClr val="003399"/>
                </a:solidFill>
                <a:latin typeface="宋体" charset="0"/>
                <a:ea typeface="楷体_GB2312" charset="0"/>
              </a:rPr>
              <a:t>P </a:t>
            </a:r>
            <a:r>
              <a:rPr lang="zh-CN" altLang="en-US" sz="2400" b="1">
                <a:solidFill>
                  <a:srgbClr val="003399"/>
                </a:solidFill>
                <a:latin typeface="宋体" charset="0"/>
                <a:ea typeface="楷体_GB2312" charset="0"/>
              </a:rPr>
              <a:t>类问题，意味着可以找到一个算法，在计算机上只执行多项式次计算就可以解决它。</a:t>
            </a:r>
            <a:endParaRPr lang="zh-CN" altLang="en-US" sz="2400" b="1">
              <a:solidFill>
                <a:srgbClr val="003399"/>
              </a:solidFill>
              <a:latin typeface="宋体" charset="0"/>
              <a:ea typeface="楷体_GB2312" charset="0"/>
            </a:endParaRPr>
          </a:p>
        </p:txBody>
      </p:sp>
      <p:sp>
        <p:nvSpPr>
          <p:cNvPr id="4" name="文本框 3"/>
          <p:cNvSpPr txBox="1"/>
          <p:nvPr/>
        </p:nvSpPr>
        <p:spPr>
          <a:xfrm>
            <a:off x="1007423" y="2868760"/>
            <a:ext cx="7334027" cy="3608812"/>
          </a:xfrm>
          <a:prstGeom prst="rect">
            <a:avLst/>
          </a:prstGeom>
          <a:noFill/>
        </p:spPr>
        <p:txBody>
          <a:bodyPr wrap="square" rtlCol="0" anchor="t">
            <a:noAutofit/>
          </a:bodyPr>
          <a:p>
            <a:r>
              <a:rPr lang="zh-CN" altLang="en-US" sz="2000" b="1">
                <a:solidFill>
                  <a:srgbClr val="003399"/>
                </a:solidFill>
                <a:latin typeface="宋体" charset="0"/>
                <a:ea typeface="楷体_GB2312" charset="0"/>
              </a:rPr>
              <a:t>例</a:t>
            </a:r>
            <a:r>
              <a:rPr lang="en-US" altLang="zh-CN" sz="2000" b="1">
                <a:solidFill>
                  <a:srgbClr val="003399"/>
                </a:solidFill>
                <a:latin typeface="宋体" charset="0"/>
                <a:ea typeface="楷体_GB2312" charset="0"/>
                <a:cs typeface="Arial" panose="020B0604020202090204" pitchFamily="34" charset="0"/>
              </a:rPr>
              <a:t>1</a:t>
            </a:r>
            <a:r>
              <a:rPr lang="zh-CN" altLang="en-US" sz="2000" b="1">
                <a:solidFill>
                  <a:srgbClr val="003399"/>
                </a:solidFill>
                <a:latin typeface="宋体" charset="0"/>
                <a:ea typeface="楷体_GB2312" charset="0"/>
              </a:rPr>
              <a:t> 下面是两个</a:t>
            </a:r>
            <a:r>
              <a:rPr lang="en-US" altLang="zh-CN" sz="2000" b="1">
                <a:solidFill>
                  <a:srgbClr val="003399"/>
                </a:solidFill>
                <a:latin typeface="宋体" charset="0"/>
                <a:ea typeface="楷体_GB2312" charset="0"/>
              </a:rPr>
              <a:t>n×n   </a:t>
            </a:r>
            <a:r>
              <a:rPr lang="zh-CN" altLang="en-US" sz="2000" b="1">
                <a:solidFill>
                  <a:srgbClr val="003399"/>
                </a:solidFill>
                <a:latin typeface="宋体" charset="0"/>
                <a:ea typeface="楷体_GB2312" charset="0"/>
              </a:rPr>
              <a:t>矩阵相乘的算法语句，每行最右面表明该行语句执行的次数。</a:t>
            </a:r>
            <a:endParaRPr lang="zh-CN" altLang="en-US" sz="2000" b="1">
              <a:solidFill>
                <a:srgbClr val="003399"/>
              </a:solidFill>
              <a:latin typeface="宋体" charset="0"/>
              <a:ea typeface="楷体_GB2312" charset="0"/>
            </a:endParaRPr>
          </a:p>
          <a:p>
            <a:pPr marL="914400" lvl="2"/>
            <a:r>
              <a:rPr lang="en-US" altLang="zh-CN" sz="1600" b="1">
                <a:solidFill>
                  <a:srgbClr val="003399"/>
                </a:solidFill>
                <a:latin typeface="宋体" charset="0"/>
                <a:ea typeface="楷体_GB2312" charset="0"/>
              </a:rPr>
              <a:t>FOR  i=1  TO  n  DO                                                              n+1</a:t>
            </a:r>
            <a:endParaRPr lang="en-US" altLang="zh-CN" sz="1600" b="1">
              <a:solidFill>
                <a:srgbClr val="003399"/>
              </a:solidFill>
              <a:latin typeface="宋体" charset="0"/>
              <a:ea typeface="楷体_GB2312" charset="0"/>
            </a:endParaRPr>
          </a:p>
          <a:p>
            <a:pPr marL="914400" lvl="2" indent="457200"/>
            <a:r>
              <a:rPr lang="en-US" altLang="zh-CN" sz="1600" b="1">
                <a:solidFill>
                  <a:srgbClr val="003399"/>
                </a:solidFill>
                <a:latin typeface="宋体" charset="0"/>
                <a:ea typeface="楷体_GB2312" charset="0"/>
              </a:rPr>
              <a:t>FOR j=1  TO   n   DO                                                    n(n+1)</a:t>
            </a:r>
            <a:endParaRPr lang="en-US" altLang="zh-CN" sz="1600" b="1">
              <a:solidFill>
                <a:srgbClr val="003399"/>
              </a:solidFill>
              <a:latin typeface="宋体" charset="0"/>
              <a:ea typeface="楷体_GB2312" charset="0"/>
            </a:endParaRPr>
          </a:p>
          <a:p>
            <a:pPr marL="1371600" lvl="3" indent="457200"/>
            <a:r>
              <a:rPr lang="en-US" altLang="zh-CN" sz="1600" b="1">
                <a:solidFill>
                  <a:srgbClr val="003399"/>
                </a:solidFill>
                <a:latin typeface="宋体" charset="0"/>
                <a:ea typeface="楷体_GB2312" charset="0"/>
              </a:rPr>
              <a:t>BEGIN</a:t>
            </a:r>
            <a:endParaRPr lang="en-US" altLang="zh-CN" sz="1600" b="1">
              <a:solidFill>
                <a:srgbClr val="003399"/>
              </a:solidFill>
              <a:latin typeface="宋体" charset="0"/>
              <a:ea typeface="楷体_GB2312" charset="0"/>
            </a:endParaRPr>
          </a:p>
          <a:p>
            <a:pPr marL="1828800" lvl="4" indent="457200"/>
            <a:r>
              <a:rPr lang="en-US" altLang="zh-CN" sz="1600" b="1">
                <a:solidFill>
                  <a:srgbClr val="003399"/>
                </a:solidFill>
                <a:latin typeface="宋体" charset="0"/>
                <a:ea typeface="楷体_GB2312" charset="0"/>
              </a:rPr>
              <a:t>C[i,j]:=0;                                                      n²</a:t>
            </a:r>
            <a:endParaRPr lang="en-US" altLang="zh-CN" sz="1600" b="1">
              <a:solidFill>
                <a:srgbClr val="003399"/>
              </a:solidFill>
              <a:latin typeface="宋体" charset="0"/>
              <a:ea typeface="楷体_GB2312" charset="0"/>
            </a:endParaRPr>
          </a:p>
          <a:p>
            <a:pPr marL="2286000" lvl="5" indent="457200"/>
            <a:r>
              <a:rPr lang="en-US" altLang="zh-CN" sz="1600" b="1">
                <a:solidFill>
                  <a:srgbClr val="003399"/>
                </a:solidFill>
                <a:latin typeface="宋体" charset="0"/>
                <a:ea typeface="楷体_GB2312" charset="0"/>
              </a:rPr>
              <a:t>FOR   k=1   TO  n  DO                       n²(n+1)</a:t>
            </a:r>
            <a:endParaRPr lang="en-US" altLang="zh-CN" sz="1600" b="1">
              <a:solidFill>
                <a:srgbClr val="003399"/>
              </a:solidFill>
              <a:latin typeface="宋体" charset="0"/>
              <a:ea typeface="楷体_GB2312" charset="0"/>
            </a:endParaRPr>
          </a:p>
          <a:p>
            <a:pPr marL="2743200" lvl="6" indent="457200"/>
            <a:r>
              <a:rPr lang="en-US" altLang="zh-CN" sz="1600" b="1">
                <a:solidFill>
                  <a:srgbClr val="003399"/>
                </a:solidFill>
                <a:latin typeface="宋体" charset="0"/>
                <a:ea typeface="楷体_GB2312" charset="0"/>
              </a:rPr>
              <a:t>C[i,j]:=C[i,j]+A[i,k]*B[k,j]         n³</a:t>
            </a:r>
            <a:endParaRPr lang="en-US" altLang="zh-CN" sz="1600" b="1">
              <a:solidFill>
                <a:srgbClr val="003399"/>
              </a:solidFill>
              <a:latin typeface="宋体" charset="0"/>
              <a:ea typeface="楷体_GB2312" charset="0"/>
            </a:endParaRPr>
          </a:p>
          <a:p>
            <a:pPr marL="1371600" lvl="3" indent="457200"/>
            <a:r>
              <a:rPr lang="en-US" altLang="zh-CN" sz="1600" b="1">
                <a:solidFill>
                  <a:srgbClr val="003399"/>
                </a:solidFill>
                <a:latin typeface="宋体" charset="0"/>
                <a:ea typeface="楷体_GB2312" charset="0"/>
              </a:rPr>
              <a:t>END;</a:t>
            </a:r>
            <a:endParaRPr lang="en-US" altLang="zh-CN" sz="1600" b="1">
              <a:solidFill>
                <a:srgbClr val="003399"/>
              </a:solidFill>
              <a:latin typeface="宋体" charset="0"/>
              <a:ea typeface="楷体_GB2312" charset="0"/>
            </a:endParaRPr>
          </a:p>
          <a:p>
            <a:pPr marL="1371600" lvl="3" indent="457200"/>
            <a:endParaRPr lang="en-US" altLang="zh-CN" sz="1600" b="1">
              <a:solidFill>
                <a:srgbClr val="003399"/>
              </a:solidFill>
              <a:latin typeface="宋体" charset="0"/>
              <a:ea typeface="楷体_GB2312" charset="0"/>
            </a:endParaRPr>
          </a:p>
          <a:p>
            <a:r>
              <a:rPr lang="zh-CN" altLang="en-US" sz="2000" b="1">
                <a:solidFill>
                  <a:srgbClr val="003399"/>
                </a:solidFill>
                <a:latin typeface="宋体" charset="0"/>
                <a:ea typeface="楷体_GB2312" charset="0"/>
              </a:rPr>
              <a:t>整个程序中所有语句的执行次数之和为</a:t>
            </a:r>
            <a:endParaRPr lang="en-US" altLang="zh-CN" sz="2000" b="1">
              <a:solidFill>
                <a:srgbClr val="003399"/>
              </a:solidFill>
              <a:latin typeface="宋体" charset="0"/>
              <a:ea typeface="楷体_GB2312" charset="0"/>
            </a:endParaRPr>
          </a:p>
          <a:p>
            <a:pPr algn="ctr"/>
            <a:r>
              <a:rPr lang="en-US" altLang="zh-CN" sz="2000" b="1">
                <a:solidFill>
                  <a:srgbClr val="003399"/>
                </a:solidFill>
                <a:latin typeface="宋体" charset="0"/>
                <a:ea typeface="楷体_GB2312" charset="0"/>
              </a:rPr>
              <a:t>T(n)=2n³+3n²+2n+1</a:t>
            </a:r>
            <a:endParaRPr lang="en-US" altLang="zh-CN" sz="2000" b="1">
              <a:solidFill>
                <a:srgbClr val="003399"/>
              </a:solidFill>
              <a:latin typeface="宋体" charset="0"/>
              <a:ea typeface="楷体_GB2312" charset="0"/>
            </a:endParaRPr>
          </a:p>
          <a:p>
            <a:r>
              <a:rPr lang="zh-CN" altLang="en-US" sz="2000" b="1">
                <a:solidFill>
                  <a:srgbClr val="003399"/>
                </a:solidFill>
                <a:latin typeface="宋体" charset="0"/>
                <a:ea typeface="楷体_GB2312" charset="0"/>
              </a:rPr>
              <a:t>其时间复杂度 </a:t>
            </a:r>
            <a:r>
              <a:rPr lang="en-US" altLang="zh-CN" sz="2000" b="1">
                <a:solidFill>
                  <a:srgbClr val="003399"/>
                </a:solidFill>
                <a:latin typeface="宋体" charset="0"/>
                <a:ea typeface="楷体_GB2312" charset="0"/>
              </a:rPr>
              <a:t>T(n)=O(n³)。</a:t>
            </a:r>
            <a:endParaRPr lang="zh-CN" altLang="en-US" sz="2000" b="1">
              <a:solidFill>
                <a:srgbClr val="003399"/>
              </a:solidFill>
              <a:latin typeface="宋体" charset="0"/>
              <a:ea typeface="楷体_GB2312" charset="0"/>
            </a:endParaRPr>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xfrm>
            <a:off x="7620000" y="6400800"/>
            <a:ext cx="1524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en-US" altLang="zh-CN" sz="3200">
                <a:solidFill>
                  <a:srgbClr val="800080"/>
                </a:solidFill>
                <a:latin typeface="Arial" panose="020B0604020202090204" pitchFamily="34" charset="0"/>
                <a:ea typeface="华文行楷" panose="02010800040101010101" charset="-122"/>
              </a:rPr>
              <a:t>NP</a:t>
            </a:r>
            <a:r>
              <a:rPr lang="zh-CN" altLang="en-US" sz="3200">
                <a:solidFill>
                  <a:srgbClr val="800080"/>
                </a:solidFill>
                <a:latin typeface="Arial" panose="020B0604020202090204" pitchFamily="34" charset="0"/>
                <a:ea typeface="华文行楷" panose="02010800040101010101" charset="-122"/>
              </a:rPr>
              <a:t>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475867"/>
          </a:xfrm>
          <a:prstGeom prst="rect">
            <a:avLst/>
          </a:prstGeom>
          <a:noFill/>
        </p:spPr>
        <p:txBody>
          <a:bodyPr wrap="square" rtlCol="0" anchor="t">
            <a:noAutofit/>
          </a:bodyPr>
          <a:p>
            <a:pPr marL="0" indent="0">
              <a:buNone/>
            </a:pPr>
            <a:r>
              <a:rPr lang="en-US" altLang="zh-CN" sz="2400" b="1">
                <a:solidFill>
                  <a:srgbClr val="800080"/>
                </a:solidFill>
                <a:ea typeface="华文行楷" panose="02010800040101010101" charset="-122"/>
                <a:sym typeface="+mn-ea"/>
              </a:rPr>
              <a:t>NP</a:t>
            </a:r>
            <a:r>
              <a:rPr lang="zh-CN" altLang="en-US" sz="2400" b="1">
                <a:solidFill>
                  <a:srgbClr val="800080"/>
                </a:solidFill>
                <a:ea typeface="华文行楷" panose="02010800040101010101" charset="-122"/>
                <a:sym typeface="+mn-ea"/>
              </a:rPr>
              <a:t>问题:  </a:t>
            </a:r>
            <a:r>
              <a:rPr lang="zh-CN" altLang="en-US" sz="2400" b="1">
                <a:solidFill>
                  <a:srgbClr val="333399"/>
                </a:solidFill>
                <a:ea typeface="华文行楷" panose="02010800040101010101" charset="-122"/>
                <a:sym typeface="+mn-ea"/>
              </a:rPr>
              <a:t>指在非确定型图灵机上多项式时间内可计算的问题。</a:t>
            </a:r>
            <a:endParaRPr lang="zh-CN" altLang="en-US" sz="2400" b="1">
              <a:solidFill>
                <a:srgbClr val="333399"/>
              </a:solidFill>
              <a:ea typeface="华文行楷" panose="02010800040101010101" charset="-122"/>
              <a:sym typeface="+mn-ea"/>
            </a:endParaRPr>
          </a:p>
          <a:p>
            <a:pPr marL="0" indent="0">
              <a:buNone/>
            </a:pPr>
            <a:endParaRPr lang="zh-CN" altLang="en-US" sz="2400" b="1">
              <a:solidFill>
                <a:srgbClr val="333399"/>
              </a:solidFill>
              <a:ea typeface="华文行楷" panose="02010800040101010101" charset="-122"/>
              <a:sym typeface="+mn-ea"/>
            </a:endParaRPr>
          </a:p>
          <a:p>
            <a:pPr marL="0" indent="0">
              <a:buNone/>
            </a:pPr>
            <a:endParaRPr lang="zh-CN" altLang="en-US" sz="2400" b="1">
              <a:solidFill>
                <a:srgbClr val="333399"/>
              </a:solidFill>
              <a:ea typeface="华文行楷" panose="02010800040101010101" charset="-122"/>
              <a:sym typeface="+mn-ea"/>
            </a:endParaRPr>
          </a:p>
        </p:txBody>
      </p:sp>
      <p:sp>
        <p:nvSpPr>
          <p:cNvPr id="3" name="文本框 2"/>
          <p:cNvSpPr txBox="1"/>
          <p:nvPr/>
        </p:nvSpPr>
        <p:spPr>
          <a:xfrm>
            <a:off x="74883" y="1968460"/>
            <a:ext cx="8597900" cy="518795"/>
          </a:xfrm>
          <a:prstGeom prst="rect">
            <a:avLst/>
          </a:prstGeom>
          <a:noFill/>
        </p:spPr>
        <p:txBody>
          <a:bodyPr wrap="square" rtlCol="0" anchor="t">
            <a:noAutofit/>
          </a:bodyPr>
          <a:p>
            <a:pPr marL="0" indent="0">
              <a:buNone/>
            </a:pPr>
            <a:r>
              <a:rPr lang="en-US" altLang="zh-CN" sz="2400" b="1">
                <a:solidFill>
                  <a:srgbClr val="800080"/>
                </a:solidFill>
                <a:ea typeface="华文行楷" panose="02010800040101010101" charset="-122"/>
                <a:sym typeface="+mn-ea"/>
              </a:rPr>
              <a:t>(</a:t>
            </a:r>
            <a:r>
              <a:rPr lang="zh-CN" altLang="en-US" sz="2400" b="1">
                <a:solidFill>
                  <a:srgbClr val="800080"/>
                </a:solidFill>
                <a:ea typeface="华文行楷" panose="02010800040101010101" charset="-122"/>
                <a:sym typeface="+mn-ea"/>
              </a:rPr>
              <a:t>有向)哈密顿路径问题:  </a:t>
            </a:r>
            <a:r>
              <a:rPr lang="zh-CN" altLang="en-US" sz="2400" b="1">
                <a:solidFill>
                  <a:srgbClr val="333399"/>
                </a:solidFill>
                <a:ea typeface="华文行楷" panose="02010800040101010101" charset="-122"/>
                <a:sym typeface="+mn-ea"/>
              </a:rPr>
              <a:t>一个</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问题。给定一个有向图, 确定是否存在一条经过每个节点恰好一次的路径</a:t>
            </a:r>
            <a:endParaRPr lang="zh-CN" altLang="en-US" sz="2400" b="1">
              <a:solidFill>
                <a:srgbClr val="333399"/>
              </a:solidFill>
              <a:ea typeface="华文行楷" panose="02010800040101010101" charset="-122"/>
              <a:sym typeface="+mn-ea"/>
            </a:endParaRPr>
          </a:p>
        </p:txBody>
      </p:sp>
      <p:sp>
        <p:nvSpPr>
          <p:cNvPr id="19460" name="Text Box 65"/>
          <p:cNvSpPr txBox="1">
            <a:spLocks noChangeArrowheads="1"/>
          </p:cNvSpPr>
          <p:nvPr/>
        </p:nvSpPr>
        <p:spPr bwMode="auto">
          <a:xfrm>
            <a:off x="368598" y="2848183"/>
            <a:ext cx="8251825" cy="201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eaLnBrk="1" hangingPunct="1">
              <a:lnSpc>
                <a:spcPct val="120000"/>
              </a:lnSpc>
            </a:pPr>
            <a:r>
              <a:rPr lang="zh-CN" altLang="en-US" sz="2400">
                <a:solidFill>
                  <a:srgbClr val="003399"/>
                </a:solidFill>
                <a:latin typeface="宋体" pitchFamily="2" charset="-122"/>
              </a:rPr>
              <a:t> 找到这样一条路径可能需要尝试所有排列，是指数时间的。</a:t>
            </a:r>
            <a:endParaRPr lang="zh-CN" altLang="en-US" sz="2400">
              <a:solidFill>
                <a:srgbClr val="003399"/>
              </a:solidFill>
              <a:latin typeface="宋体" pitchFamily="2" charset="-122"/>
            </a:endParaRPr>
          </a:p>
          <a:p>
            <a:pPr eaLnBrk="1" hangingPunct="1">
              <a:lnSpc>
                <a:spcPct val="120000"/>
              </a:lnSpc>
            </a:pPr>
            <a:r>
              <a:rPr lang="zh-CN" altLang="en-US" sz="2400">
                <a:solidFill>
                  <a:srgbClr val="003399"/>
                </a:solidFill>
                <a:latin typeface="宋体" pitchFamily="2" charset="-122"/>
              </a:rPr>
              <a:t> 多项式可验证性：给定一条路径，只需沿着路径走一遍，检查是否符合条件，是多项式时间的。</a:t>
            </a:r>
            <a:endParaRPr lang="zh-CN" altLang="en-US" sz="2400">
              <a:solidFill>
                <a:srgbClr val="003399"/>
              </a:solidFill>
              <a:latin typeface="宋体" pitchFamily="2" charset="-122"/>
            </a:endParaRPr>
          </a:p>
          <a:p>
            <a:pPr eaLnBrk="1" hangingPunct="1">
              <a:lnSpc>
                <a:spcPct val="120000"/>
              </a:lnSpc>
            </a:pPr>
            <a:endParaRPr lang="zh-CN" altLang="en-US" sz="2400">
              <a:solidFill>
                <a:srgbClr val="003399"/>
              </a:solidFill>
              <a:latin typeface="宋体" pitchFamily="2" charset="-122"/>
            </a:endParaRPr>
          </a:p>
        </p:txBody>
      </p:sp>
      <p:grpSp>
        <p:nvGrpSpPr>
          <p:cNvPr id="76806" name="组合 1"/>
          <p:cNvGrpSpPr/>
          <p:nvPr/>
        </p:nvGrpSpPr>
        <p:grpSpPr>
          <a:xfrm>
            <a:off x="2184614" y="4540807"/>
            <a:ext cx="5206922" cy="1760086"/>
            <a:chOff x="2362200" y="4419600"/>
            <a:chExt cx="5410200" cy="1828800"/>
          </a:xfrm>
        </p:grpSpPr>
        <p:sp>
          <p:nvSpPr>
            <p:cNvPr id="76807" name="Oval 4"/>
            <p:cNvSpPr/>
            <p:nvPr/>
          </p:nvSpPr>
          <p:spPr>
            <a:xfrm>
              <a:off x="2667000" y="51816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08" name="Oval 5"/>
            <p:cNvSpPr/>
            <p:nvPr/>
          </p:nvSpPr>
          <p:spPr>
            <a:xfrm>
              <a:off x="3733800" y="44196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09" name="Oval 6"/>
            <p:cNvSpPr/>
            <p:nvPr/>
          </p:nvSpPr>
          <p:spPr>
            <a:xfrm>
              <a:off x="3733800" y="60198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0" name="Oval 7"/>
            <p:cNvSpPr/>
            <p:nvPr/>
          </p:nvSpPr>
          <p:spPr>
            <a:xfrm>
              <a:off x="4876800" y="48768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1" name="Oval 8"/>
            <p:cNvSpPr/>
            <p:nvPr/>
          </p:nvSpPr>
          <p:spPr>
            <a:xfrm>
              <a:off x="4876800" y="57150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2" name="Oval 9"/>
            <p:cNvSpPr/>
            <p:nvPr/>
          </p:nvSpPr>
          <p:spPr>
            <a:xfrm>
              <a:off x="6019800" y="44196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3" name="Oval 10"/>
            <p:cNvSpPr/>
            <p:nvPr/>
          </p:nvSpPr>
          <p:spPr>
            <a:xfrm>
              <a:off x="6019800" y="60198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4" name="Oval 11"/>
            <p:cNvSpPr/>
            <p:nvPr/>
          </p:nvSpPr>
          <p:spPr>
            <a:xfrm>
              <a:off x="7086600" y="5181600"/>
              <a:ext cx="228600" cy="228600"/>
            </a:xfrm>
            <a:prstGeom prst="ellipse">
              <a:avLst/>
            </a:prstGeom>
            <a:solidFill>
              <a:srgbClr val="990099"/>
            </a:solidFill>
            <a:ln w="9525" cap="flat" cmpd="sng">
              <a:solidFill>
                <a:srgbClr val="99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0"/>
                </a:spcBef>
                <a:buClrTx/>
                <a:buSzTx/>
                <a:buFontTx/>
                <a:buNone/>
              </a:pPr>
              <a:endParaRPr lang="zh-CN" altLang="en-US" sz="2400" dirty="0">
                <a:latin typeface="Arial Narrow" panose="020B0606020202030204" charset="0"/>
                <a:ea typeface="宋体" pitchFamily="2" charset="-122"/>
              </a:endParaRPr>
            </a:p>
          </p:txBody>
        </p:sp>
        <p:sp>
          <p:nvSpPr>
            <p:cNvPr id="76815" name="Line 12"/>
            <p:cNvSpPr/>
            <p:nvPr/>
          </p:nvSpPr>
          <p:spPr>
            <a:xfrm flipH="1">
              <a:off x="2895600" y="4572000"/>
              <a:ext cx="838200" cy="685800"/>
            </a:xfrm>
            <a:prstGeom prst="line">
              <a:avLst/>
            </a:prstGeom>
            <a:ln w="9525" cap="flat" cmpd="sng">
              <a:solidFill>
                <a:schemeClr val="tx1"/>
              </a:solidFill>
              <a:prstDash val="solid"/>
              <a:miter/>
              <a:headEnd type="none" w="med" len="med"/>
              <a:tailEnd type="triangle" w="med" len="med"/>
            </a:ln>
          </p:spPr>
        </p:sp>
        <p:sp>
          <p:nvSpPr>
            <p:cNvPr id="76816" name="Line 13"/>
            <p:cNvSpPr/>
            <p:nvPr/>
          </p:nvSpPr>
          <p:spPr>
            <a:xfrm>
              <a:off x="3810000" y="4648200"/>
              <a:ext cx="0" cy="1371600"/>
            </a:xfrm>
            <a:prstGeom prst="line">
              <a:avLst/>
            </a:prstGeom>
            <a:ln w="9525" cap="flat" cmpd="sng">
              <a:solidFill>
                <a:schemeClr val="tx1"/>
              </a:solidFill>
              <a:prstDash val="solid"/>
              <a:miter/>
              <a:headEnd type="none" w="med" len="med"/>
              <a:tailEnd type="triangle" w="med" len="med"/>
            </a:ln>
          </p:spPr>
        </p:sp>
        <p:sp>
          <p:nvSpPr>
            <p:cNvPr id="76817" name="Line 14"/>
            <p:cNvSpPr/>
            <p:nvPr/>
          </p:nvSpPr>
          <p:spPr>
            <a:xfrm>
              <a:off x="6172200" y="4572000"/>
              <a:ext cx="914400" cy="685800"/>
            </a:xfrm>
            <a:prstGeom prst="line">
              <a:avLst/>
            </a:prstGeom>
            <a:ln w="9525" cap="flat" cmpd="sng">
              <a:solidFill>
                <a:schemeClr val="tx1"/>
              </a:solidFill>
              <a:prstDash val="solid"/>
              <a:miter/>
              <a:headEnd type="none" w="med" len="med"/>
              <a:tailEnd type="triangle" w="med" len="med"/>
            </a:ln>
          </p:spPr>
        </p:sp>
        <p:sp>
          <p:nvSpPr>
            <p:cNvPr id="76818" name="Line 15"/>
            <p:cNvSpPr/>
            <p:nvPr/>
          </p:nvSpPr>
          <p:spPr>
            <a:xfrm>
              <a:off x="3962400" y="6172200"/>
              <a:ext cx="2057400" cy="0"/>
            </a:xfrm>
            <a:prstGeom prst="line">
              <a:avLst/>
            </a:prstGeom>
            <a:ln w="9525" cap="flat" cmpd="sng">
              <a:solidFill>
                <a:schemeClr val="tx1"/>
              </a:solidFill>
              <a:prstDash val="solid"/>
              <a:miter/>
              <a:headEnd type="none" w="med" len="med"/>
              <a:tailEnd type="triangle" w="med" len="med"/>
            </a:ln>
          </p:spPr>
        </p:sp>
        <p:sp>
          <p:nvSpPr>
            <p:cNvPr id="76819" name="Line 16"/>
            <p:cNvSpPr/>
            <p:nvPr/>
          </p:nvSpPr>
          <p:spPr>
            <a:xfrm>
              <a:off x="5029200" y="5791200"/>
              <a:ext cx="990600" cy="304800"/>
            </a:xfrm>
            <a:prstGeom prst="line">
              <a:avLst/>
            </a:prstGeom>
            <a:ln w="9525" cap="flat" cmpd="sng">
              <a:solidFill>
                <a:schemeClr val="tx1"/>
              </a:solidFill>
              <a:prstDash val="solid"/>
              <a:miter/>
              <a:headEnd type="none" w="med" len="med"/>
              <a:tailEnd type="triangle" w="med" len="med"/>
            </a:ln>
          </p:spPr>
        </p:sp>
        <p:sp>
          <p:nvSpPr>
            <p:cNvPr id="76820" name="Line 17"/>
            <p:cNvSpPr/>
            <p:nvPr/>
          </p:nvSpPr>
          <p:spPr>
            <a:xfrm flipV="1">
              <a:off x="3886200" y="5867400"/>
              <a:ext cx="990600" cy="228600"/>
            </a:xfrm>
            <a:prstGeom prst="line">
              <a:avLst/>
            </a:prstGeom>
            <a:ln w="28575" cap="flat" cmpd="sng">
              <a:solidFill>
                <a:srgbClr val="990099"/>
              </a:solidFill>
              <a:prstDash val="solid"/>
              <a:miter/>
              <a:headEnd type="none" w="med" len="med"/>
              <a:tailEnd type="triangle" w="med" len="med"/>
            </a:ln>
          </p:spPr>
        </p:sp>
        <p:sp>
          <p:nvSpPr>
            <p:cNvPr id="76821" name="Line 18"/>
            <p:cNvSpPr/>
            <p:nvPr/>
          </p:nvSpPr>
          <p:spPr>
            <a:xfrm>
              <a:off x="2819400" y="5410200"/>
              <a:ext cx="914400" cy="685800"/>
            </a:xfrm>
            <a:prstGeom prst="line">
              <a:avLst/>
            </a:prstGeom>
            <a:ln w="28575" cap="flat" cmpd="sng">
              <a:solidFill>
                <a:srgbClr val="990099"/>
              </a:solidFill>
              <a:prstDash val="solid"/>
              <a:miter/>
              <a:headEnd type="none" w="med" len="med"/>
              <a:tailEnd type="triangle" w="med" len="med"/>
            </a:ln>
          </p:spPr>
        </p:sp>
        <p:sp>
          <p:nvSpPr>
            <p:cNvPr id="76822" name="Line 19"/>
            <p:cNvSpPr/>
            <p:nvPr/>
          </p:nvSpPr>
          <p:spPr>
            <a:xfrm flipV="1">
              <a:off x="5029200" y="5105400"/>
              <a:ext cx="0" cy="609600"/>
            </a:xfrm>
            <a:prstGeom prst="line">
              <a:avLst/>
            </a:prstGeom>
            <a:ln w="28575" cap="flat" cmpd="sng">
              <a:solidFill>
                <a:srgbClr val="990099"/>
              </a:solidFill>
              <a:prstDash val="solid"/>
              <a:miter/>
              <a:headEnd type="none" w="med" len="med"/>
              <a:tailEnd type="triangle" w="med" len="med"/>
            </a:ln>
          </p:spPr>
        </p:sp>
        <p:sp>
          <p:nvSpPr>
            <p:cNvPr id="76823" name="Line 20"/>
            <p:cNvSpPr/>
            <p:nvPr/>
          </p:nvSpPr>
          <p:spPr>
            <a:xfrm flipH="1" flipV="1">
              <a:off x="3962400" y="4572000"/>
              <a:ext cx="914400" cy="381000"/>
            </a:xfrm>
            <a:prstGeom prst="line">
              <a:avLst/>
            </a:prstGeom>
            <a:ln w="28575" cap="flat" cmpd="sng">
              <a:solidFill>
                <a:srgbClr val="990099"/>
              </a:solidFill>
              <a:prstDash val="solid"/>
              <a:miter/>
              <a:headEnd type="none" w="med" len="med"/>
              <a:tailEnd type="triangle" w="med" len="med"/>
            </a:ln>
          </p:spPr>
        </p:sp>
        <p:sp>
          <p:nvSpPr>
            <p:cNvPr id="76824" name="Line 21"/>
            <p:cNvSpPr/>
            <p:nvPr/>
          </p:nvSpPr>
          <p:spPr>
            <a:xfrm>
              <a:off x="3962400" y="4495800"/>
              <a:ext cx="2057400" cy="0"/>
            </a:xfrm>
            <a:prstGeom prst="line">
              <a:avLst/>
            </a:prstGeom>
            <a:ln w="28575" cap="flat" cmpd="sng">
              <a:solidFill>
                <a:srgbClr val="990099"/>
              </a:solidFill>
              <a:prstDash val="solid"/>
              <a:miter/>
              <a:headEnd type="none" w="med" len="med"/>
              <a:tailEnd type="triangle" w="med" len="med"/>
            </a:ln>
          </p:spPr>
        </p:sp>
        <p:sp>
          <p:nvSpPr>
            <p:cNvPr id="76825" name="Line 22"/>
            <p:cNvSpPr/>
            <p:nvPr/>
          </p:nvSpPr>
          <p:spPr>
            <a:xfrm>
              <a:off x="6172200" y="4648200"/>
              <a:ext cx="0" cy="1371600"/>
            </a:xfrm>
            <a:prstGeom prst="line">
              <a:avLst/>
            </a:prstGeom>
            <a:ln w="28575" cap="flat" cmpd="sng">
              <a:solidFill>
                <a:srgbClr val="990099"/>
              </a:solidFill>
              <a:prstDash val="solid"/>
              <a:miter/>
              <a:headEnd type="none" w="med" len="med"/>
              <a:tailEnd type="triangle" w="med" len="med"/>
            </a:ln>
          </p:spPr>
        </p:sp>
        <p:sp>
          <p:nvSpPr>
            <p:cNvPr id="76826" name="Line 23"/>
            <p:cNvSpPr/>
            <p:nvPr/>
          </p:nvSpPr>
          <p:spPr>
            <a:xfrm flipH="1">
              <a:off x="5105400" y="4648200"/>
              <a:ext cx="914400" cy="304800"/>
            </a:xfrm>
            <a:prstGeom prst="line">
              <a:avLst/>
            </a:prstGeom>
            <a:ln w="9525" cap="flat" cmpd="sng">
              <a:solidFill>
                <a:schemeClr val="tx1"/>
              </a:solidFill>
              <a:prstDash val="solid"/>
              <a:miter/>
              <a:headEnd type="none" w="med" len="med"/>
              <a:tailEnd type="triangle" w="med" len="med"/>
            </a:ln>
          </p:spPr>
        </p:sp>
        <p:sp>
          <p:nvSpPr>
            <p:cNvPr id="76827" name="Line 24"/>
            <p:cNvSpPr/>
            <p:nvPr/>
          </p:nvSpPr>
          <p:spPr>
            <a:xfrm flipV="1">
              <a:off x="6172200" y="5410200"/>
              <a:ext cx="990600" cy="762000"/>
            </a:xfrm>
            <a:prstGeom prst="line">
              <a:avLst/>
            </a:prstGeom>
            <a:ln w="28575" cap="flat" cmpd="sng">
              <a:solidFill>
                <a:srgbClr val="990099"/>
              </a:solidFill>
              <a:prstDash val="solid"/>
              <a:miter/>
              <a:headEnd type="none" w="med" len="med"/>
              <a:tailEnd type="triangle" w="med" len="med"/>
            </a:ln>
          </p:spPr>
        </p:sp>
        <p:sp>
          <p:nvSpPr>
            <p:cNvPr id="76828" name="Text Box 25"/>
            <p:cNvSpPr txBox="1"/>
            <p:nvPr/>
          </p:nvSpPr>
          <p:spPr>
            <a:xfrm>
              <a:off x="2362200" y="5066665"/>
              <a:ext cx="457200" cy="47834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50000"/>
                </a:spcBef>
                <a:buClrTx/>
                <a:buSzTx/>
                <a:buFontTx/>
                <a:buNone/>
              </a:pPr>
              <a:r>
                <a:rPr lang="en-US" altLang="zh-CN" sz="2400" b="1" dirty="0">
                  <a:latin typeface="Arial Narrow" panose="020B0606020202030204" charset="0"/>
                  <a:ea typeface="宋体" pitchFamily="2" charset="-122"/>
                </a:rPr>
                <a:t>s</a:t>
              </a:r>
              <a:endParaRPr lang="en-US" altLang="zh-CN" sz="2400" b="1" dirty="0">
                <a:latin typeface="Arial Narrow" panose="020B0606020202030204" charset="0"/>
                <a:ea typeface="宋体" pitchFamily="2" charset="-122"/>
              </a:endParaRPr>
            </a:p>
          </p:txBody>
        </p:sp>
        <p:sp>
          <p:nvSpPr>
            <p:cNvPr id="76829" name="Text Box 26"/>
            <p:cNvSpPr txBox="1"/>
            <p:nvPr/>
          </p:nvSpPr>
          <p:spPr>
            <a:xfrm>
              <a:off x="7315200" y="5105400"/>
              <a:ext cx="457200" cy="47834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FF00"/>
                </a:buClr>
                <a:buSzPct val="80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0000"/>
                </a:buClr>
                <a:buSzPct val="7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009900"/>
                </a:buClr>
                <a:buSzPct val="60000"/>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accent2"/>
                </a:buClr>
                <a:buSzPct val="55000"/>
                <a:buFont typeface="Wingdings" panose="05000000000000000000" pitchFamily="2" charset="2"/>
                <a:buChar char="l"/>
                <a:defRPr sz="2000">
                  <a:solidFill>
                    <a:schemeClr val="tx1"/>
                  </a:solidFill>
                  <a:latin typeface="+mn-lt"/>
                </a:defRPr>
              </a:lvl5pPr>
            </a:lstStyle>
            <a:p>
              <a:pPr marL="0" lvl="0" indent="0" eaLnBrk="1" hangingPunct="1">
                <a:spcBef>
                  <a:spcPct val="50000"/>
                </a:spcBef>
                <a:buClrTx/>
                <a:buSzTx/>
                <a:buFontTx/>
                <a:buNone/>
              </a:pPr>
              <a:r>
                <a:rPr lang="en-US" altLang="zh-CN" sz="2400" b="1" dirty="0">
                  <a:latin typeface="Arial Narrow" panose="020B0606020202030204" charset="0"/>
                  <a:ea typeface="宋体" pitchFamily="2" charset="-122"/>
                </a:rPr>
                <a:t>t</a:t>
              </a:r>
              <a:endParaRPr lang="en-US" altLang="zh-CN" sz="2400" b="1" dirty="0">
                <a:latin typeface="Arial Narrow" panose="020B0606020202030204" charset="0"/>
                <a:ea typeface="宋体" pitchFamily="2" charset="-122"/>
              </a:endParaRPr>
            </a:p>
          </p:txBody>
        </p:sp>
      </p:grpSp>
      <p:sp>
        <p:nvSpPr>
          <p:cNvPr id="4"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en-US" altLang="zh-CN" sz="3200">
                <a:solidFill>
                  <a:srgbClr val="800080"/>
                </a:solidFill>
                <a:latin typeface="Arial" panose="020B0604020202090204" pitchFamily="34" charset="0"/>
                <a:ea typeface="华文行楷" panose="02010800040101010101" charset="-122"/>
              </a:rPr>
              <a:t>NP-complete</a:t>
            </a:r>
            <a:r>
              <a:rPr lang="zh-CN" altLang="en-US" sz="3200">
                <a:solidFill>
                  <a:srgbClr val="800080"/>
                </a:solidFill>
                <a:latin typeface="Arial" panose="020B0604020202090204" pitchFamily="34" charset="0"/>
                <a:ea typeface="华文行楷" panose="02010800040101010101" charset="-122"/>
              </a:rPr>
              <a:t>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1267261"/>
          </a:xfrm>
          <a:prstGeom prst="rect">
            <a:avLst/>
          </a:prstGeom>
          <a:noFill/>
        </p:spPr>
        <p:txBody>
          <a:bodyPr wrap="square" rtlCol="0" anchor="t">
            <a:noAutofit/>
          </a:bodyPr>
          <a:p>
            <a:pPr marL="0" indent="0">
              <a:buNone/>
            </a:pPr>
            <a:r>
              <a:rPr lang="en-US" altLang="zh-CN" sz="2400" b="1">
                <a:solidFill>
                  <a:srgbClr val="800080"/>
                </a:solidFill>
                <a:ea typeface="华文行楷" panose="02010800040101010101" charset="-122"/>
                <a:sym typeface="+mn-ea"/>
              </a:rPr>
              <a:t>NP-complete</a:t>
            </a:r>
            <a:r>
              <a:rPr lang="zh-CN" altLang="en-US" sz="2400" b="1">
                <a:solidFill>
                  <a:srgbClr val="800080"/>
                </a:solidFill>
                <a:ea typeface="华文行楷" panose="02010800040101010101" charset="-122"/>
                <a:sym typeface="+mn-ea"/>
              </a:rPr>
              <a:t>问题:  </a:t>
            </a:r>
            <a:r>
              <a:rPr lang="zh-CN" altLang="en-US" sz="2400" b="1">
                <a:solidFill>
                  <a:srgbClr val="003399"/>
                </a:solidFill>
                <a:ea typeface="华文行楷" panose="02010800040101010101" charset="-122"/>
                <a:sym typeface="+mn-ea"/>
              </a:rPr>
              <a:t>满足两个条件 </a:t>
            </a:r>
            <a:endParaRPr lang="zh-CN" altLang="en-US" sz="2400" b="1">
              <a:solidFill>
                <a:srgbClr val="003399"/>
              </a:solidFill>
              <a:ea typeface="华文行楷" panose="02010800040101010101" charset="-122"/>
              <a:sym typeface="+mn-ea"/>
            </a:endParaRPr>
          </a:p>
          <a:p>
            <a:pPr marL="0" indent="457200">
              <a:buNone/>
            </a:pPr>
            <a:r>
              <a:rPr lang="en-US" altLang="zh-CN" sz="2400" b="1">
                <a:solidFill>
                  <a:srgbClr val="003399"/>
                </a:solidFill>
                <a:ea typeface="华文行楷" panose="02010800040101010101" charset="-122"/>
                <a:sym typeface="+mn-ea"/>
              </a:rPr>
              <a:t>1.</a:t>
            </a:r>
            <a:r>
              <a:rPr lang="zh-CN" altLang="en-US" sz="2400" b="1">
                <a:solidFill>
                  <a:srgbClr val="333399"/>
                </a:solidFill>
                <a:ea typeface="华文行楷" panose="02010800040101010101" charset="-122"/>
                <a:sym typeface="+mn-ea"/>
              </a:rPr>
              <a:t>它是一个</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问题</a:t>
            </a:r>
            <a:endParaRPr lang="zh-CN" altLang="en-US" sz="2400" b="1">
              <a:solidFill>
                <a:srgbClr val="333399"/>
              </a:solidFill>
              <a:ea typeface="华文行楷" panose="02010800040101010101" charset="-122"/>
              <a:sym typeface="+mn-ea"/>
            </a:endParaRPr>
          </a:p>
          <a:p>
            <a:pPr marL="0" indent="457200">
              <a:buNone/>
            </a:pPr>
            <a:r>
              <a:rPr lang="en-US" altLang="zh-CN" sz="2400" b="1">
                <a:solidFill>
                  <a:srgbClr val="333399"/>
                </a:solidFill>
                <a:ea typeface="华文行楷" panose="02010800040101010101" charset="-122"/>
                <a:sym typeface="+mn-ea"/>
              </a:rPr>
              <a:t>2.</a:t>
            </a:r>
            <a:r>
              <a:rPr lang="zh-CN" altLang="en-US" sz="2400" b="1">
                <a:solidFill>
                  <a:srgbClr val="333399"/>
                </a:solidFill>
                <a:ea typeface="华文行楷" panose="02010800040101010101" charset="-122"/>
                <a:sym typeface="+mn-ea"/>
              </a:rPr>
              <a:t>其他所有属于</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的问题都可以</a:t>
            </a:r>
            <a:r>
              <a:rPr lang="zh-CN" altLang="en-US" sz="2400" b="1">
                <a:solidFill>
                  <a:srgbClr val="333399"/>
                </a:solidFill>
                <a:ea typeface="华文行楷" panose="02010800040101010101" charset="-122"/>
                <a:sym typeface="+mn-ea"/>
              </a:rPr>
              <a:t>规约成它。</a:t>
            </a:r>
            <a:endParaRPr lang="zh-CN" altLang="en-US" sz="2400" b="1">
              <a:solidFill>
                <a:srgbClr val="800080"/>
              </a:solidFill>
              <a:ea typeface="华文行楷" panose="02010800040101010101" charset="-122"/>
              <a:sym typeface="+mn-ea"/>
            </a:endParaRPr>
          </a:p>
          <a:p>
            <a:pPr marL="0" indent="0">
              <a:buNone/>
            </a:pPr>
            <a:endParaRPr lang="zh-CN" altLang="en-US" sz="2400" b="1">
              <a:solidFill>
                <a:srgbClr val="333399"/>
              </a:solidFill>
              <a:ea typeface="华文行楷" panose="02010800040101010101" charset="-122"/>
              <a:sym typeface="+mn-ea"/>
            </a:endParaRPr>
          </a:p>
          <a:p>
            <a:pPr marL="0" indent="0">
              <a:buNone/>
            </a:pPr>
            <a:endParaRPr lang="zh-CN" altLang="en-US" sz="2400" b="1">
              <a:solidFill>
                <a:srgbClr val="333399"/>
              </a:solidFill>
              <a:ea typeface="华文行楷" panose="02010800040101010101" charset="-122"/>
              <a:sym typeface="+mn-ea"/>
            </a:endParaRPr>
          </a:p>
        </p:txBody>
      </p:sp>
      <p:sp>
        <p:nvSpPr>
          <p:cNvPr id="3" name="文本框 2"/>
          <p:cNvSpPr txBox="1"/>
          <p:nvPr/>
        </p:nvSpPr>
        <p:spPr>
          <a:xfrm>
            <a:off x="683215" y="2504806"/>
            <a:ext cx="7815842" cy="3189061"/>
          </a:xfrm>
          <a:prstGeom prst="rect">
            <a:avLst/>
          </a:prstGeom>
          <a:noFill/>
          <a:ln>
            <a:noFill/>
          </a:ln>
        </p:spPr>
        <p:txBody>
          <a:bodyPr wrap="square" anchor="t">
            <a:noAutofit/>
          </a:bodyPr>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规约 </a:t>
            </a:r>
            <a:r>
              <a:rPr lang="en-US" altLang="zh-CN" sz="2200" b="1">
                <a:solidFill>
                  <a:srgbClr val="003399"/>
                </a:solidFill>
                <a:latin typeface="宋体" charset="0"/>
                <a:ea typeface="楷体_GB2312" charset="0"/>
              </a:rPr>
              <a:t>： </a:t>
            </a:r>
            <a:r>
              <a:rPr lang="zh-CN" altLang="en-US" sz="2200" b="1">
                <a:solidFill>
                  <a:srgbClr val="003399"/>
                </a:solidFill>
                <a:latin typeface="宋体" charset="0"/>
                <a:ea typeface="楷体_GB2312" charset="0"/>
              </a:rPr>
              <a:t>如果问题 </a:t>
            </a:r>
            <a:r>
              <a:rPr lang="en-US" altLang="zh-CN" sz="2200" b="1">
                <a:solidFill>
                  <a:srgbClr val="003399"/>
                </a:solidFill>
                <a:latin typeface="宋体" charset="0"/>
                <a:ea typeface="楷体_GB2312" charset="0"/>
              </a:rPr>
              <a:t>A </a:t>
            </a:r>
            <a:r>
              <a:rPr lang="zh-CN" altLang="en-US" sz="2200" b="1">
                <a:solidFill>
                  <a:srgbClr val="003399"/>
                </a:solidFill>
                <a:latin typeface="宋体" charset="0"/>
                <a:ea typeface="楷体_GB2312" charset="0"/>
              </a:rPr>
              <a:t>可以在多项式时间内转化为问题 </a:t>
            </a:r>
            <a:r>
              <a:rPr lang="en-US" altLang="zh-CN" sz="2200" b="1">
                <a:solidFill>
                  <a:srgbClr val="003399"/>
                </a:solidFill>
                <a:latin typeface="宋体" charset="0"/>
                <a:ea typeface="楷体_GB2312" charset="0"/>
              </a:rPr>
              <a:t>B，</a:t>
            </a:r>
            <a:r>
              <a:rPr lang="zh-CN" altLang="en-US" sz="2200" b="1">
                <a:solidFill>
                  <a:srgbClr val="003399"/>
                </a:solidFill>
                <a:latin typeface="宋体" charset="0"/>
                <a:ea typeface="楷体_GB2312" charset="0"/>
              </a:rPr>
              <a:t>那么 </a:t>
            </a:r>
            <a:r>
              <a:rPr lang="en-US" altLang="zh-CN" sz="2200" b="1">
                <a:solidFill>
                  <a:srgbClr val="003399"/>
                </a:solidFill>
                <a:latin typeface="宋体" charset="0"/>
                <a:ea typeface="楷体_GB2312" charset="0"/>
              </a:rPr>
              <a:t>B </a:t>
            </a:r>
            <a:r>
              <a:rPr lang="zh-CN" altLang="en-US" sz="2200" b="1">
                <a:solidFill>
                  <a:srgbClr val="003399"/>
                </a:solidFill>
                <a:latin typeface="宋体" charset="0"/>
                <a:ea typeface="楷体_GB2312" charset="0"/>
              </a:rPr>
              <a:t>至少和 </a:t>
            </a:r>
            <a:r>
              <a:rPr lang="en-US" altLang="zh-CN" sz="2200" b="1">
                <a:solidFill>
                  <a:srgbClr val="003399"/>
                </a:solidFill>
                <a:latin typeface="宋体" charset="0"/>
                <a:ea typeface="楷体_GB2312" charset="0"/>
              </a:rPr>
              <a:t>A </a:t>
            </a:r>
            <a:r>
              <a:rPr lang="zh-CN" altLang="en-US" sz="2200" b="1">
                <a:solidFill>
                  <a:srgbClr val="003399"/>
                </a:solidFill>
                <a:latin typeface="宋体" charset="0"/>
                <a:ea typeface="楷体_GB2312" charset="0"/>
              </a:rPr>
              <a:t>一样难。</a:t>
            </a:r>
            <a:endParaRPr lang="zh-CN" altLang="en-US" sz="2200" b="1">
              <a:solidFill>
                <a:srgbClr val="003399"/>
              </a:solidFill>
              <a:latin typeface="宋体" charset="0"/>
              <a:ea typeface="楷体_GB2312" charset="0"/>
            </a:endParaRPr>
          </a:p>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世纪</a:t>
            </a:r>
            <a:r>
              <a:rPr lang="zh-CN" altLang="en-US" sz="2200" b="1">
                <a:solidFill>
                  <a:srgbClr val="003399"/>
                </a:solidFill>
                <a:latin typeface="宋体" charset="0"/>
                <a:ea typeface="楷体_GB2312" charset="0"/>
                <a:cs typeface="Arial" panose="020B0604020202090204" pitchFamily="34" charset="0"/>
              </a:rPr>
              <a:t>难题：</a:t>
            </a:r>
            <a:r>
              <a:rPr lang="en-US" altLang="zh-CN" sz="2200" b="1">
                <a:solidFill>
                  <a:srgbClr val="003399"/>
                </a:solidFill>
                <a:latin typeface="宋体" charset="0"/>
                <a:ea typeface="楷体_GB2312" charset="0"/>
                <a:cs typeface="Arial" panose="020B0604020202090204" pitchFamily="34" charset="0"/>
              </a:rPr>
              <a:t>NP =? P</a:t>
            </a:r>
            <a:endParaRPr lang="en-US" altLang="zh-CN" sz="2200" b="1">
              <a:solidFill>
                <a:srgbClr val="003399"/>
              </a:solidFill>
              <a:latin typeface="宋体" charset="0"/>
              <a:ea typeface="楷体_GB2312" charset="0"/>
            </a:endParaRPr>
          </a:p>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如果</a:t>
            </a:r>
            <a:r>
              <a:rPr lang="en-US" altLang="zh-CN" sz="2200" b="1">
                <a:solidFill>
                  <a:srgbClr val="003399"/>
                </a:solidFill>
                <a:latin typeface="宋体" charset="0"/>
                <a:ea typeface="楷体_GB2312" charset="0"/>
              </a:rPr>
              <a:t>P </a:t>
            </a:r>
            <a:r>
              <a:rPr lang="zh-CN" altLang="en-US" sz="2200" b="1">
                <a:solidFill>
                  <a:srgbClr val="003399"/>
                </a:solidFill>
                <a:latin typeface="宋体" charset="0"/>
                <a:ea typeface="楷体_GB2312" charset="0"/>
              </a:rPr>
              <a:t>= </a:t>
            </a:r>
            <a:r>
              <a:rPr lang="en-US" altLang="zh-CN" sz="2200" b="1">
                <a:solidFill>
                  <a:srgbClr val="003399"/>
                </a:solidFill>
                <a:latin typeface="宋体" charset="0"/>
                <a:ea typeface="楷体_GB2312" charset="0"/>
              </a:rPr>
              <a:t>NP</a:t>
            </a:r>
            <a:r>
              <a:rPr lang="zh-CN" altLang="en-US" sz="2200" b="1">
                <a:solidFill>
                  <a:srgbClr val="003399"/>
                </a:solidFill>
                <a:latin typeface="宋体" charset="0"/>
                <a:ea typeface="楷体_GB2312" charset="0"/>
              </a:rPr>
              <a:t>，那么所有多项式可验证的问题都将是多项式可判定的。从理论上讲，判定问题就是解决问题。</a:t>
            </a:r>
            <a:endParaRPr lang="zh-CN" altLang="en-US" sz="2200" b="1">
              <a:solidFill>
                <a:srgbClr val="003399"/>
              </a:solidFill>
              <a:latin typeface="宋体" charset="0"/>
              <a:ea typeface="楷体_GB2312" charset="0"/>
            </a:endParaRPr>
          </a:p>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大多数研究人员相信这两个类是不相等的，并试图证明这两个类是不相等的。</a:t>
            </a:r>
            <a:endParaRPr lang="en-US" altLang="zh-CN" sz="2200" b="1">
              <a:solidFill>
                <a:srgbClr val="003399"/>
              </a:solidFill>
              <a:latin typeface="宋体" charset="0"/>
              <a:ea typeface="楷体_GB2312" charset="0"/>
            </a:endParaRPr>
          </a:p>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endParaRPr lang="zh-CN" altLang="en-US" sz="2200" b="1">
              <a:solidFill>
                <a:srgbClr val="003399"/>
              </a:solidFill>
              <a:latin typeface="宋体" charset="0"/>
              <a:ea typeface="楷体_GB2312" charset="0"/>
            </a:endParaRPr>
          </a:p>
        </p:txBody>
      </p:sp>
      <p:pic>
        <p:nvPicPr>
          <p:cNvPr id="5" name="图片 4" descr="post_object_image_1972242127"/>
          <p:cNvPicPr>
            <a:picLocks noChangeAspect="1"/>
          </p:cNvPicPr>
          <p:nvPr/>
        </p:nvPicPr>
        <p:blipFill>
          <a:blip r:embed="rId1"/>
          <a:stretch>
            <a:fillRect/>
          </a:stretch>
        </p:blipFill>
        <p:spPr>
          <a:xfrm>
            <a:off x="5993255" y="5281618"/>
            <a:ext cx="2625161" cy="1523155"/>
          </a:xfrm>
          <a:prstGeom prst="rect">
            <a:avLst/>
          </a:prstGeom>
        </p:spPr>
      </p:pic>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en-US" altLang="zh-CN" sz="3200">
                <a:solidFill>
                  <a:srgbClr val="800080"/>
                </a:solidFill>
                <a:latin typeface="Arial" panose="020B0604020202090204" pitchFamily="34" charset="0"/>
                <a:ea typeface="华文行楷" panose="02010800040101010101" charset="-122"/>
              </a:rPr>
              <a:t>NP-hard</a:t>
            </a:r>
            <a:r>
              <a:rPr lang="zh-CN" altLang="en-US" sz="3200">
                <a:solidFill>
                  <a:srgbClr val="800080"/>
                </a:solidFill>
                <a:latin typeface="Arial" panose="020B0604020202090204" pitchFamily="34" charset="0"/>
                <a:ea typeface="华文行楷" panose="02010800040101010101" charset="-122"/>
              </a:rPr>
              <a:t>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1267188"/>
          </a:xfrm>
          <a:prstGeom prst="rect">
            <a:avLst/>
          </a:prstGeom>
          <a:noFill/>
        </p:spPr>
        <p:txBody>
          <a:bodyPr wrap="square" rtlCol="0" anchor="t">
            <a:noAutofit/>
          </a:bodyPr>
          <a:p>
            <a:pPr marL="0" indent="0">
              <a:buNone/>
            </a:pPr>
            <a:r>
              <a:rPr lang="en-US" altLang="zh-CN" sz="2400" b="1">
                <a:solidFill>
                  <a:srgbClr val="800080"/>
                </a:solidFill>
                <a:ea typeface="华文行楷" panose="02010800040101010101" charset="-122"/>
                <a:sym typeface="+mn-ea"/>
              </a:rPr>
              <a:t>NP-hard</a:t>
            </a:r>
            <a:r>
              <a:rPr lang="zh-CN" altLang="en-US" sz="2400" b="1">
                <a:solidFill>
                  <a:srgbClr val="800080"/>
                </a:solidFill>
                <a:ea typeface="华文行楷" panose="02010800040101010101" charset="-122"/>
                <a:sym typeface="+mn-ea"/>
              </a:rPr>
              <a:t>问题:  </a:t>
            </a:r>
            <a:r>
              <a:rPr lang="zh-CN" altLang="en-US" sz="2400" b="1">
                <a:solidFill>
                  <a:srgbClr val="333399"/>
                </a:solidFill>
                <a:ea typeface="华文行楷" panose="02010800040101010101" charset="-122"/>
                <a:sym typeface="+mn-ea"/>
              </a:rPr>
              <a:t>满足</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a:t>
            </a:r>
            <a:r>
              <a:rPr lang="en-US" altLang="zh-CN" sz="2400" b="1">
                <a:solidFill>
                  <a:srgbClr val="333399"/>
                </a:solidFill>
                <a:ea typeface="华文行楷" panose="02010800040101010101" charset="-122"/>
                <a:sym typeface="+mn-ea"/>
              </a:rPr>
              <a:t>complete</a:t>
            </a:r>
            <a:r>
              <a:rPr lang="zh-CN" altLang="en-US" sz="2400" b="1">
                <a:solidFill>
                  <a:srgbClr val="333399"/>
                </a:solidFill>
                <a:ea typeface="华文行楷" panose="02010800040101010101" charset="-122"/>
                <a:sym typeface="+mn-ea"/>
              </a:rPr>
              <a:t>问题定义的第二条但不一定要满足第一条。 即所有的</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问题都能规约到它，但是他不一定是一个</a:t>
            </a:r>
            <a:r>
              <a:rPr lang="en-US" altLang="zh-CN" sz="2400" b="1">
                <a:solidFill>
                  <a:srgbClr val="333399"/>
                </a:solidFill>
                <a:ea typeface="华文行楷" panose="02010800040101010101" charset="-122"/>
                <a:sym typeface="+mn-ea"/>
              </a:rPr>
              <a:t>NP</a:t>
            </a:r>
            <a:r>
              <a:rPr lang="zh-CN" altLang="en-US" sz="2400" b="1">
                <a:solidFill>
                  <a:srgbClr val="333399"/>
                </a:solidFill>
                <a:ea typeface="华文行楷" panose="02010800040101010101" charset="-122"/>
                <a:sym typeface="+mn-ea"/>
              </a:rPr>
              <a:t>问题。</a:t>
            </a:r>
            <a:endParaRPr lang="zh-CN" altLang="en-US" sz="2400" b="1">
              <a:solidFill>
                <a:srgbClr val="333399"/>
              </a:solidFill>
              <a:ea typeface="华文行楷" panose="02010800040101010101" charset="-122"/>
              <a:sym typeface="+mn-ea"/>
            </a:endParaRPr>
          </a:p>
        </p:txBody>
      </p:sp>
      <p:pic>
        <p:nvPicPr>
          <p:cNvPr id="4" name="图片 3" descr="post_object_image_3079762513"/>
          <p:cNvPicPr>
            <a:picLocks noChangeAspect="1"/>
          </p:cNvPicPr>
          <p:nvPr/>
        </p:nvPicPr>
        <p:blipFill>
          <a:blip r:embed="rId1"/>
          <a:stretch>
            <a:fillRect/>
          </a:stretch>
        </p:blipFill>
        <p:spPr>
          <a:xfrm>
            <a:off x="1805729" y="3231016"/>
            <a:ext cx="5301221" cy="3313263"/>
          </a:xfrm>
          <a:prstGeom prst="rect">
            <a:avLst/>
          </a:prstGeom>
        </p:spPr>
      </p:pic>
      <p:sp>
        <p:nvSpPr>
          <p:cNvPr id="3" name="文本框 2"/>
          <p:cNvSpPr txBox="1"/>
          <p:nvPr/>
        </p:nvSpPr>
        <p:spPr>
          <a:xfrm>
            <a:off x="432799" y="2668092"/>
            <a:ext cx="8047163" cy="562882"/>
          </a:xfrm>
          <a:prstGeom prst="rect">
            <a:avLst/>
          </a:prstGeom>
          <a:noFill/>
          <a:ln>
            <a:noFill/>
          </a:ln>
        </p:spPr>
        <p:txBody>
          <a:bodyPr wrap="square" anchor="t">
            <a:noAutofit/>
          </a:bodyPr>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en-US" altLang="zh-CN" sz="2200" b="1">
                <a:solidFill>
                  <a:srgbClr val="003399"/>
                </a:solidFill>
                <a:latin typeface="宋体" charset="0"/>
                <a:ea typeface="楷体_GB2312" charset="0"/>
              </a:rPr>
              <a:t>P</a:t>
            </a:r>
            <a:r>
              <a:rPr lang="zh-CN" altLang="en-US" sz="2200" b="1">
                <a:solidFill>
                  <a:srgbClr val="003399"/>
                </a:solidFill>
                <a:latin typeface="宋体" charset="0"/>
                <a:ea typeface="楷体_GB2312" charset="0"/>
                <a:cs typeface="Arial" panose="020B0604020202090204" pitchFamily="34" charset="0"/>
              </a:rPr>
              <a:t>、</a:t>
            </a:r>
            <a:r>
              <a:rPr lang="en-US" altLang="zh-CN" sz="2200" b="1">
                <a:solidFill>
                  <a:srgbClr val="003399"/>
                </a:solidFill>
                <a:latin typeface="宋体" charset="0"/>
                <a:ea typeface="楷体_GB2312" charset="0"/>
                <a:cs typeface="Arial" panose="020B0604020202090204" pitchFamily="34" charset="0"/>
              </a:rPr>
              <a:t>NP</a:t>
            </a:r>
            <a:r>
              <a:rPr lang="zh-CN" altLang="en-US" sz="2200" b="1">
                <a:solidFill>
                  <a:srgbClr val="003399"/>
                </a:solidFill>
                <a:latin typeface="宋体" charset="0"/>
                <a:ea typeface="楷体_GB2312" charset="0"/>
                <a:cs typeface="Arial" panose="020B0604020202090204" pitchFamily="34" charset="0"/>
              </a:rPr>
              <a:t>、</a:t>
            </a:r>
            <a:r>
              <a:rPr lang="en-US" altLang="zh-CN" sz="2200" b="1">
                <a:solidFill>
                  <a:srgbClr val="003399"/>
                </a:solidFill>
                <a:latin typeface="宋体" charset="0"/>
                <a:ea typeface="楷体_GB2312" charset="0"/>
                <a:cs typeface="Arial" panose="020B0604020202090204" pitchFamily="34" charset="0"/>
              </a:rPr>
              <a:t>NP</a:t>
            </a:r>
            <a:r>
              <a:rPr lang="zh-CN" altLang="en-US" sz="2200" b="1">
                <a:solidFill>
                  <a:srgbClr val="003399"/>
                </a:solidFill>
                <a:latin typeface="宋体" charset="0"/>
                <a:ea typeface="楷体_GB2312" charset="0"/>
                <a:cs typeface="Arial" panose="020B0604020202090204" pitchFamily="34" charset="0"/>
              </a:rPr>
              <a:t>-</a:t>
            </a:r>
            <a:r>
              <a:rPr lang="en-US" altLang="zh-CN" sz="2200" b="1">
                <a:solidFill>
                  <a:srgbClr val="003399"/>
                </a:solidFill>
                <a:latin typeface="宋体" charset="0"/>
                <a:ea typeface="楷体_GB2312" charset="0"/>
                <a:cs typeface="Arial" panose="020B0604020202090204" pitchFamily="34" charset="0"/>
              </a:rPr>
              <a:t>comlpete</a:t>
            </a:r>
            <a:r>
              <a:rPr lang="zh-CN" altLang="en-US" sz="2200" b="1">
                <a:solidFill>
                  <a:srgbClr val="003399"/>
                </a:solidFill>
                <a:latin typeface="宋体" charset="0"/>
                <a:ea typeface="楷体_GB2312" charset="0"/>
                <a:cs typeface="Arial" panose="020B0604020202090204" pitchFamily="34" charset="0"/>
              </a:rPr>
              <a:t>、</a:t>
            </a:r>
            <a:r>
              <a:rPr lang="en-US" altLang="zh-CN" sz="2200" b="1">
                <a:solidFill>
                  <a:srgbClr val="003399"/>
                </a:solidFill>
                <a:latin typeface="宋体" charset="0"/>
                <a:ea typeface="楷体_GB2312" charset="0"/>
                <a:cs typeface="Arial" panose="020B0604020202090204" pitchFamily="34" charset="0"/>
              </a:rPr>
              <a:t>NP</a:t>
            </a:r>
            <a:r>
              <a:rPr lang="zh-CN" altLang="en-US" sz="2200" b="1">
                <a:solidFill>
                  <a:srgbClr val="003399"/>
                </a:solidFill>
                <a:latin typeface="宋体" charset="0"/>
                <a:ea typeface="楷体_GB2312" charset="0"/>
                <a:cs typeface="Arial" panose="020B0604020202090204" pitchFamily="34" charset="0"/>
              </a:rPr>
              <a:t>-</a:t>
            </a:r>
            <a:r>
              <a:rPr lang="en-US" altLang="zh-CN" sz="2200" b="1">
                <a:solidFill>
                  <a:srgbClr val="003399"/>
                </a:solidFill>
                <a:latin typeface="宋体" charset="0"/>
                <a:ea typeface="楷体_GB2312" charset="0"/>
                <a:cs typeface="Arial" panose="020B0604020202090204" pitchFamily="34" charset="0"/>
              </a:rPr>
              <a:t>hard</a:t>
            </a:r>
            <a:r>
              <a:rPr lang="zh-CN" altLang="en-US" sz="2200" b="1">
                <a:solidFill>
                  <a:srgbClr val="003399"/>
                </a:solidFill>
                <a:latin typeface="宋体" charset="0"/>
                <a:ea typeface="楷体_GB2312" charset="0"/>
                <a:cs typeface="Arial" panose="020B0604020202090204" pitchFamily="34" charset="0"/>
              </a:rPr>
              <a:t>的关系</a:t>
            </a:r>
            <a:endParaRPr lang="zh-CN" altLang="en-US" sz="2200" b="1">
              <a:solidFill>
                <a:srgbClr val="003399"/>
              </a:solidFill>
              <a:latin typeface="宋体" charset="0"/>
              <a:ea typeface="楷体_GB2312" charset="0"/>
            </a:endParaRPr>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90204" pitchFamily="34" charset="0"/>
                <a:ea typeface="华文行楷" panose="02010800040101010101" charset="-122"/>
              </a:rPr>
              <a:t>空间复杂性</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1469530"/>
          </a:xfrm>
          <a:prstGeom prst="rect">
            <a:avLst/>
          </a:prstGeom>
          <a:noFill/>
        </p:spPr>
        <p:txBody>
          <a:bodyPr wrap="square" rtlCol="0" anchor="t">
            <a:noAutofit/>
          </a:bodyPr>
          <a:p>
            <a:pPr marL="0" indent="0">
              <a:buNone/>
            </a:pPr>
            <a:r>
              <a:rPr lang="zh-CN" altLang="en-US" sz="2400" b="1">
                <a:solidFill>
                  <a:srgbClr val="800080"/>
                </a:solidFill>
                <a:ea typeface="华文行楷" panose="02010800040101010101" charset="-122"/>
                <a:sym typeface="+mn-ea"/>
              </a:rPr>
              <a:t>定义:  </a:t>
            </a:r>
            <a:r>
              <a:rPr lang="zh-CN" altLang="en-US" sz="2400" b="1">
                <a:solidFill>
                  <a:srgbClr val="333399"/>
                </a:solidFill>
                <a:ea typeface="华文行楷" panose="02010800040101010101" charset="-122"/>
                <a:sym typeface="+mn-ea"/>
              </a:rPr>
              <a:t>设</a:t>
            </a:r>
            <a:r>
              <a:rPr lang="en-US" altLang="zh-CN" sz="2400" b="1">
                <a:solidFill>
                  <a:srgbClr val="333399"/>
                </a:solidFill>
                <a:ea typeface="华文行楷" panose="02010800040101010101" charset="-122"/>
                <a:sym typeface="+mn-ea"/>
              </a:rPr>
              <a:t>M</a:t>
            </a:r>
            <a:r>
              <a:rPr lang="zh-CN" altLang="en-US" sz="2400" b="1">
                <a:solidFill>
                  <a:srgbClr val="333399"/>
                </a:solidFill>
                <a:ea typeface="华文行楷" panose="02010800040101010101" charset="-122"/>
                <a:sym typeface="+mn-ea"/>
              </a:rPr>
              <a:t>是一个在所有输入上都停机的确定型图灵机。定义</a:t>
            </a:r>
            <a:r>
              <a:rPr lang="en-US" altLang="zh-CN" sz="2400" b="1">
                <a:solidFill>
                  <a:srgbClr val="333399"/>
                </a:solidFill>
                <a:ea typeface="华文行楷" panose="02010800040101010101" charset="-122"/>
                <a:sym typeface="+mn-ea"/>
              </a:rPr>
              <a:t>M</a:t>
            </a:r>
            <a:r>
              <a:rPr lang="zh-CN" altLang="en-US" sz="2400" b="1">
                <a:solidFill>
                  <a:srgbClr val="333399"/>
                </a:solidFill>
                <a:ea typeface="华文行楷" panose="02010800040101010101" charset="-122"/>
                <a:sym typeface="+mn-ea"/>
              </a:rPr>
              <a:t>的空间复杂度为函数 </a:t>
            </a:r>
            <a:r>
              <a:rPr lang="en-US" altLang="zh-CN" sz="2400" b="1">
                <a:solidFill>
                  <a:srgbClr val="333399"/>
                </a:solidFill>
                <a:ea typeface="华文行楷" panose="02010800040101010101" charset="-122"/>
                <a:sym typeface="+mn-ea"/>
              </a:rPr>
              <a:t>f:N→N</a:t>
            </a:r>
            <a:r>
              <a:rPr lang="zh-CN" altLang="en-US" sz="2400" b="1">
                <a:solidFill>
                  <a:srgbClr val="333399"/>
                </a:solidFill>
                <a:ea typeface="华文行楷" panose="02010800040101010101" charset="-122"/>
                <a:sym typeface="+mn-ea"/>
              </a:rPr>
              <a:t>，其中 </a:t>
            </a:r>
            <a:r>
              <a:rPr lang="en-US" altLang="zh-CN" sz="2400" b="1">
                <a:solidFill>
                  <a:srgbClr val="333399"/>
                </a:solidFill>
                <a:ea typeface="华文行楷" panose="02010800040101010101" charset="-122"/>
                <a:sym typeface="+mn-ea"/>
              </a:rPr>
              <a:t>f(n)</a:t>
            </a:r>
            <a:r>
              <a:rPr lang="zh-CN" altLang="en-US" sz="2400" b="1">
                <a:solidFill>
                  <a:srgbClr val="333399"/>
                </a:solidFill>
                <a:ea typeface="华文行楷" panose="02010800040101010101" charset="-122"/>
                <a:sym typeface="+mn-ea"/>
              </a:rPr>
              <a:t>是</a:t>
            </a:r>
            <a:r>
              <a:rPr lang="en-US" altLang="zh-CN" sz="2400" b="1">
                <a:solidFill>
                  <a:srgbClr val="333399"/>
                </a:solidFill>
                <a:ea typeface="华文行楷" panose="02010800040101010101" charset="-122"/>
                <a:sym typeface="+mn-ea"/>
              </a:rPr>
              <a:t>M</a:t>
            </a:r>
            <a:r>
              <a:rPr lang="zh-CN" altLang="en-US" sz="2400" b="1">
                <a:solidFill>
                  <a:srgbClr val="333399"/>
                </a:solidFill>
                <a:ea typeface="华文行楷" panose="02010800040101010101" charset="-122"/>
                <a:sym typeface="+mn-ea"/>
              </a:rPr>
              <a:t>在任何长为</a:t>
            </a:r>
            <a:r>
              <a:rPr lang="en-US" altLang="zh-CN" sz="2400" b="1">
                <a:solidFill>
                  <a:srgbClr val="333399"/>
                </a:solidFill>
                <a:ea typeface="华文行楷" panose="02010800040101010101" charset="-122"/>
                <a:sym typeface="+mn-ea"/>
              </a:rPr>
              <a:t>n</a:t>
            </a:r>
            <a:r>
              <a:rPr lang="zh-CN" altLang="en-US" sz="2400" b="1">
                <a:solidFill>
                  <a:srgbClr val="333399"/>
                </a:solidFill>
                <a:ea typeface="华文行楷" panose="02010800040101010101" charset="-122"/>
                <a:sym typeface="+mn-ea"/>
              </a:rPr>
              <a:t>的输入上扫描带单元的最大数量。</a:t>
            </a:r>
            <a:endParaRPr lang="zh-CN" altLang="en-US" sz="2400" b="1">
              <a:solidFill>
                <a:srgbClr val="333399"/>
              </a:solidFill>
              <a:ea typeface="华文行楷" panose="02010800040101010101" charset="-122"/>
              <a:sym typeface="+mn-ea"/>
            </a:endParaRPr>
          </a:p>
          <a:p>
            <a:pPr marL="0" indent="0">
              <a:buNone/>
            </a:pPr>
            <a:endParaRPr lang="zh-CN" altLang="en-US" sz="2400" b="1">
              <a:solidFill>
                <a:srgbClr val="333399"/>
              </a:solidFill>
              <a:ea typeface="华文行楷" panose="02010800040101010101" charset="-122"/>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664120" y="2668092"/>
                <a:ext cx="8020094" cy="3732742"/>
              </a:xfrm>
              <a:prstGeom prst="rect">
                <a:avLst/>
              </a:prstGeom>
              <a:noFill/>
              <a:ln>
                <a:noFill/>
              </a:ln>
            </p:spPr>
            <p:txBody>
              <a:bodyPr wrap="square" anchor="t">
                <a:noAutofit/>
              </a:bodyPr>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例：考虑接受语言</a:t>
                </a:r>
                <a14:m>
                  <m:oMath xmlns:m="http://schemas.openxmlformats.org/officeDocument/2006/math">
                    <m:r>
                      <a:rPr lang="en-US" altLang="zh-CN" sz="2400" b="1">
                        <a:solidFill>
                          <a:srgbClr val="003399"/>
                        </a:solidFill>
                        <a:latin typeface="Cambria Math" panose="02040503050406030204" charset="0"/>
                        <a:ea typeface="楷体_GB2312" charset="0"/>
                        <a:cs typeface="Cambria Math" panose="02040503050406030204" charset="0"/>
                      </a:rPr>
                      <m:t>𝐿</m:t>
                    </m:r>
                    <m:r>
                      <a:rPr lang="en-US" altLang="zh-CN" sz="2400" b="1">
                        <a:solidFill>
                          <a:srgbClr val="003399"/>
                        </a:solidFill>
                        <a:latin typeface="Cambria Math" panose="02040503050406030204" charset="0"/>
                        <a:ea typeface="MS Mincho" panose="02020609040205080304" charset="0"/>
                        <a:cs typeface="Cambria Math" panose="02040503050406030204" charset="0"/>
                      </a:rPr>
                      <m:t>={</m:t>
                    </m:r>
                    <m:r>
                      <a:rPr lang="en-US" altLang="zh-CN" sz="2400" b="1">
                        <a:solidFill>
                          <a:srgbClr val="003399"/>
                        </a:solidFill>
                        <a:latin typeface="Cambria Math" panose="02040503050406030204" charset="0"/>
                        <a:ea typeface="楷体_GB2312" charset="0"/>
                        <a:cs typeface="Cambria Math" panose="02040503050406030204" charset="0"/>
                      </a:rPr>
                      <m:t>𝑤𝑐</m:t>
                    </m:r>
                    <m:acc>
                      <m:accPr>
                        <m:chr m:val="̃"/>
                        <m:ctrlPr>
                          <a:rPr lang="en-US" altLang="zh-CN" sz="2400" b="1">
                            <a:solidFill>
                              <a:srgbClr val="003399"/>
                            </a:solidFill>
                            <a:latin typeface="Cambria Math" panose="02040503050406030204" charset="0"/>
                            <a:ea typeface="楷体_GB2312" charset="0"/>
                            <a:cs typeface="Cambria Math" panose="02040503050406030204" charset="0"/>
                          </a:rPr>
                        </m:ctrlPr>
                      </m:accPr>
                      <m:e>
                        <m:r>
                          <a:rPr lang="en-US" altLang="zh-CN" sz="2400" b="1">
                            <a:solidFill>
                              <a:srgbClr val="003399"/>
                            </a:solidFill>
                            <a:latin typeface="Cambria Math" panose="02040503050406030204" charset="0"/>
                            <a:ea typeface="楷体_GB2312" charset="0"/>
                            <a:cs typeface="Cambria Math" panose="02040503050406030204" charset="0"/>
                          </a:rPr>
                          <m:t>𝑤</m:t>
                        </m:r>
                      </m:e>
                    </m:acc>
                    <m:r>
                      <a:rPr lang="en-US" altLang="zh-CN" sz="2400" b="1">
                        <a:solidFill>
                          <a:srgbClr val="003399"/>
                        </a:solidFill>
                        <a:latin typeface="Cambria Math" panose="02040503050406030204" charset="0"/>
                        <a:ea typeface="MS Mincho" panose="02020609040205080304" charset="0"/>
                        <a:cs typeface="Cambria Math" panose="02040503050406030204" charset="0"/>
                      </a:rPr>
                      <m:t>|</m:t>
                    </m:r>
                    <m:r>
                      <a:rPr lang="en-US" altLang="zh-CN" sz="2400" b="1">
                        <a:solidFill>
                          <a:srgbClr val="003399"/>
                        </a:solidFill>
                        <a:latin typeface="Cambria Math" panose="02040503050406030204" charset="0"/>
                        <a:ea typeface="楷体_GB2312" charset="0"/>
                        <a:cs typeface="Cambria Math" panose="02040503050406030204" charset="0"/>
                      </a:rPr>
                      <m:t>𝑤</m:t>
                    </m:r>
                    <m:r>
                      <a:rPr lang="en-US" altLang="zh-CN" sz="2400" b="1">
                        <a:solidFill>
                          <a:srgbClr val="003399"/>
                        </a:solidFill>
                        <a:latin typeface="Cambria Math" panose="02040503050406030204" charset="0"/>
                        <a:ea typeface="MS Mincho" panose="02020609040205080304" charset="0"/>
                        <a:cs typeface="Cambria Math" panose="02040503050406030204" charset="0"/>
                      </a:rPr>
                      <m:t>∈(</m:t>
                    </m:r>
                    <m:r>
                      <a:rPr lang="en-US" altLang="zh-CN" sz="2400" b="1">
                        <a:solidFill>
                          <a:srgbClr val="003399"/>
                        </a:solidFill>
                        <a:latin typeface="Cambria Math" panose="02040503050406030204" charset="0"/>
                        <a:ea typeface="MS Mincho" panose="02020609040205080304" charset="0"/>
                        <a:cs typeface="Cambria Math" panose="02040503050406030204" charset="0"/>
                      </a:rPr>
                      <m:t>0</m:t>
                    </m:r>
                    <m:r>
                      <a:rPr lang="en-US" altLang="zh-CN" sz="2400" b="1">
                        <a:solidFill>
                          <a:srgbClr val="003399"/>
                        </a:solidFill>
                        <a:latin typeface="Cambria Math" panose="02040503050406030204" charset="0"/>
                        <a:ea typeface="MS Mincho" panose="02020609040205080304" charset="0"/>
                        <a:cs typeface="Cambria Math" panose="02040503050406030204" charset="0"/>
                      </a:rPr>
                      <m:t>,</m:t>
                    </m:r>
                    <m:r>
                      <a:rPr lang="en-US" altLang="zh-CN" sz="2400" b="1">
                        <a:solidFill>
                          <a:srgbClr val="003399"/>
                        </a:solidFill>
                        <a:latin typeface="Cambria Math" panose="02040503050406030204" charset="0"/>
                        <a:ea typeface="MS Mincho" panose="02020609040205080304" charset="0"/>
                        <a:cs typeface="Cambria Math" panose="02040503050406030204" charset="0"/>
                      </a:rPr>
                      <m:t>1</m:t>
                    </m:r>
                    <m:r>
                      <a:rPr lang="en-US" altLang="zh-CN" sz="2400" b="1">
                        <a:solidFill>
                          <a:srgbClr val="003399"/>
                        </a:solidFill>
                        <a:latin typeface="Cambria Math" panose="02040503050406030204" charset="0"/>
                        <a:ea typeface="MS Mincho" panose="02020609040205080304" charset="0"/>
                        <a:cs typeface="Cambria Math" panose="02040503050406030204" charset="0"/>
                      </a:rPr>
                      <m:t>)}</m:t>
                    </m:r>
                  </m:oMath>
                </a14:m>
                <a:r>
                  <a:rPr lang="zh-CN" altLang="en-US" sz="2200" b="1">
                    <a:solidFill>
                      <a:srgbClr val="003399"/>
                    </a:solidFill>
                    <a:latin typeface="宋体" charset="0"/>
                    <a:ea typeface="楷体_GB2312" charset="0"/>
                  </a:rPr>
                  <a:t>的图灵机。</a:t>
                </a:r>
                <a:endParaRPr lang="zh-CN" altLang="en-US" sz="2200" b="1">
                  <a:solidFill>
                    <a:srgbClr val="003399"/>
                  </a:solidFill>
                  <a:latin typeface="宋体" charset="0"/>
                  <a:ea typeface="楷体_GB2312" charset="0"/>
                </a:endParaRPr>
              </a:p>
              <a:p>
                <a:pPr marL="457200" indent="-457200" algn="l" rtl="0" eaLnBrk="1" hangingPunct="1">
                  <a:lnSpc>
                    <a:spcPct val="120000"/>
                  </a:lnSpc>
                  <a:spcBef>
                    <a:spcPct val="20000"/>
                  </a:spcBef>
                  <a:spcAft>
                    <a:spcPct val="0"/>
                  </a:spcAft>
                  <a:buClr>
                    <a:schemeClr val="folHlink"/>
                  </a:buClr>
                  <a:buFont typeface="Wingdings" panose="05000000000000000000" charset="0"/>
                  <a:buChar char="n"/>
                </a:pPr>
                <a:r>
                  <a:rPr lang="zh-CN" altLang="en-US" sz="2200" b="1">
                    <a:solidFill>
                      <a:srgbClr val="003399"/>
                    </a:solidFill>
                    <a:latin typeface="宋体" charset="0"/>
                    <a:ea typeface="楷体_GB2312" charset="0"/>
                  </a:rPr>
                  <a:t>构造双带确定型图灵机 </a:t>
                </a:r>
                <a:r>
                  <a:rPr lang="en-US" altLang="zh-CN" sz="2200" b="1">
                    <a:solidFill>
                      <a:srgbClr val="003399"/>
                    </a:solidFill>
                    <a:latin typeface="宋体" charset="0"/>
                    <a:ea typeface="楷体_GB2312" charset="0"/>
                  </a:rPr>
                  <a:t>M</a:t>
                </a:r>
                <a:r>
                  <a:rPr lang="zh-CN" altLang="en-US" sz="2200" b="1">
                    <a:solidFill>
                      <a:srgbClr val="003399"/>
                    </a:solidFill>
                    <a:latin typeface="宋体" charset="0"/>
                    <a:ea typeface="楷体_GB2312" charset="0"/>
                  </a:rPr>
                  <a:t>接受语言</a:t>
                </a:r>
                <a:r>
                  <a:rPr lang="en-US" altLang="zh-CN" sz="2200" b="1">
                    <a:solidFill>
                      <a:srgbClr val="003399"/>
                    </a:solidFill>
                    <a:latin typeface="宋体" charset="0"/>
                    <a:ea typeface="楷体_GB2312" charset="0"/>
                  </a:rPr>
                  <a:t>L</a:t>
                </a:r>
                <a:r>
                  <a:rPr lang="zh-CN" altLang="en-US" sz="2200" b="1">
                    <a:solidFill>
                      <a:srgbClr val="003399"/>
                    </a:solidFill>
                    <a:latin typeface="宋体" charset="0"/>
                    <a:ea typeface="楷体_GB2312" charset="0"/>
                  </a:rPr>
                  <a:t>：设</a:t>
                </a:r>
                <a:r>
                  <a:rPr lang="en-US" altLang="zh-CN" sz="2200" b="1">
                    <a:solidFill>
                      <a:srgbClr val="003399"/>
                    </a:solidFill>
                    <a:latin typeface="宋体" charset="0"/>
                    <a:ea typeface="楷体_GB2312" charset="0"/>
                  </a:rPr>
                  <a:t>M</a:t>
                </a:r>
                <a:r>
                  <a:rPr lang="zh-CN" altLang="en-US" sz="2200" b="1">
                    <a:solidFill>
                      <a:srgbClr val="003399"/>
                    </a:solidFill>
                    <a:latin typeface="宋体" charset="0"/>
                    <a:ea typeface="楷体_GB2312" charset="0"/>
                  </a:rPr>
                  <a:t>有一条输入带和一条工作带，</a:t>
                </a:r>
                <a:r>
                  <a:rPr lang="en-US" altLang="zh-CN" sz="2200" b="1">
                    <a:solidFill>
                      <a:srgbClr val="003399"/>
                    </a:solidFill>
                    <a:latin typeface="宋体" charset="0"/>
                    <a:ea typeface="楷体_GB2312" charset="0"/>
                  </a:rPr>
                  <a:t>M</a:t>
                </a:r>
                <a:r>
                  <a:rPr lang="zh-CN" altLang="en-US" sz="2200" b="1">
                    <a:solidFill>
                      <a:srgbClr val="003399"/>
                    </a:solidFill>
                    <a:latin typeface="宋体" charset="0"/>
                    <a:ea typeface="楷体_GB2312" charset="0"/>
                  </a:rPr>
                  <a:t>的带头从左向右移动，把输入串的符号依次拷贝到工作带上，直至在输入带上读到</a:t>
                </a:r>
                <a:r>
                  <a:rPr lang="en-US" altLang="zh-CN" sz="2200" b="1">
                    <a:solidFill>
                      <a:srgbClr val="003399"/>
                    </a:solidFill>
                    <a:latin typeface="宋体" charset="0"/>
                    <a:ea typeface="楷体_GB2312" charset="0"/>
                  </a:rPr>
                  <a:t>c</a:t>
                </a:r>
                <a:r>
                  <a:rPr lang="zh-CN" altLang="en-US" sz="2200" b="1">
                    <a:solidFill>
                      <a:srgbClr val="003399"/>
                    </a:solidFill>
                    <a:latin typeface="宋体" charset="0"/>
                    <a:ea typeface="楷体_GB2312" charset="0"/>
                  </a:rPr>
                  <a:t>为止（不拷贝 </a:t>
                </a:r>
                <a:r>
                  <a:rPr lang="en-US" altLang="zh-CN" sz="2200" b="1">
                    <a:solidFill>
                      <a:srgbClr val="003399"/>
                    </a:solidFill>
                    <a:latin typeface="宋体" charset="0"/>
                    <a:ea typeface="楷体_GB2312" charset="0"/>
                  </a:rPr>
                  <a:t>c</a:t>
                </a:r>
                <a:r>
                  <a:rPr lang="zh-CN" altLang="en-US" sz="2200" b="1">
                    <a:solidFill>
                      <a:srgbClr val="003399"/>
                    </a:solidFill>
                    <a:latin typeface="宋体" charset="0"/>
                    <a:ea typeface="楷体_GB2312" charset="0"/>
                  </a:rPr>
                  <a:t>）然后输入带带头继续向右，而工作带带头同时向左移动且比较它们扫描的符号。如果两个带头同时读完它们扫描的字符串并且每一步扫描的符号都相同，则接受输入串，否则拒绝输人串。</a:t>
                </a:r>
                <a:r>
                  <a:rPr lang="en-US" altLang="zh-CN" sz="2200" b="1">
                    <a:solidFill>
                      <a:srgbClr val="003399"/>
                    </a:solidFill>
                    <a:latin typeface="宋体" charset="0"/>
                    <a:ea typeface="楷体_GB2312" charset="0"/>
                  </a:rPr>
                  <a:t>M </a:t>
                </a:r>
                <a:r>
                  <a:rPr lang="zh-CN" altLang="en-US" sz="2200" b="1">
                    <a:solidFill>
                      <a:srgbClr val="003399"/>
                    </a:solidFill>
                    <a:latin typeface="宋体" charset="0"/>
                    <a:ea typeface="楷体_GB2312" charset="0"/>
                  </a:rPr>
                  <a:t>的时间复杂度为</a:t>
                </a:r>
                <a:r>
                  <a:rPr lang="en-US" altLang="zh-CN" sz="2200" b="1">
                    <a:solidFill>
                      <a:srgbClr val="003399"/>
                    </a:solidFill>
                    <a:latin typeface="宋体" charset="0"/>
                    <a:ea typeface="楷体_GB2312" charset="0"/>
                  </a:rPr>
                  <a:t>O(n),</a:t>
                </a:r>
                <a:r>
                  <a:rPr lang="zh-CN" altLang="en-US" sz="2200" b="1">
                    <a:solidFill>
                      <a:srgbClr val="003399"/>
                    </a:solidFill>
                    <a:latin typeface="宋体" charset="0"/>
                    <a:ea typeface="楷体_GB2312" charset="0"/>
                  </a:rPr>
                  <a:t>空间复杂度也为 </a:t>
                </a:r>
                <a:r>
                  <a:rPr lang="en-US" altLang="zh-CN" sz="2200" b="1">
                    <a:solidFill>
                      <a:srgbClr val="003399"/>
                    </a:solidFill>
                    <a:latin typeface="宋体" charset="0"/>
                    <a:ea typeface="楷体_GB2312" charset="0"/>
                  </a:rPr>
                  <a:t>O(n)</a:t>
                </a:r>
                <a:r>
                  <a:rPr lang="zh-CN" altLang="en-US" sz="2200" b="1">
                    <a:solidFill>
                      <a:srgbClr val="003399"/>
                    </a:solidFill>
                    <a:latin typeface="宋体" charset="0"/>
                    <a:ea typeface="楷体_GB2312" charset="0"/>
                  </a:rPr>
                  <a:t>。</a:t>
                </a:r>
                <a:endParaRPr lang="zh-CN" altLang="en-US" sz="2200" b="1">
                  <a:solidFill>
                    <a:srgbClr val="003399"/>
                  </a:solidFill>
                  <a:latin typeface="宋体" charset="0"/>
                  <a:ea typeface="楷体_GB2312" charset="0"/>
                </a:endParaRPr>
              </a:p>
              <a:p>
                <a:pPr marL="0" indent="0" algn="l" rtl="0" eaLnBrk="1" hangingPunct="1">
                  <a:lnSpc>
                    <a:spcPct val="120000"/>
                  </a:lnSpc>
                  <a:spcBef>
                    <a:spcPct val="20000"/>
                  </a:spcBef>
                  <a:spcAft>
                    <a:spcPct val="0"/>
                  </a:spcAft>
                  <a:buClr>
                    <a:schemeClr val="folHlink"/>
                  </a:buClr>
                  <a:buNone/>
                </a:pPr>
                <a:endParaRPr lang="zh-CN" altLang="en-US" sz="2200" b="1">
                  <a:solidFill>
                    <a:srgbClr val="003399"/>
                  </a:solidFill>
                  <a:latin typeface="宋体" charset="0"/>
                  <a:ea typeface="楷体_GB2312"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64120" y="2668092"/>
                <a:ext cx="8020094" cy="3732742"/>
              </a:xfrm>
              <a:prstGeom prst="rect">
                <a:avLst/>
              </a:prstGeom>
              <a:blipFill rotWithShape="1">
                <a:blip r:embed="rId1"/>
                <a:stretch>
                  <a:fillRect l="-7" t="-12" r="7" b="-4711"/>
                </a:stretch>
              </a:blipFill>
              <a:ln>
                <a:noFill/>
              </a:ln>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90204" pitchFamily="34" charset="0"/>
                <a:ea typeface="华文行楷" panose="02010800040101010101" charset="-122"/>
              </a:rPr>
              <a:t>可判定问题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400810"/>
            <a:ext cx="8597900" cy="518795"/>
          </a:xfrm>
          <a:prstGeom prst="rect">
            <a:avLst/>
          </a:prstGeom>
          <a:noFill/>
        </p:spPr>
        <p:txBody>
          <a:bodyPr wrap="square" rtlCol="0" anchor="t">
            <a:noAutofit/>
          </a:bodyPr>
          <a:p>
            <a:pPr marL="0" indent="0">
              <a:buNone/>
            </a:pPr>
            <a:r>
              <a:rPr lang="zh-CN" altLang="en-US" sz="2400" b="1">
                <a:solidFill>
                  <a:srgbClr val="800080"/>
                </a:solidFill>
                <a:ea typeface="华文行楷" panose="02010800040101010101" charset="-122"/>
                <a:sym typeface="+mn-ea"/>
              </a:rPr>
              <a:t>可判定问题:  </a:t>
            </a:r>
            <a:r>
              <a:rPr lang="zh-CN" altLang="en-US" sz="2400" b="1">
                <a:solidFill>
                  <a:srgbClr val="333399"/>
                </a:solidFill>
                <a:ea typeface="华文行楷" panose="02010800040101010101" charset="-122"/>
                <a:sym typeface="+mn-ea"/>
              </a:rPr>
              <a:t>对于语言</a:t>
            </a:r>
            <a:r>
              <a:rPr lang="en-US" altLang="zh-CN" sz="2400" b="1">
                <a:solidFill>
                  <a:srgbClr val="333399"/>
                </a:solidFill>
                <a:ea typeface="华文行楷" panose="02010800040101010101" charset="-122"/>
                <a:sym typeface="+mn-ea"/>
              </a:rPr>
              <a:t>L </a:t>
            </a:r>
            <a:r>
              <a:rPr lang="zh-CN" altLang="en-US" sz="2400" b="1">
                <a:solidFill>
                  <a:srgbClr val="333399"/>
                </a:solidFill>
                <a:ea typeface="华文行楷" panose="02010800040101010101" charset="-122"/>
                <a:sym typeface="+mn-ea"/>
              </a:rPr>
              <a:t>，如果存在一个图灵机，对任意输入字符串 </a:t>
            </a:r>
            <a:r>
              <a:rPr lang="en-US" altLang="zh-CN" sz="2400" b="1">
                <a:solidFill>
                  <a:srgbClr val="333399"/>
                </a:solidFill>
                <a:ea typeface="华文行楷" panose="02010800040101010101" charset="-122"/>
                <a:sym typeface="+mn-ea"/>
              </a:rPr>
              <a:t>w</a:t>
            </a:r>
            <a:r>
              <a:rPr lang="zh-CN" altLang="en-US" sz="2400" b="1">
                <a:solidFill>
                  <a:srgbClr val="333399"/>
                </a:solidFill>
                <a:ea typeface="华文行楷" panose="02010800040101010101" charset="-122"/>
                <a:sym typeface="+mn-ea"/>
              </a:rPr>
              <a:t>；若 </a:t>
            </a:r>
            <a:r>
              <a:rPr lang="en-US" altLang="zh-CN" sz="2400" b="1">
                <a:solidFill>
                  <a:srgbClr val="333399"/>
                </a:solidFill>
                <a:ea typeface="华文行楷" panose="02010800040101010101" charset="-122"/>
                <a:sym typeface="+mn-ea"/>
              </a:rPr>
              <a:t>w∈L，</a:t>
            </a:r>
            <a:r>
              <a:rPr lang="zh-CN" altLang="en-US" sz="2400" b="1">
                <a:solidFill>
                  <a:srgbClr val="333399"/>
                </a:solidFill>
                <a:ea typeface="华文行楷" panose="02010800040101010101" charset="-122"/>
                <a:sym typeface="+mn-ea"/>
              </a:rPr>
              <a:t>则停机并接受；若 </a:t>
            </a:r>
            <a:r>
              <a:rPr lang="en-US" altLang="zh-CN" sz="2400" b="1">
                <a:solidFill>
                  <a:srgbClr val="333399"/>
                </a:solidFill>
                <a:ea typeface="华文行楷" panose="02010800040101010101" charset="-122"/>
                <a:sym typeface="+mn-ea"/>
              </a:rPr>
              <a:t>w∉L，</a:t>
            </a:r>
            <a:r>
              <a:rPr lang="zh-CN" altLang="en-US" sz="2400" b="1">
                <a:solidFill>
                  <a:srgbClr val="333399"/>
                </a:solidFill>
                <a:ea typeface="华文行楷" panose="02010800040101010101" charset="-122"/>
                <a:sym typeface="+mn-ea"/>
              </a:rPr>
              <a:t>则停机并拒绝。则</a:t>
            </a:r>
            <a:r>
              <a:rPr lang="en-US" altLang="zh-CN" sz="2400" b="1">
                <a:solidFill>
                  <a:srgbClr val="333399"/>
                </a:solidFill>
                <a:ea typeface="华文行楷" panose="02010800040101010101" charset="-122"/>
                <a:sym typeface="+mn-ea"/>
              </a:rPr>
              <a:t>L </a:t>
            </a:r>
            <a:r>
              <a:rPr lang="zh-CN" altLang="en-US" sz="2400" b="1">
                <a:solidFill>
                  <a:srgbClr val="333399"/>
                </a:solidFill>
                <a:ea typeface="华文行楷" panose="02010800040101010101" charset="-122"/>
                <a:sym typeface="+mn-ea"/>
              </a:rPr>
              <a:t>是可判定的。</a:t>
            </a:r>
            <a:endParaRPr lang="zh-CN" altLang="en-US" sz="2400" b="1">
              <a:solidFill>
                <a:srgbClr val="333399"/>
              </a:solidFill>
              <a:ea typeface="华文行楷" panose="02010800040101010101" charset="-122"/>
              <a:sym typeface="+mn-ea"/>
            </a:endParaRPr>
          </a:p>
        </p:txBody>
      </p:sp>
      <p:sp>
        <p:nvSpPr>
          <p:cNvPr id="3" name="文本框 2"/>
          <p:cNvSpPr txBox="1"/>
          <p:nvPr/>
        </p:nvSpPr>
        <p:spPr>
          <a:xfrm>
            <a:off x="473747" y="2864136"/>
            <a:ext cx="8025413" cy="2454275"/>
          </a:xfrm>
          <a:prstGeom prst="rect">
            <a:avLst/>
          </a:prstGeom>
          <a:noFill/>
          <a:ln>
            <a:noFill/>
          </a:ln>
        </p:spPr>
        <p:txBody>
          <a:bodyPr wrap="square" anchor="t">
            <a:noAutofit/>
          </a:bodyPr>
          <a:p>
            <a:pPr marL="457200" indent="-457200" eaLnBrk="1" hangingPunct="1">
              <a:lnSpc>
                <a:spcPct val="120000"/>
              </a:lnSpc>
              <a:spcBef>
                <a:spcPct val="20000"/>
              </a:spcBef>
              <a:buClr>
                <a:schemeClr val="folHlink"/>
              </a:buClr>
              <a:buFont typeface="Wingdings" panose="05000000000000000000" charset="0"/>
              <a:buChar char="n"/>
            </a:pPr>
            <a:r>
              <a:rPr lang="zh-CN" altLang="en-US" sz="2400" b="1">
                <a:solidFill>
                  <a:srgbClr val="003399"/>
                </a:solidFill>
                <a:latin typeface="宋体" charset="0"/>
                <a:ea typeface="楷体_GB2312" charset="0"/>
              </a:rPr>
              <a:t>对于可判定问题，判定器一定停机，不会进入无限循环。</a:t>
            </a:r>
            <a:endParaRPr lang="zh-CN" altLang="en-US" sz="24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r>
              <a:rPr lang="zh-CN" altLang="en-US" sz="2400" b="1">
                <a:solidFill>
                  <a:srgbClr val="003399"/>
                </a:solidFill>
                <a:latin typeface="宋体" charset="0"/>
                <a:ea typeface="楷体_GB2312" charset="0"/>
              </a:rPr>
              <a:t>成员问题：是给定一个语言</a:t>
            </a:r>
            <a:r>
              <a:rPr lang="en-US" altLang="zh-CN" sz="2400" b="1">
                <a:solidFill>
                  <a:srgbClr val="003399"/>
                </a:solidFill>
                <a:latin typeface="宋体" charset="0"/>
                <a:ea typeface="楷体_GB2312" charset="0"/>
              </a:rPr>
              <a:t>L</a:t>
            </a:r>
            <a:r>
              <a:rPr lang="zh-CN" altLang="en-US" sz="2400" b="1">
                <a:solidFill>
                  <a:srgbClr val="003399"/>
                </a:solidFill>
                <a:latin typeface="宋体" charset="0"/>
                <a:ea typeface="楷体_GB2312" charset="0"/>
              </a:rPr>
              <a:t>和一个字符串 </a:t>
            </a:r>
            <a:r>
              <a:rPr lang="en-US" altLang="zh-CN" sz="2400" b="1">
                <a:solidFill>
                  <a:srgbClr val="003399"/>
                </a:solidFill>
                <a:latin typeface="宋体" charset="0"/>
                <a:ea typeface="楷体_GB2312" charset="0"/>
              </a:rPr>
              <a:t>w，</a:t>
            </a:r>
            <a:r>
              <a:rPr lang="zh-CN" altLang="en-US" sz="2400" b="1">
                <a:solidFill>
                  <a:srgbClr val="003399"/>
                </a:solidFill>
                <a:latin typeface="宋体" charset="0"/>
                <a:ea typeface="楷体_GB2312" charset="0"/>
              </a:rPr>
              <a:t>判断 </a:t>
            </a:r>
            <a:r>
              <a:rPr lang="en-US" altLang="zh-CN" sz="2400" b="1">
                <a:solidFill>
                  <a:srgbClr val="003399"/>
                </a:solidFill>
                <a:latin typeface="宋体" charset="0"/>
                <a:ea typeface="楷体_GB2312" charset="0"/>
              </a:rPr>
              <a:t>w </a:t>
            </a:r>
            <a:r>
              <a:rPr lang="zh-CN" altLang="en-US" sz="2400" b="1">
                <a:solidFill>
                  <a:srgbClr val="003399"/>
                </a:solidFill>
                <a:latin typeface="宋体" charset="0"/>
                <a:ea typeface="楷体_GB2312" charset="0"/>
              </a:rPr>
              <a:t>是否属于 </a:t>
            </a:r>
            <a:r>
              <a:rPr lang="en-US" altLang="zh-CN" sz="2400" b="1">
                <a:solidFill>
                  <a:srgbClr val="003399"/>
                </a:solidFill>
                <a:latin typeface="宋体" charset="0"/>
                <a:ea typeface="楷体_GB2312" charset="0"/>
              </a:rPr>
              <a:t>L</a:t>
            </a:r>
            <a:r>
              <a:rPr lang="zh-CN" altLang="en-US" sz="2400" b="1">
                <a:solidFill>
                  <a:srgbClr val="003399"/>
                </a:solidFill>
                <a:latin typeface="宋体" charset="0"/>
                <a:ea typeface="楷体_GB2312" charset="0"/>
              </a:rPr>
              <a:t>。</a:t>
            </a:r>
            <a:endParaRPr lang="en-US" altLang="zh-CN" sz="24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r>
              <a:rPr lang="zh-CN" altLang="en-US" sz="2400" b="1">
                <a:solidFill>
                  <a:srgbClr val="003399"/>
                </a:solidFill>
                <a:latin typeface="宋体" charset="0"/>
                <a:ea typeface="楷体_GB2312" charset="0"/>
              </a:rPr>
              <a:t>所有正则语言的成员问题都是可判定的。（对）</a:t>
            </a:r>
            <a:endParaRPr lang="zh-CN" altLang="en-US" sz="24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r>
              <a:rPr lang="zh-CN" altLang="en-US" sz="2400" b="1">
                <a:solidFill>
                  <a:srgbClr val="003399"/>
                </a:solidFill>
                <a:latin typeface="宋体" charset="0"/>
                <a:ea typeface="楷体_GB2312" charset="0"/>
              </a:rPr>
              <a:t>正则语言全都是可判定语言。（对）</a:t>
            </a:r>
            <a:endParaRPr lang="zh-CN" altLang="en-US" sz="2400" b="1">
              <a:solidFill>
                <a:srgbClr val="003399"/>
              </a:solidFill>
              <a:latin typeface="宋体" charset="0"/>
              <a:ea typeface="楷体_GB2312" charset="0"/>
            </a:endParaRPr>
          </a:p>
          <a:p>
            <a:pPr marL="0" indent="0" eaLnBrk="1" hangingPunct="1">
              <a:lnSpc>
                <a:spcPct val="120000"/>
              </a:lnSpc>
              <a:spcBef>
                <a:spcPct val="20000"/>
              </a:spcBef>
              <a:buClr>
                <a:schemeClr val="folHlink"/>
              </a:buClr>
              <a:buNone/>
            </a:pPr>
            <a:endParaRPr lang="en-US" altLang="zh-CN" sz="2400" b="1">
              <a:solidFill>
                <a:srgbClr val="003399"/>
              </a:solidFill>
              <a:latin typeface="宋体" charset="0"/>
              <a:ea typeface="楷体_GB2312" charset="0"/>
            </a:endParaRPr>
          </a:p>
          <a:p>
            <a:pPr marL="0" indent="0" eaLnBrk="1" hangingPunct="1">
              <a:lnSpc>
                <a:spcPct val="120000"/>
              </a:lnSpc>
              <a:spcBef>
                <a:spcPct val="20000"/>
              </a:spcBef>
              <a:buClr>
                <a:schemeClr val="folHlink"/>
              </a:buClr>
              <a:buNone/>
            </a:pPr>
            <a:endParaRPr lang="zh-CN" altLang="en-US" sz="24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zh-CN" altLang="en-US" sz="2400" b="1">
              <a:solidFill>
                <a:srgbClr val="003399"/>
              </a:solidFill>
              <a:latin typeface="宋体" charset="0"/>
              <a:ea typeface="楷体_GB2312" charset="0"/>
            </a:endParaRPr>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fld id="{685F4417-851C-9143-80AC-DF96C5C1C643}" type="slidenum">
              <a:rPr kumimoji="0" lang="zh-CN" altLang="en-US" sz="1200">
                <a:solidFill>
                  <a:srgbClr val="009999"/>
                </a:solidFill>
                <a:latin typeface="Arial Narrow" panose="020B0606020202030204" charset="0"/>
                <a:ea typeface="宋体" pitchFamily="2" charset="-122"/>
              </a:rPr>
            </a:fld>
            <a:endParaRPr kumimoji="0" lang="en-US" altLang="zh-CN" sz="1200">
              <a:solidFill>
                <a:srgbClr val="009999"/>
              </a:solidFill>
              <a:latin typeface="Arial Narrow" panose="020B0606020202030204" charset="0"/>
              <a:ea typeface="宋体" pitchFamily="2" charset="-122"/>
            </a:endParaRPr>
          </a:p>
        </p:txBody>
      </p:sp>
      <p:sp>
        <p:nvSpPr>
          <p:cNvPr id="2253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spcBef>
                <a:spcPct val="0"/>
              </a:spcBef>
              <a:buClrTx/>
              <a:buSzTx/>
              <a:buFontTx/>
              <a:buNone/>
            </a:pPr>
            <a:r>
              <a:rPr lang="en-US" altLang="zh-CN" sz="1200">
                <a:solidFill>
                  <a:srgbClr val="009999"/>
                </a:solidFill>
                <a:latin typeface="Arial Narrow" panose="020B0606020202030204" charset="0"/>
                <a:ea typeface="宋体" pitchFamily="2" charset="-122"/>
              </a:rPr>
              <a:t>School of Computer Science &amp; Technology, BUPT</a:t>
            </a:r>
            <a:endParaRPr lang="zh-CN" altLang="en-US" sz="1200">
              <a:solidFill>
                <a:srgbClr val="009999"/>
              </a:solidFill>
              <a:latin typeface="Arial Narrow" panose="020B0606020202030204" charset="0"/>
              <a:ea typeface="宋体" pitchFamily="2" charset="-122"/>
            </a:endParaRPr>
          </a:p>
        </p:txBody>
      </p:sp>
      <p:sp>
        <p:nvSpPr>
          <p:cNvPr id="22531" name="Rectangle 2"/>
          <p:cNvSpPr>
            <a:spLocks noChangeArrowheads="1"/>
          </p:cNvSpPr>
          <p:nvPr/>
        </p:nvSpPr>
        <p:spPr bwMode="auto">
          <a:xfrm>
            <a:off x="683260" y="5334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2800" b="1">
                <a:solidFill>
                  <a:schemeClr val="tx1"/>
                </a:solidFill>
                <a:latin typeface="Times New Roman" panose="02020503050405090304" charset="0"/>
                <a:ea typeface="楷体_GB2312" charset="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imes New Roman" panose="02020503050405090304" charset="0"/>
                <a:ea typeface="楷体_GB2312" charset="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3pPr>
            <a:lvl4pPr marL="1600200" indent="-228600">
              <a:spcBef>
                <a:spcPct val="20000"/>
              </a:spcBef>
              <a:buClr>
                <a:schemeClr val="accent2"/>
              </a:buClr>
              <a:buSzPct val="55000"/>
              <a:buFont typeface="Wingdings" panose="05000000000000000000" pitchFamily="2" charset="2"/>
              <a:buChar char="n"/>
              <a:defRPr kumimoji="1" sz="2400">
                <a:solidFill>
                  <a:schemeClr val="tx1"/>
                </a:solidFill>
                <a:latin typeface="Times New Roman" panose="02020503050405090304" charset="0"/>
                <a:ea typeface="楷体_GB2312" charset="0"/>
              </a:defRPr>
            </a:lvl4pPr>
            <a:lvl5pPr marL="2057400" indent="-228600">
              <a:spcBef>
                <a:spcPct val="20000"/>
              </a:spcBef>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Times New Roman" panose="02020503050405090304" charset="0"/>
                <a:ea typeface="楷体_GB2312" charset="0"/>
              </a:defRPr>
            </a:lvl9pPr>
          </a:lstStyle>
          <a:p>
            <a:pPr algn="ctr" eaLnBrk="1" hangingPunct="1">
              <a:lnSpc>
                <a:spcPct val="90000"/>
              </a:lnSpc>
              <a:spcBef>
                <a:spcPct val="0"/>
              </a:spcBef>
              <a:buClrTx/>
              <a:buSzTx/>
              <a:buFontTx/>
              <a:buNone/>
            </a:pPr>
            <a:r>
              <a:rPr lang="zh-CN" altLang="en-US" sz="3200">
                <a:solidFill>
                  <a:srgbClr val="800080"/>
                </a:solidFill>
                <a:latin typeface="Arial" panose="020B0604020202090204" pitchFamily="34" charset="0"/>
                <a:ea typeface="华文行楷" panose="02010800040101010101" charset="-122"/>
              </a:rPr>
              <a:t>不可判定问题</a:t>
            </a:r>
            <a:endParaRPr lang="zh-CN" altLang="en-US" sz="3200">
              <a:solidFill>
                <a:srgbClr val="800080"/>
              </a:solidFill>
              <a:latin typeface="Arial" panose="020B0604020202090204" pitchFamily="34" charset="0"/>
              <a:ea typeface="华文行楷" panose="02010800040101010101" charset="-122"/>
            </a:endParaRPr>
          </a:p>
        </p:txBody>
      </p:sp>
      <p:sp>
        <p:nvSpPr>
          <p:cNvPr id="2" name="文本框 1"/>
          <p:cNvSpPr txBox="1"/>
          <p:nvPr/>
        </p:nvSpPr>
        <p:spPr>
          <a:xfrm>
            <a:off x="304800" y="1264739"/>
            <a:ext cx="8597900" cy="518795"/>
          </a:xfrm>
          <a:prstGeom prst="rect">
            <a:avLst/>
          </a:prstGeom>
          <a:noFill/>
        </p:spPr>
        <p:txBody>
          <a:bodyPr wrap="square" rtlCol="0" anchor="t">
            <a:noAutofit/>
          </a:bodyPr>
          <a:p>
            <a:pPr marL="0" indent="0">
              <a:buNone/>
            </a:pPr>
            <a:r>
              <a:rPr lang="zh-CN" altLang="en-US" sz="2400" b="1">
                <a:solidFill>
                  <a:srgbClr val="800080"/>
                </a:solidFill>
                <a:ea typeface="华文行楷" panose="02010800040101010101" charset="-122"/>
                <a:sym typeface="+mn-ea"/>
              </a:rPr>
              <a:t>停机</a:t>
            </a:r>
            <a:r>
              <a:rPr lang="zh-CN" altLang="en-US" sz="2400" b="1">
                <a:solidFill>
                  <a:srgbClr val="800080"/>
                </a:solidFill>
                <a:ea typeface="华文行楷" panose="02010800040101010101" charset="-122"/>
                <a:cs typeface="Arial" panose="020B0604020202090204" pitchFamily="34" charset="0"/>
                <a:sym typeface="+mn-ea"/>
              </a:rPr>
              <a:t>问题</a:t>
            </a:r>
            <a:r>
              <a:rPr lang="en-US" altLang="zh-CN" sz="2400" b="1">
                <a:solidFill>
                  <a:srgbClr val="800080"/>
                </a:solidFill>
                <a:ea typeface="华文行楷" panose="02010800040101010101" charset="-122"/>
                <a:cs typeface="Arial" panose="020B0604020202090204" pitchFamily="34" charset="0"/>
                <a:sym typeface="+mn-ea"/>
              </a:rPr>
              <a:t>: </a:t>
            </a:r>
            <a:r>
              <a:rPr lang="zh-CN" altLang="en-US" sz="2400" b="1">
                <a:solidFill>
                  <a:srgbClr val="333399"/>
                </a:solidFill>
                <a:ea typeface="华文行楷" panose="02010800040101010101" charset="-122"/>
                <a:sym typeface="+mn-ea"/>
              </a:rPr>
              <a:t>任给一个程序和一个输入，是否存在一个一般的算法，判断程序对该输入的 计算最终是否停止?</a:t>
            </a:r>
            <a:endParaRPr lang="zh-CN" altLang="en-US" sz="2400" b="1">
              <a:solidFill>
                <a:srgbClr val="333399"/>
              </a:solidFill>
              <a:ea typeface="华文行楷" panose="02010800040101010101" charset="-122"/>
              <a:sym typeface="+mn-ea"/>
            </a:endParaRPr>
          </a:p>
        </p:txBody>
      </p:sp>
      <p:sp>
        <p:nvSpPr>
          <p:cNvPr id="5" name="文本框 4"/>
          <p:cNvSpPr txBox="1"/>
          <p:nvPr/>
        </p:nvSpPr>
        <p:spPr>
          <a:xfrm>
            <a:off x="559294" y="2011363"/>
            <a:ext cx="8025413" cy="4307795"/>
          </a:xfrm>
          <a:prstGeom prst="rect">
            <a:avLst/>
          </a:prstGeom>
          <a:noFill/>
        </p:spPr>
        <p:txBody>
          <a:bodyPr wrap="square" anchor="t">
            <a:noAutofit/>
          </a:bodyPr>
          <a:p>
            <a:pPr marL="457200" indent="-457200" eaLnBrk="1" hangingPunct="1">
              <a:lnSpc>
                <a:spcPct val="120000"/>
              </a:lnSpc>
              <a:spcBef>
                <a:spcPct val="20000"/>
              </a:spcBef>
              <a:buClr>
                <a:schemeClr val="folHlink"/>
              </a:buClr>
              <a:buFont typeface="Wingdings" panose="05000000000000000000" charset="0"/>
              <a:buChar char="n"/>
            </a:pPr>
            <a:r>
              <a:rPr lang="zh-CN" altLang="en-US" sz="1800" b="1">
                <a:solidFill>
                  <a:srgbClr val="003399"/>
                </a:solidFill>
                <a:latin typeface="宋体" charset="0"/>
                <a:ea typeface="楷体_GB2312" charset="0"/>
              </a:rPr>
              <a:t>假设停机问题可判定，则存在一个判定程序 </a:t>
            </a:r>
            <a:r>
              <a:rPr lang="en-US" altLang="zh-CN" sz="1800" b="1">
                <a:solidFill>
                  <a:srgbClr val="003399"/>
                </a:solidFill>
                <a:latin typeface="宋体" charset="0"/>
                <a:ea typeface="楷体_GB2312" charset="0"/>
              </a:rPr>
              <a:t>P,</a:t>
            </a:r>
            <a:r>
              <a:rPr lang="zh-CN" altLang="en-US" sz="1800" b="1">
                <a:solidFill>
                  <a:srgbClr val="003399"/>
                </a:solidFill>
                <a:latin typeface="宋体" charset="0"/>
                <a:ea typeface="楷体_GB2312" charset="0"/>
              </a:rPr>
              <a:t>可以判断任一程序 </a:t>
            </a:r>
            <a:r>
              <a:rPr lang="en-US" altLang="zh-CN" sz="1800" b="1">
                <a:solidFill>
                  <a:srgbClr val="003399"/>
                </a:solidFill>
                <a:latin typeface="宋体" charset="0"/>
                <a:ea typeface="楷体_GB2312" charset="0"/>
              </a:rPr>
              <a:t>f </a:t>
            </a:r>
            <a:r>
              <a:rPr lang="zh-CN" altLang="en-US" sz="1800" b="1">
                <a:solidFill>
                  <a:srgbClr val="003399"/>
                </a:solidFill>
                <a:latin typeface="宋体" charset="0"/>
                <a:ea typeface="楷体_GB2312" charset="0"/>
              </a:rPr>
              <a:t>对输入 </a:t>
            </a:r>
            <a:r>
              <a:rPr lang="en-US" altLang="zh-CN" sz="1800" b="1">
                <a:solidFill>
                  <a:srgbClr val="003399"/>
                </a:solidFill>
                <a:latin typeface="宋体" charset="0"/>
                <a:ea typeface="楷体_GB2312" charset="0"/>
              </a:rPr>
              <a:t>x </a:t>
            </a:r>
            <a:r>
              <a:rPr lang="zh-CN" altLang="en-US" sz="1800" b="1">
                <a:solidFill>
                  <a:srgbClr val="003399"/>
                </a:solidFill>
                <a:latin typeface="宋体" charset="0"/>
                <a:ea typeface="楷体_GB2312" charset="0"/>
              </a:rPr>
              <a:t>的计算是否停止，先定义 </a:t>
            </a:r>
            <a:r>
              <a:rPr lang="en-US" altLang="zh-CN" sz="1800" b="1">
                <a:solidFill>
                  <a:srgbClr val="003399"/>
                </a:solidFill>
                <a:latin typeface="宋体" charset="0"/>
                <a:ea typeface="楷体_GB2312" charset="0"/>
              </a:rPr>
              <a:t>x </a:t>
            </a:r>
            <a:r>
              <a:rPr lang="zh-CN" altLang="en-US" sz="1800" b="1">
                <a:solidFill>
                  <a:srgbClr val="003399"/>
                </a:solidFill>
                <a:latin typeface="宋体" charset="0"/>
                <a:ea typeface="楷体_GB2312" charset="0"/>
              </a:rPr>
              <a:t>和 </a:t>
            </a:r>
            <a:r>
              <a:rPr lang="en-US" altLang="zh-CN" sz="1800" b="1">
                <a:solidFill>
                  <a:srgbClr val="003399"/>
                </a:solidFill>
                <a:latin typeface="宋体" charset="0"/>
                <a:ea typeface="楷体_GB2312" charset="0"/>
              </a:rPr>
              <a:t>f </a:t>
            </a:r>
            <a:r>
              <a:rPr lang="zh-CN" altLang="en-US" sz="1800" b="1">
                <a:solidFill>
                  <a:srgbClr val="003399"/>
                </a:solidFill>
                <a:latin typeface="宋体" charset="0"/>
                <a:ea typeface="楷体_GB2312" charset="0"/>
              </a:rPr>
              <a:t>都是 </a:t>
            </a:r>
            <a:r>
              <a:rPr lang="en-US" altLang="zh-CN" sz="1800" b="1">
                <a:solidFill>
                  <a:srgbClr val="003399"/>
                </a:solidFill>
                <a:latin typeface="宋体" charset="0"/>
                <a:ea typeface="楷体_GB2312" charset="0"/>
              </a:rPr>
              <a:t>P </a:t>
            </a:r>
            <a:r>
              <a:rPr lang="zh-CN" altLang="en-US" sz="1800" b="1">
                <a:solidFill>
                  <a:srgbClr val="003399"/>
                </a:solidFill>
                <a:latin typeface="宋体" charset="0"/>
                <a:ea typeface="楷体_GB2312" charset="0"/>
              </a:rPr>
              <a:t>的输入。</a:t>
            </a:r>
            <a:endParaRPr lang="zh-CN" altLang="en-US"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zh-CN" altLang="en-US"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r>
              <a:rPr lang="zh-CN" altLang="en-US" sz="1800" b="1">
                <a:solidFill>
                  <a:srgbClr val="003399"/>
                </a:solidFill>
                <a:latin typeface="宋体" charset="0"/>
                <a:ea typeface="楷体_GB2312" charset="0"/>
              </a:rPr>
              <a:t>再定义程序</a:t>
            </a:r>
            <a:endParaRPr lang="zh-CN" altLang="en-US"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en-US" altLang="zh-CN"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r>
              <a:rPr lang="zh-CN" altLang="en-US" sz="1800" b="1">
                <a:solidFill>
                  <a:srgbClr val="003399"/>
                </a:solidFill>
                <a:latin typeface="宋体" charset="0"/>
                <a:ea typeface="楷体_GB2312" charset="0"/>
              </a:rPr>
              <a:t>现在研究</a:t>
            </a:r>
            <a:r>
              <a:rPr lang="en-US" altLang="zh-CN" sz="1800" b="1">
                <a:solidFill>
                  <a:srgbClr val="003399"/>
                </a:solidFill>
                <a:latin typeface="宋体" charset="0"/>
                <a:ea typeface="楷体_GB2312" charset="0"/>
              </a:rPr>
              <a:t>P'</a:t>
            </a:r>
            <a:r>
              <a:rPr lang="zh-CN" altLang="en-US" sz="1800" b="1">
                <a:solidFill>
                  <a:srgbClr val="003399"/>
                </a:solidFill>
                <a:latin typeface="宋体" charset="0"/>
                <a:ea typeface="楷体_GB2312" charset="0"/>
              </a:rPr>
              <a:t>是否停机的问题。</a:t>
            </a:r>
            <a:endParaRPr lang="zh-CN" altLang="en-US" sz="1800" b="1">
              <a:solidFill>
                <a:srgbClr val="003399"/>
              </a:solidFill>
              <a:latin typeface="宋体" charset="0"/>
              <a:ea typeface="楷体_GB2312" charset="0"/>
            </a:endParaRPr>
          </a:p>
          <a:p>
            <a:pPr marL="914400" lvl="1" indent="-457200" eaLnBrk="1" hangingPunct="1">
              <a:lnSpc>
                <a:spcPct val="120000"/>
              </a:lnSpc>
              <a:spcBef>
                <a:spcPct val="20000"/>
              </a:spcBef>
              <a:buClr>
                <a:schemeClr val="folHlink"/>
              </a:buClr>
              <a:buFont typeface="Wingdings" panose="05000000000000000000" charset="0"/>
              <a:buChar char="n"/>
            </a:pPr>
            <a:r>
              <a:rPr lang="en-US" altLang="zh-CN" sz="1600" b="1">
                <a:solidFill>
                  <a:srgbClr val="003399"/>
                </a:solidFill>
                <a:latin typeface="楷体_GB2312" charset="0"/>
                <a:ea typeface="楷体_GB2312" charset="0"/>
                <a:cs typeface="楷体_GB2312" charset="0"/>
              </a:rPr>
              <a:t>(a)</a:t>
            </a:r>
            <a:r>
              <a:rPr lang="zh-CN" altLang="en-US" sz="1600" b="1">
                <a:solidFill>
                  <a:srgbClr val="003399"/>
                </a:solidFill>
                <a:latin typeface="楷体_GB2312" charset="0"/>
                <a:ea typeface="楷体_GB2312" charset="0"/>
                <a:cs typeface="楷体_GB2312" charset="0"/>
              </a:rPr>
              <a:t>若</a:t>
            </a:r>
            <a:r>
              <a:rPr lang="en-US" altLang="zh-CN" sz="1600" b="1">
                <a:solidFill>
                  <a:srgbClr val="003399"/>
                </a:solidFill>
                <a:latin typeface="楷体_GB2312" charset="0"/>
                <a:ea typeface="楷体_GB2312" charset="0"/>
                <a:cs typeface="楷体_GB2312" charset="0"/>
              </a:rPr>
              <a:t>P(x,P')=1</a:t>
            </a:r>
            <a:r>
              <a:rPr lang="zh-CN" altLang="en-US" sz="1600" b="1">
                <a:solidFill>
                  <a:srgbClr val="003399"/>
                </a:solidFill>
                <a:latin typeface="楷体_GB2312" charset="0"/>
                <a:ea typeface="楷体_GB2312" charset="0"/>
                <a:cs typeface="楷体_GB2312" charset="0"/>
              </a:rPr>
              <a:t>，根据</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定义，有</a:t>
            </a:r>
            <a:r>
              <a:rPr lang="en-US" altLang="zh-CN" sz="1600" b="1">
                <a:solidFill>
                  <a:srgbClr val="003399"/>
                </a:solidFill>
                <a:latin typeface="楷体_GB2312" charset="0"/>
                <a:ea typeface="楷体_GB2312" charset="0"/>
                <a:cs typeface="楷体_GB2312" charset="0"/>
              </a:rPr>
              <a:t>P'(x,P')=while(1)</a:t>
            </a:r>
            <a:r>
              <a:rPr lang="zh-CN" altLang="en-US" sz="1600" b="1">
                <a:solidFill>
                  <a:srgbClr val="003399"/>
                </a:solidFill>
                <a:latin typeface="楷体_GB2312" charset="0"/>
                <a:ea typeface="楷体_GB2312" charset="0"/>
                <a:cs typeface="楷体_GB2312" charset="0"/>
              </a:rPr>
              <a:t>，即</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不停机，则由</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的定义，有</a:t>
            </a:r>
            <a:r>
              <a:rPr lang="en-US" altLang="zh-CN" sz="1600" b="1">
                <a:solidFill>
                  <a:srgbClr val="003399"/>
                </a:solidFill>
                <a:latin typeface="楷体_GB2312" charset="0"/>
                <a:ea typeface="楷体_GB2312" charset="0"/>
                <a:cs typeface="楷体_GB2312" charset="0"/>
              </a:rPr>
              <a:t>P(x,P')=0</a:t>
            </a:r>
            <a:r>
              <a:rPr lang="zh-CN" altLang="en-US" sz="1600" b="1">
                <a:solidFill>
                  <a:srgbClr val="003399"/>
                </a:solidFill>
                <a:latin typeface="楷体_GB2312" charset="0"/>
                <a:ea typeface="楷体_GB2312" charset="0"/>
                <a:cs typeface="楷体_GB2312" charset="0"/>
              </a:rPr>
              <a:t>，导出矛盾。</a:t>
            </a:r>
            <a:endParaRPr lang="zh-CN" altLang="en-US" sz="1600" b="1">
              <a:solidFill>
                <a:srgbClr val="003399"/>
              </a:solidFill>
              <a:latin typeface="楷体_GB2312" charset="0"/>
              <a:ea typeface="楷体_GB2312" charset="0"/>
              <a:cs typeface="楷体_GB2312" charset="0"/>
            </a:endParaRPr>
          </a:p>
          <a:p>
            <a:pPr marL="914400" lvl="1" indent="-457200" eaLnBrk="1" hangingPunct="1">
              <a:lnSpc>
                <a:spcPct val="120000"/>
              </a:lnSpc>
              <a:spcBef>
                <a:spcPct val="20000"/>
              </a:spcBef>
              <a:buClr>
                <a:schemeClr val="folHlink"/>
              </a:buClr>
              <a:buFont typeface="Wingdings" panose="05000000000000000000" charset="0"/>
              <a:buChar char="n"/>
            </a:pPr>
            <a:r>
              <a:rPr lang="en-US" altLang="zh-CN" sz="1600" b="1">
                <a:solidFill>
                  <a:srgbClr val="003399"/>
                </a:solidFill>
                <a:latin typeface="楷体_GB2312" charset="0"/>
                <a:ea typeface="楷体_GB2312" charset="0"/>
                <a:cs typeface="楷体_GB2312" charset="0"/>
              </a:rPr>
              <a:t>(b)</a:t>
            </a:r>
            <a:r>
              <a:rPr lang="zh-CN" altLang="en-US" sz="1600" b="1">
                <a:solidFill>
                  <a:srgbClr val="003399"/>
                </a:solidFill>
                <a:latin typeface="楷体_GB2312" charset="0"/>
                <a:ea typeface="楷体_GB2312" charset="0"/>
                <a:cs typeface="楷体_GB2312" charset="0"/>
              </a:rPr>
              <a:t>若</a:t>
            </a:r>
            <a:r>
              <a:rPr lang="en-US" altLang="zh-CN" sz="1600" b="1">
                <a:solidFill>
                  <a:srgbClr val="003399"/>
                </a:solidFill>
                <a:latin typeface="楷体_GB2312" charset="0"/>
                <a:ea typeface="楷体_GB2312" charset="0"/>
                <a:cs typeface="楷体_GB2312" charset="0"/>
              </a:rPr>
              <a:t>P(x,P')=0</a:t>
            </a:r>
            <a:r>
              <a:rPr lang="zh-CN" altLang="en-US" sz="1600" b="1">
                <a:solidFill>
                  <a:srgbClr val="003399"/>
                </a:solidFill>
                <a:latin typeface="楷体_GB2312" charset="0"/>
                <a:ea typeface="楷体_GB2312" charset="0"/>
                <a:cs typeface="楷体_GB2312" charset="0"/>
              </a:rPr>
              <a:t>，则</a:t>
            </a:r>
            <a:r>
              <a:rPr lang="en-US" altLang="zh-CN" sz="1600" b="1">
                <a:solidFill>
                  <a:srgbClr val="003399"/>
                </a:solidFill>
                <a:latin typeface="楷体_GB2312" charset="0"/>
                <a:ea typeface="楷体_GB2312" charset="0"/>
                <a:cs typeface="楷体_GB2312" charset="0"/>
              </a:rPr>
              <a:t>P'(x,P')=while(0)</a:t>
            </a:r>
            <a:r>
              <a:rPr lang="zh-CN" altLang="en-US" sz="1600" b="1">
                <a:solidFill>
                  <a:srgbClr val="003399"/>
                </a:solidFill>
                <a:latin typeface="楷体_GB2312" charset="0"/>
                <a:ea typeface="楷体_GB2312" charset="0"/>
                <a:cs typeface="楷体_GB2312" charset="0"/>
              </a:rPr>
              <a:t>，即程序</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对于作为输入的</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可以停止计算，由</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定义，</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对其他满足</a:t>
            </a:r>
            <a:r>
              <a:rPr lang="en-US" altLang="zh-CN" sz="1600" b="1">
                <a:solidFill>
                  <a:srgbClr val="003399"/>
                </a:solidFill>
                <a:latin typeface="楷体_GB2312" charset="0"/>
                <a:ea typeface="楷体_GB2312" charset="0"/>
                <a:cs typeface="楷体_GB2312" charset="0"/>
              </a:rPr>
              <a:t>f≠P'</a:t>
            </a:r>
            <a:r>
              <a:rPr lang="zh-CN" altLang="en-US" sz="1600" b="1">
                <a:solidFill>
                  <a:srgbClr val="003399"/>
                </a:solidFill>
                <a:latin typeface="楷体_GB2312" charset="0"/>
                <a:ea typeface="楷体_GB2312" charset="0"/>
                <a:cs typeface="楷体_GB2312" charset="0"/>
              </a:rPr>
              <a:t>的输入</a:t>
            </a:r>
            <a:r>
              <a:rPr lang="en-US" altLang="zh-CN" sz="1600" b="1">
                <a:solidFill>
                  <a:srgbClr val="003399"/>
                </a:solidFill>
                <a:latin typeface="楷体_GB2312" charset="0"/>
                <a:ea typeface="楷体_GB2312" charset="0"/>
                <a:cs typeface="楷体_GB2312" charset="0"/>
              </a:rPr>
              <a:t>x、f</a:t>
            </a:r>
            <a:r>
              <a:rPr lang="zh-CN" altLang="en-US" sz="1600" b="1">
                <a:solidFill>
                  <a:srgbClr val="003399"/>
                </a:solidFill>
                <a:latin typeface="楷体_GB2312" charset="0"/>
                <a:ea typeface="楷体_GB2312" charset="0"/>
                <a:cs typeface="楷体_GB2312" charset="0"/>
              </a:rPr>
              <a:t>与</a:t>
            </a:r>
            <a:r>
              <a:rPr lang="en-US" altLang="zh-CN" sz="1600" b="1">
                <a:solidFill>
                  <a:srgbClr val="003399"/>
                </a:solidFill>
                <a:latin typeface="楷体_GB2312" charset="0"/>
                <a:ea typeface="楷体_GB2312" charset="0"/>
                <a:cs typeface="楷体_GB2312" charset="0"/>
              </a:rPr>
              <a:t>P</a:t>
            </a:r>
            <a:r>
              <a:rPr lang="zh-CN" altLang="en-US" sz="1600" b="1">
                <a:solidFill>
                  <a:srgbClr val="003399"/>
                </a:solidFill>
                <a:latin typeface="楷体_GB2312" charset="0"/>
                <a:ea typeface="楷体_GB2312" charset="0"/>
                <a:cs typeface="楷体_GB2312" charset="0"/>
              </a:rPr>
              <a:t>行为相同，也可停止计算，即有</a:t>
            </a:r>
            <a:r>
              <a:rPr lang="en-US" altLang="zh-CN" sz="1600" b="1">
                <a:solidFill>
                  <a:srgbClr val="003399"/>
                </a:solidFill>
                <a:latin typeface="楷体_GB2312" charset="0"/>
                <a:ea typeface="楷体_GB2312" charset="0"/>
                <a:cs typeface="楷体_GB2312" charset="0"/>
              </a:rPr>
              <a:t>P(x,P')=1</a:t>
            </a:r>
            <a:r>
              <a:rPr lang="zh-CN" altLang="en-US" sz="1600" b="1">
                <a:solidFill>
                  <a:srgbClr val="003399"/>
                </a:solidFill>
                <a:latin typeface="楷体_GB2312" charset="0"/>
                <a:ea typeface="楷体_GB2312" charset="0"/>
                <a:cs typeface="楷体_GB2312" charset="0"/>
              </a:rPr>
              <a:t>，导出矛盾。</a:t>
            </a:r>
            <a:endParaRPr lang="zh-CN" altLang="en-US" sz="1600" b="1">
              <a:solidFill>
                <a:srgbClr val="003399"/>
              </a:solidFill>
              <a:latin typeface="楷体_GB2312" charset="0"/>
              <a:ea typeface="楷体_GB2312" charset="0"/>
              <a:cs typeface="楷体_GB2312" charset="0"/>
            </a:endParaRPr>
          </a:p>
          <a:p>
            <a:pPr marL="457200" lvl="0" indent="-457200" eaLnBrk="1" hangingPunct="1">
              <a:lnSpc>
                <a:spcPct val="120000"/>
              </a:lnSpc>
              <a:spcBef>
                <a:spcPct val="20000"/>
              </a:spcBef>
              <a:buClr>
                <a:schemeClr val="folHlink"/>
              </a:buClr>
              <a:buFont typeface="Wingdings" panose="05000000000000000000" charset="0"/>
              <a:buChar char="n"/>
            </a:pPr>
            <a:r>
              <a:rPr lang="zh-CN" altLang="en-US" sz="1800" b="1">
                <a:solidFill>
                  <a:srgbClr val="003399"/>
                </a:solidFill>
                <a:latin typeface="宋体" charset="0"/>
                <a:ea typeface="楷体_GB2312" charset="0"/>
              </a:rPr>
              <a:t>由上可见，</a:t>
            </a:r>
            <a:r>
              <a:rPr lang="zh-CN" altLang="en-US" sz="1800" b="1">
                <a:solidFill>
                  <a:srgbClr val="003399"/>
                </a:solidFill>
                <a:latin typeface="楷体_GB2312" charset="0"/>
                <a:ea typeface="楷体_GB2312" charset="0"/>
                <a:cs typeface="楷体_GB2312" charset="0"/>
              </a:rPr>
              <a:t>(</a:t>
            </a:r>
            <a:r>
              <a:rPr lang="en-US" altLang="zh-CN" sz="1800" b="1">
                <a:solidFill>
                  <a:srgbClr val="003399"/>
                </a:solidFill>
                <a:latin typeface="楷体_GB2312" charset="0"/>
                <a:ea typeface="楷体_GB2312" charset="0"/>
                <a:cs typeface="楷体_GB2312" charset="0"/>
              </a:rPr>
              <a:t>a) 、(b) </a:t>
            </a:r>
            <a:r>
              <a:rPr lang="zh-CN" altLang="en-US" sz="1800" b="1">
                <a:solidFill>
                  <a:srgbClr val="003399"/>
                </a:solidFill>
                <a:latin typeface="宋体" charset="0"/>
                <a:ea typeface="楷体_GB2312" charset="0"/>
              </a:rPr>
              <a:t>均导出</a:t>
            </a:r>
            <a:r>
              <a:rPr lang="en-US" altLang="zh-CN" sz="1800" b="1">
                <a:solidFill>
                  <a:srgbClr val="003399"/>
                </a:solidFill>
                <a:latin typeface="楷体_GB2312" charset="0"/>
                <a:ea typeface="楷体_GB2312" charset="0"/>
                <a:cs typeface="楷体_GB2312" charset="0"/>
              </a:rPr>
              <a:t>P(x, P')=¬P(x, P')</a:t>
            </a:r>
            <a:r>
              <a:rPr lang="zh-CN" altLang="en-US" sz="1800" b="1">
                <a:solidFill>
                  <a:srgbClr val="003399"/>
                </a:solidFill>
                <a:latin typeface="宋体" charset="0"/>
                <a:ea typeface="楷体_GB2312" charset="0"/>
              </a:rPr>
              <a:t>，故原假设</a:t>
            </a:r>
            <a:r>
              <a:rPr lang="en-US" altLang="zh-CN" sz="1800" b="1">
                <a:solidFill>
                  <a:srgbClr val="003399"/>
                </a:solidFill>
                <a:latin typeface="宋体" charset="0"/>
                <a:ea typeface="楷体_GB2312" charset="0"/>
              </a:rPr>
              <a:t>"</a:t>
            </a:r>
            <a:r>
              <a:rPr lang="zh-CN" altLang="en-US" sz="1800" b="1">
                <a:solidFill>
                  <a:srgbClr val="003399"/>
                </a:solidFill>
                <a:latin typeface="楷体_GB2312" charset="0"/>
                <a:ea typeface="楷体_GB2312" charset="0"/>
                <a:cs typeface="楷体_GB2312" charset="0"/>
              </a:rPr>
              <a:t>存在一个判定程序</a:t>
            </a:r>
            <a:r>
              <a:rPr lang="en-US" altLang="zh-CN" sz="1800" b="1">
                <a:solidFill>
                  <a:srgbClr val="003399"/>
                </a:solidFill>
                <a:latin typeface="楷体_GB2312" charset="0"/>
                <a:ea typeface="楷体_GB2312" charset="0"/>
                <a:cs typeface="楷体_GB2312" charset="0"/>
              </a:rPr>
              <a:t>P</a:t>
            </a:r>
            <a:r>
              <a:rPr lang="en-US" altLang="zh-CN" sz="1800" b="1">
                <a:solidFill>
                  <a:srgbClr val="003399"/>
                </a:solidFill>
                <a:latin typeface="宋体" charset="0"/>
                <a:ea typeface="楷体_GB2312" charset="0"/>
              </a:rPr>
              <a:t>"</a:t>
            </a:r>
            <a:r>
              <a:rPr lang="zh-CN" altLang="en-US" sz="1800" b="1">
                <a:solidFill>
                  <a:srgbClr val="003399"/>
                </a:solidFill>
                <a:latin typeface="宋体" charset="0"/>
                <a:ea typeface="楷体_GB2312" charset="0"/>
              </a:rPr>
              <a:t>是不正确的。</a:t>
            </a:r>
            <a:endParaRPr lang="zh-CN" altLang="en-US" sz="1800" b="1">
              <a:solidFill>
                <a:srgbClr val="003399"/>
              </a:solidFill>
              <a:latin typeface="宋体" charset="0"/>
              <a:ea typeface="楷体_GB2312" charset="0"/>
            </a:endParaRPr>
          </a:p>
          <a:p>
            <a:pPr marL="457200" lvl="0" indent="-457200" eaLnBrk="1" hangingPunct="1">
              <a:lnSpc>
                <a:spcPct val="120000"/>
              </a:lnSpc>
              <a:spcBef>
                <a:spcPct val="20000"/>
              </a:spcBef>
              <a:buClr>
                <a:schemeClr val="folHlink"/>
              </a:buClr>
              <a:buFont typeface="Wingdings" panose="05000000000000000000" charset="0"/>
              <a:buChar char="n"/>
            </a:pPr>
            <a:endParaRPr lang="zh-CN" altLang="en-US"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zh-CN" altLang="en-US" sz="16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zh-CN" altLang="en-US" sz="1800" b="1">
              <a:solidFill>
                <a:srgbClr val="003399"/>
              </a:solidFill>
              <a:latin typeface="宋体" charset="0"/>
              <a:ea typeface="楷体_GB2312" charset="0"/>
            </a:endParaRPr>
          </a:p>
          <a:p>
            <a:pPr marL="0" indent="0" eaLnBrk="1" hangingPunct="1">
              <a:lnSpc>
                <a:spcPct val="120000"/>
              </a:lnSpc>
              <a:spcBef>
                <a:spcPct val="20000"/>
              </a:spcBef>
              <a:buClr>
                <a:schemeClr val="folHlink"/>
              </a:buClr>
              <a:buNone/>
            </a:pPr>
            <a:endParaRPr lang="en-US" altLang="zh-CN" sz="1800" b="1">
              <a:solidFill>
                <a:srgbClr val="003399"/>
              </a:solidFill>
              <a:latin typeface="宋体" charset="0"/>
              <a:ea typeface="楷体_GB2312" charset="0"/>
            </a:endParaRPr>
          </a:p>
          <a:p>
            <a:pPr marL="0" indent="0" eaLnBrk="1" hangingPunct="1">
              <a:lnSpc>
                <a:spcPct val="120000"/>
              </a:lnSpc>
              <a:spcBef>
                <a:spcPct val="20000"/>
              </a:spcBef>
              <a:buClr>
                <a:schemeClr val="folHlink"/>
              </a:buClr>
              <a:buNone/>
            </a:pPr>
            <a:endParaRPr lang="zh-CN" altLang="en-US" sz="1800" b="1">
              <a:solidFill>
                <a:srgbClr val="003399"/>
              </a:solidFill>
              <a:latin typeface="宋体" charset="0"/>
              <a:ea typeface="楷体_GB2312" charset="0"/>
            </a:endParaRPr>
          </a:p>
          <a:p>
            <a:pPr marL="457200" indent="-457200" eaLnBrk="1" hangingPunct="1">
              <a:lnSpc>
                <a:spcPct val="120000"/>
              </a:lnSpc>
              <a:spcBef>
                <a:spcPct val="20000"/>
              </a:spcBef>
              <a:buClr>
                <a:schemeClr val="folHlink"/>
              </a:buClr>
              <a:buFont typeface="Wingdings" panose="05000000000000000000" charset="0"/>
              <a:buChar char="n"/>
            </a:pPr>
            <a:endParaRPr lang="zh-CN" altLang="en-US" sz="1800" b="1">
              <a:solidFill>
                <a:srgbClr val="003399"/>
              </a:solidFill>
              <a:latin typeface="宋体" charset="0"/>
              <a:ea typeface="楷体_GB2312" charset="0"/>
            </a:endParaRPr>
          </a:p>
        </p:txBody>
      </p:sp>
      <p:pic>
        <p:nvPicPr>
          <p:cNvPr id="6" name="图片 5" descr="post_object_image_1247019697"/>
          <p:cNvPicPr>
            <a:picLocks noChangeAspect="1"/>
          </p:cNvPicPr>
          <p:nvPr/>
        </p:nvPicPr>
        <p:blipFill>
          <a:blip r:embed="rId1"/>
          <a:stretch>
            <a:fillRect/>
          </a:stretch>
        </p:blipFill>
        <p:spPr>
          <a:xfrm>
            <a:off x="2466975" y="2707141"/>
            <a:ext cx="4210050" cy="519991"/>
          </a:xfrm>
          <a:prstGeom prst="rect">
            <a:avLst/>
          </a:prstGeom>
        </p:spPr>
      </p:pic>
      <p:pic>
        <p:nvPicPr>
          <p:cNvPr id="8" name="图片 7" descr="post_object_image_978383808"/>
          <p:cNvPicPr>
            <a:picLocks noChangeAspect="1"/>
          </p:cNvPicPr>
          <p:nvPr/>
        </p:nvPicPr>
        <p:blipFill>
          <a:blip r:embed="rId2"/>
          <a:stretch>
            <a:fillRect/>
          </a:stretch>
        </p:blipFill>
        <p:spPr>
          <a:xfrm>
            <a:off x="2873192" y="3401786"/>
            <a:ext cx="3140297" cy="563336"/>
          </a:xfrm>
          <a:prstGeom prst="rect">
            <a:avLst/>
          </a:prstGeom>
        </p:spPr>
      </p:pic>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自动机">
  <a:themeElements>
    <a:clrScheme name="自动机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自动机">
      <a:majorFont>
        <a:latin typeface="Copperplate Gothic Light"/>
        <a:ea typeface="宋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503050405090304" charset="0"/>
            <a:ea typeface="宋体"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503050405090304" charset="0"/>
            <a:ea typeface="宋体" pitchFamily="2" charset="-122"/>
          </a:defRPr>
        </a:defPPr>
      </a:lstStyle>
    </a:lnDef>
  </a:objectDefaults>
  <a:extraClrSchemeLst>
    <a:extraClrScheme>
      <a:clrScheme name="自动机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自动机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自动机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自动机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自动机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自动机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自动机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3131</Words>
  <Application>WPS 文字</Application>
  <PresentationFormat>全屏显示(4:3)</PresentationFormat>
  <Paragraphs>182</Paragraphs>
  <Slides>11</Slides>
  <Notes>4</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11</vt:i4>
      </vt:variant>
    </vt:vector>
  </HeadingPairs>
  <TitlesOfParts>
    <vt:vector size="37" baseType="lpstr">
      <vt:lpstr>Arial</vt:lpstr>
      <vt:lpstr>宋体</vt:lpstr>
      <vt:lpstr>Wingdings</vt:lpstr>
      <vt:lpstr>Times New Roman</vt:lpstr>
      <vt:lpstr>汉仪书宋二KW</vt:lpstr>
      <vt:lpstr>Arial Narrow</vt:lpstr>
      <vt:lpstr>宋体</vt:lpstr>
      <vt:lpstr>Tahoma</vt:lpstr>
      <vt:lpstr>Copperplate Gothic Light</vt:lpstr>
      <vt:lpstr>苹方-简</vt:lpstr>
      <vt:lpstr>楷体_GB2312</vt:lpstr>
      <vt:lpstr>汉仪楷体简</vt:lpstr>
      <vt:lpstr>Times New Roman Regular</vt:lpstr>
      <vt:lpstr>华文行楷</vt:lpstr>
      <vt:lpstr>Cambria Math</vt:lpstr>
      <vt:lpstr>MS Mincho</vt:lpstr>
      <vt:lpstr>Wingdings</vt:lpstr>
      <vt:lpstr>行楷-简</vt:lpstr>
      <vt:lpstr>微软雅黑</vt:lpstr>
      <vt:lpstr>汉仪旗黑</vt:lpstr>
      <vt:lpstr>Arial Unicode MS</vt:lpstr>
      <vt:lpstr>Kingsoft Math</vt:lpstr>
      <vt:lpstr>Hiragino Sans</vt:lpstr>
      <vt:lpstr>华文行楷</vt:lpstr>
      <vt:lpstr>DejaVu Math TeX Gyre</vt:lpstr>
      <vt:lpstr>自动机</vt:lpstr>
      <vt:lpstr>附录  计算复杂性与可计算性基础</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附录  计算复杂性与可计算性基础</dc:title>
  <dc:creator>Microsoft Office 用户</dc:creator>
  <cp:lastModifiedBy>杨紫丹</cp:lastModifiedBy>
  <cp:revision>2</cp:revision>
  <cp:lastPrinted>2026-06-15T09:08:30Z</cp:lastPrinted>
  <dcterms:created xsi:type="dcterms:W3CDTF">2026-06-15T09:08:30Z</dcterms:created>
  <dcterms:modified xsi:type="dcterms:W3CDTF">2026-06-15T09:08:30Z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7270CA140E4ABF480EC12F6ADB51CB51_43</vt:lpwstr>
  </property>
  <property fmtid="{D5CDD505-2E9C-101B-9397-08002B2CF9AE}" pid="3" name="KSOProductBuildVer">
    <vt:lpwstr>2052-7.4.1.8983</vt:lpwstr>
  </property>
</Properties>
</file>