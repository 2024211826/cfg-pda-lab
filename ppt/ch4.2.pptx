
<file path=[Content_Types].xml><?xml version="1.0" encoding="utf-8"?>
<Types xmlns="http://schemas.openxmlformats.org/package/2006/content-types"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323" r:id="rId3"/>
    <p:sldId id="355" r:id="rId5"/>
    <p:sldId id="326" r:id="rId6"/>
    <p:sldId id="327" r:id="rId7"/>
    <p:sldId id="328" r:id="rId8"/>
    <p:sldId id="356" r:id="rId9"/>
    <p:sldId id="357" r:id="rId10"/>
    <p:sldId id="329" r:id="rId11"/>
    <p:sldId id="358" r:id="rId12"/>
    <p:sldId id="359" r:id="rId13"/>
    <p:sldId id="331" r:id="rId14"/>
    <p:sldId id="360" r:id="rId15"/>
    <p:sldId id="381" r:id="rId16"/>
    <p:sldId id="335" r:id="rId17"/>
    <p:sldId id="336" r:id="rId18"/>
    <p:sldId id="361" r:id="rId19"/>
    <p:sldId id="362" r:id="rId20"/>
    <p:sldId id="338" r:id="rId21"/>
    <p:sldId id="363" r:id="rId22"/>
    <p:sldId id="339" r:id="rId23"/>
    <p:sldId id="341" r:id="rId24"/>
    <p:sldId id="364" r:id="rId25"/>
    <p:sldId id="365" r:id="rId26"/>
    <p:sldId id="367" r:id="rId27"/>
    <p:sldId id="368" r:id="rId28"/>
    <p:sldId id="382" r:id="rId29"/>
    <p:sldId id="343" r:id="rId30"/>
    <p:sldId id="383" r:id="rId31"/>
    <p:sldId id="370" r:id="rId32"/>
    <p:sldId id="344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4" r:id="rId44"/>
  </p:sldIdLst>
  <p:sldSz cx="9144000" cy="6858000" type="screen4x3"/>
  <p:notesSz cx="6648450" cy="9782175"/>
  <p:custDataLst>
    <p:tags r:id="rId4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9"/>
    <p:restoredTop sz="84250"/>
  </p:normalViewPr>
  <p:slideViewPr>
    <p:cSldViewPr showGuides="1">
      <p:cViewPr varScale="1">
        <p:scale>
          <a:sx n="94" d="100"/>
          <a:sy n="94" d="100"/>
        </p:scale>
        <p:origin x="21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73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p>
            <a:pPr lvl="0" algn="r" defTabSz="898525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79475" y="733425"/>
            <a:ext cx="4891088" cy="3668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5825" y="4646613"/>
            <a:ext cx="4876800" cy="4402138"/>
          </a:xfrm>
          <a:prstGeom prst="rect">
            <a:avLst/>
          </a:prstGeom>
          <a:noFill/>
          <a:ln>
            <a:noFill/>
          </a:ln>
        </p:spPr>
        <p:txBody>
          <a:bodyPr vert="horz" wrap="square" lIns="89831" tIns="44915" rIns="89831" bIns="4491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p>
            <a:pPr lvl="0" algn="r" defTabSz="898525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" altLang="en-US" sz="1200">
                <a:solidFill>
                  <a:schemeClr val="tx1"/>
                </a:solidFill>
              </a:rPr>
            </a:fld>
            <a:endParaRPr lang="" altLang="en-US" sz="120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  <a:ln/>
        </p:spPr>
        <p:txBody>
          <a:bodyPr wrap="square" lIns="89831" tIns="44915" rIns="89831" bIns="44915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" altLang="en-US" sz="1200">
                <a:solidFill>
                  <a:schemeClr val="tx1"/>
                </a:solidFill>
              </a:rPr>
            </a:fld>
            <a:endParaRPr lang="" altLang="en-US" sz="1200">
              <a:solidFill>
                <a:schemeClr val="tx1"/>
              </a:solidFill>
            </a:endParaRPr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  <a:ln/>
        </p:spPr>
        <p:txBody>
          <a:bodyPr wrap="square" lIns="89831" tIns="44915" rIns="89831" bIns="44915" anchor="t" anchorCtr="0"/>
          <a:p>
            <a:pPr lvl="0"/>
            <a:r>
              <a:rPr lang="zh-CN" altLang="en-US">
                <a:solidFill>
                  <a:srgbClr val="333333"/>
                </a:solidFill>
              </a:rPr>
              <a:t>格雷巴赫</a:t>
            </a:r>
            <a:r>
              <a:rPr lang="en-US" altLang="zh-CN">
                <a:solidFill>
                  <a:srgbClr val="333333"/>
                </a:solidFill>
              </a:rPr>
              <a:t>21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>
          <a:xfrm>
            <a:off x="885825" y="4646613"/>
            <a:ext cx="4876800" cy="4402137"/>
          </a:xfrm>
          <a:ln/>
        </p:spPr>
        <p:txBody>
          <a:bodyPr wrap="square" lIns="89831" tIns="44915" rIns="89831" bIns="44915" anchor="t" anchorCtr="0"/>
          <a:p>
            <a:pPr lvl="0"/>
            <a:r>
              <a:rPr lang="zh-CN" altLang="en-US"/>
              <a:t>有用：既是生成，又是可达</a:t>
            </a:r>
            <a:endParaRPr lang="zh-CN" altLang="en-US"/>
          </a:p>
        </p:txBody>
      </p:sp>
      <p:sp>
        <p:nvSpPr>
          <p:cNvPr id="593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备注占位符 2"/>
          <p:cNvSpPr>
            <a:spLocks noGrp="1"/>
          </p:cNvSpPr>
          <p:nvPr>
            <p:ph type="body" idx="1"/>
          </p:nvPr>
        </p:nvSpPr>
        <p:spPr>
          <a:xfrm>
            <a:off x="885825" y="4646613"/>
            <a:ext cx="4876800" cy="4402137"/>
          </a:xfrm>
          <a:ln/>
        </p:spPr>
        <p:txBody>
          <a:bodyPr wrap="square" lIns="89831" tIns="44915" rIns="89831" bIns="44915" anchor="t" anchorCtr="0"/>
          <a:p>
            <a:pPr lvl="0"/>
            <a:r>
              <a:rPr lang="zh-CN" altLang="en-US"/>
              <a:t>下半部分的代换为了保证总是小号</a:t>
            </a:r>
            <a:r>
              <a:rPr lang="en-US" altLang="zh-CN"/>
              <a:t>A</a:t>
            </a:r>
            <a:r>
              <a:rPr lang="zh-CN" altLang="en-US"/>
              <a:t>生成式里面最左是大号的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1" i="1">
                <a:latin typeface="Arial Narrow" panose="020B0606020202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7" name="Rectangle 2"/>
          <p:cNvSpPr/>
          <p:nvPr/>
        </p:nvSpPr>
        <p:spPr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3"/>
          <p:cNvSpPr/>
          <p:nvPr/>
        </p:nvSpPr>
        <p:spPr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4"/>
          <p:cNvSpPr/>
          <p:nvPr/>
        </p:nvSpPr>
        <p:spPr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5"/>
          <p:cNvSpPr/>
          <p:nvPr/>
        </p:nvSpPr>
        <p:spPr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6"/>
          <p:cNvSpPr/>
          <p:nvPr/>
        </p:nvSpPr>
        <p:spPr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7"/>
          <p:cNvSpPr/>
          <p:nvPr/>
        </p:nvSpPr>
        <p:spPr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8"/>
          <p:cNvSpPr/>
          <p:nvPr/>
        </p:nvSpPr>
        <p:spPr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1DB41-30A7-47C6-92AD-6432C14C5E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>
          <a:xfrm>
            <a:off x="1071563" y="357188"/>
            <a:ext cx="7793037" cy="83820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§4.2  上下文无关文法的变换 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>
          <a:xfrm>
            <a:off x="395288" y="1628775"/>
            <a:ext cx="8137525" cy="44958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200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CFG </a:t>
            </a:r>
            <a:r>
              <a:rPr lang="zh-CN" altLang="en-US" sz="3200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的简化</a:t>
            </a:r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3200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消无用符号</a:t>
            </a:r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3200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消  产生式</a:t>
            </a:r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3200" b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消单产生式</a:t>
            </a:r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3200" b="1">
                <a:solidFill>
                  <a:srgbClr val="333399"/>
                </a:solidFill>
                <a:latin typeface="Arial" panose="020B0604020202020204" pitchFamily="34" charset="0"/>
              </a:rPr>
              <a:t>对生成式形式进行标准化</a:t>
            </a:r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/>
            <a:endParaRPr lang="zh-CN" altLang="en-US" sz="3200" b="1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生成式的标准形式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4876800"/>
          </a:xfrm>
          <a:ln/>
        </p:spPr>
        <p:txBody>
          <a:bodyPr vert="horz" wrap="square" lIns="91440" tIns="45720" rIns="91440" bIns="45720" anchor="t" anchorCtr="0"/>
          <a:p>
            <a:pPr marL="5080" indent="34925" eaLnBrk="1" hangingPunct="1"/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Chomsky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范式 (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CNF - Chomsky Normal Form)</a:t>
            </a:r>
            <a:endParaRPr lang="en-US" altLang="zh-CN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生成式形式为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A→BC,  A→a,  A, B, C∈N ,  a∈T (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后面将证明, 每个上下文无关文法都有一个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CNF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文法)  </a:t>
            </a:r>
            <a:endParaRPr lang="zh-CN" altLang="en-US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/>
            <a:endParaRPr lang="en-US" altLang="zh-CN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/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Greibach</a:t>
            </a: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范式 (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GNF)</a:t>
            </a:r>
            <a:endParaRPr lang="en-US" altLang="zh-CN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生成式形式为</a:t>
            </a:r>
            <a:r>
              <a:rPr lang="en-US" altLang="zh-CN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A→aβ,  a∈T ,  β∈N*  </a:t>
            </a:r>
            <a:endParaRPr lang="en-US" altLang="zh-CN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意义: 对每个2型语言都可找到一个文法使产生式的右端都以终结符开始 </a:t>
            </a:r>
            <a:endParaRPr lang="zh-CN" altLang="en-US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>
              <a:buNone/>
            </a:pPr>
            <a:r>
              <a:rPr lang="zh-CN" altLang="en-US" b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中心思想:消除左递归.</a:t>
            </a:r>
            <a:endParaRPr lang="zh-CN" altLang="en-US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5080" indent="34925" algn="just" eaLnBrk="1" hangingPunct="1">
              <a:buNone/>
            </a:pPr>
            <a:endParaRPr lang="zh-CN" altLang="en-US" b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945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945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9460" name="Rectangle 6"/>
          <p:cNvSpPr/>
          <p:nvPr/>
        </p:nvSpPr>
        <p:spPr>
          <a:xfrm>
            <a:off x="1524000" y="381000"/>
            <a:ext cx="67818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just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变换算法 -- 消去无用符号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19879" name="Rectangle 7"/>
          <p:cNvSpPr/>
          <p:nvPr/>
        </p:nvSpPr>
        <p:spPr>
          <a:xfrm>
            <a:off x="395288" y="4652963"/>
            <a:ext cx="6629400" cy="149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无用符号（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useless symbol</a:t>
            </a:r>
            <a:r>
              <a:rPr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endParaRPr lang="en-US" altLang="zh-CN" sz="24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endParaRPr lang="en-US" altLang="zh-CN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非生成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符号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endParaRPr lang="zh-CN" altLang="en-US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不可达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符号</a:t>
            </a:r>
            <a:endParaRPr lang="zh-CN" altLang="en-US" sz="24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19881" name="Rectangle 9"/>
          <p:cNvSpPr/>
          <p:nvPr/>
        </p:nvSpPr>
        <p:spPr>
          <a:xfrm>
            <a:off x="539750" y="1341438"/>
            <a:ext cx="8153400" cy="331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有用符号（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useful symbol</a:t>
            </a:r>
            <a:r>
              <a:rPr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endParaRPr lang="en-US" altLang="zh-CN" sz="24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	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对于</a:t>
            </a:r>
            <a:r>
              <a:rPr lang="zh-CN" altLang="en-US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(N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0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S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称符号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有用的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buClr>
                <a:srgbClr val="800080"/>
              </a:buClr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当且仅当  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</a:t>
            </a:r>
            <a:r>
              <a:rPr lang="en-US" altLang="zh-CN" sz="2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X </a:t>
            </a:r>
            <a:r>
              <a:rPr lang="en-US" altLang="zh-CN" sz="20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w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其中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T*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, 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(N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)*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endParaRPr lang="en-US" altLang="zh-CN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称符号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生成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符号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generating symbol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当且仅当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buClr>
                <a:srgbClr val="800080"/>
              </a:buClr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存在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T*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满足 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0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w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endParaRPr lang="en-US" altLang="zh-CN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称符号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可达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符号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reachable symbol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当且仅当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lvl="1" eaLnBrk="1" hangingPunct="1">
              <a:buClr>
                <a:srgbClr val="800080"/>
              </a:buClr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存在</a:t>
            </a: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, </a:t>
            </a:r>
            <a:r>
              <a:rPr lang="zh-CN" altLang="en-US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)*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满足 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0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X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9463" name="Rectangle 10"/>
          <p:cNvSpPr/>
          <p:nvPr/>
        </p:nvSpPr>
        <p:spPr>
          <a:xfrm>
            <a:off x="2928938" y="20002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64" name="Rectangle 11"/>
          <p:cNvSpPr/>
          <p:nvPr/>
        </p:nvSpPr>
        <p:spPr>
          <a:xfrm>
            <a:off x="3786188" y="20002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65" name="Rectangle 12"/>
          <p:cNvSpPr/>
          <p:nvPr/>
        </p:nvSpPr>
        <p:spPr>
          <a:xfrm>
            <a:off x="3924300" y="284797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66" name="Rectangle 13"/>
          <p:cNvSpPr/>
          <p:nvPr/>
        </p:nvSpPr>
        <p:spPr>
          <a:xfrm>
            <a:off x="4932363" y="37147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1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9" grpId="0"/>
      <p:bldP spid="7198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048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048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0484" name="Rectangle 6"/>
          <p:cNvSpPr/>
          <p:nvPr/>
        </p:nvSpPr>
        <p:spPr>
          <a:xfrm>
            <a:off x="457200" y="2057400"/>
            <a:ext cx="769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计算生成符号（</a:t>
            </a:r>
            <a:r>
              <a:rPr lang="en-US" altLang="zh-CN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generating symbol</a:t>
            </a:r>
            <a:r>
              <a: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集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0485" name="Rectangle 7"/>
          <p:cNvSpPr/>
          <p:nvPr/>
        </p:nvSpPr>
        <p:spPr>
          <a:xfrm>
            <a:off x="381000" y="3200400"/>
            <a:ext cx="777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计算可达符号（</a:t>
            </a:r>
            <a:r>
              <a:rPr lang="en-US" altLang="zh-CN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reachable symbol</a:t>
            </a:r>
            <a:r>
              <a: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集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0486" name="Rectangle 8"/>
          <p:cNvSpPr/>
          <p:nvPr/>
        </p:nvSpPr>
        <p:spPr>
          <a:xfrm>
            <a:off x="304800" y="4343400"/>
            <a:ext cx="800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消去非生成符号、不可达符号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0487" name="Rectangle 9"/>
          <p:cNvSpPr/>
          <p:nvPr/>
        </p:nvSpPr>
        <p:spPr>
          <a:xfrm>
            <a:off x="8382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6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消去无用符号</a:t>
            </a:r>
            <a:endParaRPr lang="zh-CN" altLang="en-US" sz="36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0488" name="Rectangle 10"/>
          <p:cNvSpPr/>
          <p:nvPr/>
        </p:nvSpPr>
        <p:spPr>
          <a:xfrm>
            <a:off x="304800" y="5334000"/>
            <a:ext cx="800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消去相关产生式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150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150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1508" name="Rectangle 6"/>
          <p:cNvSpPr/>
          <p:nvPr/>
        </p:nvSpPr>
        <p:spPr>
          <a:xfrm>
            <a:off x="1143000" y="457200"/>
            <a:ext cx="71628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计算生成符号集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509" name="Rectangle 7"/>
          <p:cNvSpPr/>
          <p:nvPr/>
        </p:nvSpPr>
        <p:spPr>
          <a:xfrm>
            <a:off x="381000" y="1676400"/>
            <a:ext cx="8305800" cy="334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思路  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对于</a:t>
            </a:r>
            <a:r>
              <a:rPr lang="zh-CN" altLang="en-US" sz="28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(N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S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可通过下列归纳步骤计算生成符号集合：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基础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任何终结符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都是生成符号；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归纳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如果有产生式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)*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的每一个符号都是生成符号，则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也是生成符号；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253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253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2532" name="Rectangle 3"/>
          <p:cNvSpPr/>
          <p:nvPr/>
        </p:nvSpPr>
        <p:spPr>
          <a:xfrm>
            <a:off x="323850" y="1196975"/>
            <a:ext cx="8305800" cy="5514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步骤:</a:t>
            </a:r>
            <a:endParaRPr lang="zh-CN" altLang="en-US" sz="28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(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赋为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)  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为有用的非终结符集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N’ = {A | A→ω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ω∈T*}    N’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为非终结符集合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(3) 如果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≠N’ 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则转(4),否则转(6)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(4)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=N’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(5) N’= 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∪{ A | A→α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α∈(T∪N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)* }, 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转(3)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(6)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N’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小结: 算法1找出能推出终结符串的非终结符作为有用符号。 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33" name="Rectangle 4"/>
          <p:cNvSpPr/>
          <p:nvPr/>
        </p:nvSpPr>
        <p:spPr>
          <a:xfrm>
            <a:off x="1143000" y="381000"/>
            <a:ext cx="73914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算法1: 找出有用非终结符</a:t>
            </a: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</a:t>
            </a:r>
            <a:endParaRPr lang="zh-CN" altLang="en-US" sz="32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355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355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3556" name="Rectangle 1026"/>
          <p:cNvSpPr/>
          <p:nvPr/>
        </p:nvSpPr>
        <p:spPr>
          <a:xfrm>
            <a:off x="250825" y="5373688"/>
            <a:ext cx="8610600" cy="1289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 一层层向外扩展，直至最外两层相等为止。所得集合即是算法1的有用符号。 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557" name="Rectangle 1027"/>
          <p:cNvSpPr/>
          <p:nvPr/>
        </p:nvSpPr>
        <p:spPr>
          <a:xfrm>
            <a:off x="1143000" y="381000"/>
            <a:ext cx="73914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算法1: 找出有用非终结符（图示）</a:t>
            </a: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</a:t>
            </a:r>
            <a:endParaRPr lang="zh-CN" altLang="en-US" sz="32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pic>
        <p:nvPicPr>
          <p:cNvPr id="23558" name="Picture 10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6248400" cy="401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8" y="823913"/>
            <a:ext cx="6237287" cy="4586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457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457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4580" name="Rectangle 6"/>
          <p:cNvSpPr/>
          <p:nvPr/>
        </p:nvSpPr>
        <p:spPr>
          <a:xfrm>
            <a:off x="9144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计算可达符号集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581" name="Rectangle 7"/>
          <p:cNvSpPr/>
          <p:nvPr/>
        </p:nvSpPr>
        <p:spPr>
          <a:xfrm>
            <a:off x="304800" y="1447800"/>
            <a:ext cx="8229600" cy="360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思路</a:t>
            </a:r>
            <a:r>
              <a: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对于</a:t>
            </a:r>
            <a:r>
              <a:rPr lang="zh-CN" altLang="en-US" sz="28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 N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S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可通过下列归纳步骤计算可达符号集合：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基础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是可达符号；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归纳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如果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是可达符号，并且有产生式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)*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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中的每一个符号都是可达符号；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560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560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/>
          <p:nvPr/>
        </p:nvSpPr>
        <p:spPr>
          <a:xfrm>
            <a:off x="395288" y="1081088"/>
            <a:ext cx="8305800" cy="581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算法步骤:</a:t>
            </a:r>
            <a:endParaRPr lang="zh-CN" altLang="en-US" sz="28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(1)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{S}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(2) N’= {x | A∈N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A→αxβ}∪ 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    </a:t>
            </a:r>
            <a:endParaRPr lang="en-US" altLang="zh-CN" sz="2800" b="1" baseline="-30000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	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(N’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为有用符号集合)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(3) 如果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≠N’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转(4), 否则转(5)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(4)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=N’; 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转(2)         (继续迭代下去)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(5)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N’ ∩ N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T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=N’∩T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P</a:t>
            </a:r>
            <a:r>
              <a:rPr lang="en-US" altLang="zh-CN" sz="28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内只含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N’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中符号的生成式组成 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	(即删去了从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起不可达的符号).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5" name="Rectangle 3"/>
          <p:cNvSpPr/>
          <p:nvPr/>
        </p:nvSpPr>
        <p:spPr>
          <a:xfrm>
            <a:off x="1143000" y="381000"/>
            <a:ext cx="73914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</a:t>
            </a: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</a:rPr>
              <a:t>2: 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找出有用符号(从</a:t>
            </a:r>
            <a:r>
              <a:rPr lang="en-US" altLang="zh-CN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S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可达的符号) 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662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662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6628" name="Rectangle 1026"/>
          <p:cNvSpPr/>
          <p:nvPr/>
        </p:nvSpPr>
        <p:spPr>
          <a:xfrm>
            <a:off x="250825" y="5589588"/>
            <a:ext cx="8610600" cy="603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4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一层层外扩,找出从</a:t>
            </a:r>
            <a:r>
              <a:rPr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可达的所有符号(含非终结符和终结符)</a:t>
            </a:r>
            <a:endParaRPr lang="zh-CN" altLang="en-US" sz="2400" b="1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29" name="Rectangle 1027"/>
          <p:cNvSpPr/>
          <p:nvPr/>
        </p:nvSpPr>
        <p:spPr>
          <a:xfrm>
            <a:off x="1143000" y="381000"/>
            <a:ext cx="73914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算法2: 找出从</a:t>
            </a:r>
            <a:r>
              <a:rPr lang="en-US" altLang="zh-CN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可达的符号 （图示）</a:t>
            </a: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</a:t>
            </a:r>
            <a:endParaRPr lang="zh-CN" altLang="en-US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6630" name="Group 10"/>
          <p:cNvGrpSpPr>
            <a:grpSpLocks noChangeAspect="1"/>
          </p:cNvGrpSpPr>
          <p:nvPr/>
        </p:nvGrpSpPr>
        <p:grpSpPr>
          <a:xfrm>
            <a:off x="1187450" y="1196975"/>
            <a:ext cx="6705600" cy="4306888"/>
            <a:chOff x="748" y="754"/>
            <a:chExt cx="4224" cy="2713"/>
          </a:xfrm>
        </p:grpSpPr>
        <p:sp>
          <p:nvSpPr>
            <p:cNvPr id="26631" name="AutoShape 9"/>
            <p:cNvSpPr>
              <a:spLocks noChangeAspect="1" noTextEdit="1"/>
            </p:cNvSpPr>
            <p:nvPr/>
          </p:nvSpPr>
          <p:spPr>
            <a:xfrm>
              <a:off x="748" y="754"/>
              <a:ext cx="4224" cy="271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2" name="Freeform 11"/>
            <p:cNvSpPr/>
            <p:nvPr/>
          </p:nvSpPr>
          <p:spPr>
            <a:xfrm>
              <a:off x="763" y="769"/>
              <a:ext cx="4200" cy="2683"/>
            </a:xfrm>
            <a:custGeom>
              <a:avLst/>
              <a:gdLst/>
              <a:ahLst/>
              <a:cxnLst>
                <a:cxn ang="0">
                  <a:pos x="4191" y="1219"/>
                </a:cxn>
                <a:cxn ang="0">
                  <a:pos x="4152" y="1056"/>
                </a:cxn>
                <a:cxn ang="0">
                  <a:pos x="4082" y="898"/>
                </a:cxn>
                <a:cxn ang="0">
                  <a:pos x="3982" y="746"/>
                </a:cxn>
                <a:cxn ang="0">
                  <a:pos x="3854" y="604"/>
                </a:cxn>
                <a:cxn ang="0">
                  <a:pos x="3700" y="473"/>
                </a:cxn>
                <a:cxn ang="0">
                  <a:pos x="3521" y="354"/>
                </a:cxn>
                <a:cxn ang="0">
                  <a:pos x="3322" y="251"/>
                </a:cxn>
                <a:cxn ang="0">
                  <a:pos x="3103" y="163"/>
                </a:cxn>
                <a:cxn ang="0">
                  <a:pos x="2870" y="94"/>
                </a:cxn>
                <a:cxn ang="0">
                  <a:pos x="2625" y="43"/>
                </a:cxn>
                <a:cxn ang="0">
                  <a:pos x="2373" y="12"/>
                </a:cxn>
                <a:cxn ang="0">
                  <a:pos x="2116" y="0"/>
                </a:cxn>
                <a:cxn ang="0">
                  <a:pos x="1859" y="9"/>
                </a:cxn>
                <a:cxn ang="0">
                  <a:pos x="1606" y="38"/>
                </a:cxn>
                <a:cxn ang="0">
                  <a:pos x="1360" y="87"/>
                </a:cxn>
                <a:cxn ang="0">
                  <a:pos x="1125" y="154"/>
                </a:cxn>
                <a:cxn ang="0">
                  <a:pos x="905" y="239"/>
                </a:cxn>
                <a:cxn ang="0">
                  <a:pos x="703" y="340"/>
                </a:cxn>
                <a:cxn ang="0">
                  <a:pos x="521" y="457"/>
                </a:cxn>
                <a:cxn ang="0">
                  <a:pos x="364" y="587"/>
                </a:cxn>
                <a:cxn ang="0">
                  <a:pos x="233" y="728"/>
                </a:cxn>
                <a:cxn ang="0">
                  <a:pos x="129" y="878"/>
                </a:cxn>
                <a:cxn ang="0">
                  <a:pos x="55" y="1036"/>
                </a:cxn>
                <a:cxn ang="0">
                  <a:pos x="12" y="1198"/>
                </a:cxn>
                <a:cxn ang="0">
                  <a:pos x="0" y="1362"/>
                </a:cxn>
                <a:cxn ang="0">
                  <a:pos x="20" y="1526"/>
                </a:cxn>
                <a:cxn ang="0">
                  <a:pos x="71" y="1687"/>
                </a:cxn>
                <a:cxn ang="0">
                  <a:pos x="152" y="1843"/>
                </a:cxn>
                <a:cxn ang="0">
                  <a:pos x="263" y="1991"/>
                </a:cxn>
                <a:cxn ang="0">
                  <a:pos x="401" y="2130"/>
                </a:cxn>
                <a:cxn ang="0">
                  <a:pos x="564" y="2257"/>
                </a:cxn>
                <a:cxn ang="0">
                  <a:pos x="751" y="2370"/>
                </a:cxn>
                <a:cxn ang="0">
                  <a:pos x="958" y="2467"/>
                </a:cxn>
                <a:cxn ang="0">
                  <a:pos x="1182" y="2548"/>
                </a:cxn>
                <a:cxn ang="0">
                  <a:pos x="1421" y="2611"/>
                </a:cxn>
                <a:cxn ang="0">
                  <a:pos x="1669" y="2654"/>
                </a:cxn>
                <a:cxn ang="0">
                  <a:pos x="1923" y="2678"/>
                </a:cxn>
                <a:cxn ang="0">
                  <a:pos x="2180" y="2682"/>
                </a:cxn>
                <a:cxn ang="0">
                  <a:pos x="2436" y="2666"/>
                </a:cxn>
                <a:cxn ang="0">
                  <a:pos x="2687" y="2629"/>
                </a:cxn>
                <a:cxn ang="0">
                  <a:pos x="2930" y="2574"/>
                </a:cxn>
                <a:cxn ang="0">
                  <a:pos x="3160" y="2500"/>
                </a:cxn>
                <a:cxn ang="0">
                  <a:pos x="3373" y="2408"/>
                </a:cxn>
                <a:cxn ang="0">
                  <a:pos x="3568" y="2301"/>
                </a:cxn>
                <a:cxn ang="0">
                  <a:pos x="3741" y="2179"/>
                </a:cxn>
                <a:cxn ang="0">
                  <a:pos x="3888" y="2044"/>
                </a:cxn>
                <a:cxn ang="0">
                  <a:pos x="4010" y="1900"/>
                </a:cxn>
                <a:cxn ang="0">
                  <a:pos x="4102" y="1746"/>
                </a:cxn>
                <a:cxn ang="0">
                  <a:pos x="4165" y="1587"/>
                </a:cxn>
                <a:cxn ang="0">
                  <a:pos x="4196" y="1423"/>
                </a:cxn>
              </a:cxnLst>
              <a:pathLst>
                <a:path w="12598" h="8051">
                  <a:moveTo>
                    <a:pt x="12598" y="4026"/>
                  </a:moveTo>
                  <a:lnTo>
                    <a:pt x="12595" y="3903"/>
                  </a:lnTo>
                  <a:lnTo>
                    <a:pt x="12586" y="3780"/>
                  </a:lnTo>
                  <a:lnTo>
                    <a:pt x="12571" y="3657"/>
                  </a:lnTo>
                  <a:lnTo>
                    <a:pt x="12551" y="3534"/>
                  </a:lnTo>
                  <a:lnTo>
                    <a:pt x="12524" y="3411"/>
                  </a:lnTo>
                  <a:lnTo>
                    <a:pt x="12493" y="3289"/>
                  </a:lnTo>
                  <a:lnTo>
                    <a:pt x="12454" y="3169"/>
                  </a:lnTo>
                  <a:lnTo>
                    <a:pt x="12410" y="3049"/>
                  </a:lnTo>
                  <a:lnTo>
                    <a:pt x="12359" y="2929"/>
                  </a:lnTo>
                  <a:lnTo>
                    <a:pt x="12305" y="2811"/>
                  </a:lnTo>
                  <a:lnTo>
                    <a:pt x="12244" y="2694"/>
                  </a:lnTo>
                  <a:lnTo>
                    <a:pt x="12177" y="2578"/>
                  </a:lnTo>
                  <a:lnTo>
                    <a:pt x="12105" y="2464"/>
                  </a:lnTo>
                  <a:lnTo>
                    <a:pt x="12028" y="2351"/>
                  </a:lnTo>
                  <a:lnTo>
                    <a:pt x="11945" y="2240"/>
                  </a:lnTo>
                  <a:lnTo>
                    <a:pt x="11856" y="2129"/>
                  </a:lnTo>
                  <a:lnTo>
                    <a:pt x="11762" y="2023"/>
                  </a:lnTo>
                  <a:lnTo>
                    <a:pt x="11663" y="1916"/>
                  </a:lnTo>
                  <a:lnTo>
                    <a:pt x="11560" y="1812"/>
                  </a:lnTo>
                  <a:lnTo>
                    <a:pt x="11451" y="1710"/>
                  </a:lnTo>
                  <a:lnTo>
                    <a:pt x="11337" y="1611"/>
                  </a:lnTo>
                  <a:lnTo>
                    <a:pt x="11220" y="1513"/>
                  </a:lnTo>
                  <a:lnTo>
                    <a:pt x="11097" y="1418"/>
                  </a:lnTo>
                  <a:lnTo>
                    <a:pt x="10970" y="1325"/>
                  </a:lnTo>
                  <a:lnTo>
                    <a:pt x="10838" y="1234"/>
                  </a:lnTo>
                  <a:lnTo>
                    <a:pt x="10702" y="1147"/>
                  </a:lnTo>
                  <a:lnTo>
                    <a:pt x="10561" y="1063"/>
                  </a:lnTo>
                  <a:lnTo>
                    <a:pt x="10417" y="980"/>
                  </a:lnTo>
                  <a:lnTo>
                    <a:pt x="10269" y="901"/>
                  </a:lnTo>
                  <a:lnTo>
                    <a:pt x="10118" y="824"/>
                  </a:lnTo>
                  <a:lnTo>
                    <a:pt x="9963" y="752"/>
                  </a:lnTo>
                  <a:lnTo>
                    <a:pt x="9804" y="682"/>
                  </a:lnTo>
                  <a:lnTo>
                    <a:pt x="9641" y="614"/>
                  </a:lnTo>
                  <a:lnTo>
                    <a:pt x="9477" y="550"/>
                  </a:lnTo>
                  <a:lnTo>
                    <a:pt x="9308" y="489"/>
                  </a:lnTo>
                  <a:lnTo>
                    <a:pt x="9137" y="433"/>
                  </a:lnTo>
                  <a:lnTo>
                    <a:pt x="8964" y="378"/>
                  </a:lnTo>
                  <a:lnTo>
                    <a:pt x="8788" y="328"/>
                  </a:lnTo>
                  <a:lnTo>
                    <a:pt x="8609" y="282"/>
                  </a:lnTo>
                  <a:lnTo>
                    <a:pt x="8428" y="237"/>
                  </a:lnTo>
                  <a:lnTo>
                    <a:pt x="8246" y="197"/>
                  </a:lnTo>
                  <a:lnTo>
                    <a:pt x="8060" y="162"/>
                  </a:lnTo>
                  <a:lnTo>
                    <a:pt x="7875" y="129"/>
                  </a:lnTo>
                  <a:lnTo>
                    <a:pt x="7687" y="100"/>
                  </a:lnTo>
                  <a:lnTo>
                    <a:pt x="7499" y="75"/>
                  </a:lnTo>
                  <a:lnTo>
                    <a:pt x="7308" y="52"/>
                  </a:lnTo>
                  <a:lnTo>
                    <a:pt x="7117" y="35"/>
                  </a:lnTo>
                  <a:lnTo>
                    <a:pt x="6926" y="21"/>
                  </a:lnTo>
                  <a:lnTo>
                    <a:pt x="6733" y="11"/>
                  </a:lnTo>
                  <a:lnTo>
                    <a:pt x="6540" y="3"/>
                  </a:lnTo>
                  <a:lnTo>
                    <a:pt x="6348" y="0"/>
                  </a:lnTo>
                  <a:lnTo>
                    <a:pt x="6154" y="2"/>
                  </a:lnTo>
                  <a:lnTo>
                    <a:pt x="5961" y="6"/>
                  </a:lnTo>
                  <a:lnTo>
                    <a:pt x="5769" y="15"/>
                  </a:lnTo>
                  <a:lnTo>
                    <a:pt x="5576" y="27"/>
                  </a:lnTo>
                  <a:lnTo>
                    <a:pt x="5385" y="43"/>
                  </a:lnTo>
                  <a:lnTo>
                    <a:pt x="5194" y="63"/>
                  </a:lnTo>
                  <a:lnTo>
                    <a:pt x="5006" y="86"/>
                  </a:lnTo>
                  <a:lnTo>
                    <a:pt x="4816" y="115"/>
                  </a:lnTo>
                  <a:lnTo>
                    <a:pt x="4629" y="144"/>
                  </a:lnTo>
                  <a:lnTo>
                    <a:pt x="4444" y="180"/>
                  </a:lnTo>
                  <a:lnTo>
                    <a:pt x="4261" y="217"/>
                  </a:lnTo>
                  <a:lnTo>
                    <a:pt x="4080" y="260"/>
                  </a:lnTo>
                  <a:lnTo>
                    <a:pt x="3899" y="304"/>
                  </a:lnTo>
                  <a:lnTo>
                    <a:pt x="3723" y="353"/>
                  </a:lnTo>
                  <a:lnTo>
                    <a:pt x="3546" y="405"/>
                  </a:lnTo>
                  <a:lnTo>
                    <a:pt x="3375" y="461"/>
                  </a:lnTo>
                  <a:lnTo>
                    <a:pt x="3206" y="520"/>
                  </a:lnTo>
                  <a:lnTo>
                    <a:pt x="3038" y="583"/>
                  </a:lnTo>
                  <a:lnTo>
                    <a:pt x="2875" y="648"/>
                  </a:lnTo>
                  <a:lnTo>
                    <a:pt x="2714" y="716"/>
                  </a:lnTo>
                  <a:lnTo>
                    <a:pt x="2557" y="787"/>
                  </a:lnTo>
                  <a:lnTo>
                    <a:pt x="2404" y="863"/>
                  </a:lnTo>
                  <a:lnTo>
                    <a:pt x="2253" y="940"/>
                  </a:lnTo>
                  <a:lnTo>
                    <a:pt x="2108" y="1021"/>
                  </a:lnTo>
                  <a:lnTo>
                    <a:pt x="1966" y="1104"/>
                  </a:lnTo>
                  <a:lnTo>
                    <a:pt x="1828" y="1190"/>
                  </a:lnTo>
                  <a:lnTo>
                    <a:pt x="1693" y="1279"/>
                  </a:lnTo>
                  <a:lnTo>
                    <a:pt x="1564" y="1371"/>
                  </a:lnTo>
                  <a:lnTo>
                    <a:pt x="1438" y="1466"/>
                  </a:lnTo>
                  <a:lnTo>
                    <a:pt x="1318" y="1562"/>
                  </a:lnTo>
                  <a:lnTo>
                    <a:pt x="1203" y="1660"/>
                  </a:lnTo>
                  <a:lnTo>
                    <a:pt x="1092" y="1760"/>
                  </a:lnTo>
                  <a:lnTo>
                    <a:pt x="985" y="1864"/>
                  </a:lnTo>
                  <a:lnTo>
                    <a:pt x="884" y="1969"/>
                  </a:lnTo>
                  <a:lnTo>
                    <a:pt x="788" y="2076"/>
                  </a:lnTo>
                  <a:lnTo>
                    <a:pt x="698" y="2184"/>
                  </a:lnTo>
                  <a:lnTo>
                    <a:pt x="612" y="2295"/>
                  </a:lnTo>
                  <a:lnTo>
                    <a:pt x="532" y="2408"/>
                  </a:lnTo>
                  <a:lnTo>
                    <a:pt x="456" y="2520"/>
                  </a:lnTo>
                  <a:lnTo>
                    <a:pt x="387" y="2636"/>
                  </a:lnTo>
                  <a:lnTo>
                    <a:pt x="323" y="2753"/>
                  </a:lnTo>
                  <a:lnTo>
                    <a:pt x="265" y="2870"/>
                  </a:lnTo>
                  <a:lnTo>
                    <a:pt x="212" y="2988"/>
                  </a:lnTo>
                  <a:lnTo>
                    <a:pt x="166" y="3108"/>
                  </a:lnTo>
                  <a:lnTo>
                    <a:pt x="124" y="3228"/>
                  </a:lnTo>
                  <a:lnTo>
                    <a:pt x="89" y="3350"/>
                  </a:lnTo>
                  <a:lnTo>
                    <a:pt x="59" y="3471"/>
                  </a:lnTo>
                  <a:lnTo>
                    <a:pt x="35" y="3594"/>
                  </a:lnTo>
                  <a:lnTo>
                    <a:pt x="18" y="3717"/>
                  </a:lnTo>
                  <a:lnTo>
                    <a:pt x="6" y="3840"/>
                  </a:lnTo>
                  <a:lnTo>
                    <a:pt x="0" y="3963"/>
                  </a:lnTo>
                  <a:lnTo>
                    <a:pt x="0" y="4088"/>
                  </a:lnTo>
                  <a:lnTo>
                    <a:pt x="6" y="4211"/>
                  </a:lnTo>
                  <a:lnTo>
                    <a:pt x="18" y="4334"/>
                  </a:lnTo>
                  <a:lnTo>
                    <a:pt x="35" y="4457"/>
                  </a:lnTo>
                  <a:lnTo>
                    <a:pt x="59" y="4580"/>
                  </a:lnTo>
                  <a:lnTo>
                    <a:pt x="89" y="4701"/>
                  </a:lnTo>
                  <a:lnTo>
                    <a:pt x="124" y="4823"/>
                  </a:lnTo>
                  <a:lnTo>
                    <a:pt x="166" y="4943"/>
                  </a:lnTo>
                  <a:lnTo>
                    <a:pt x="212" y="5063"/>
                  </a:lnTo>
                  <a:lnTo>
                    <a:pt x="265" y="5181"/>
                  </a:lnTo>
                  <a:lnTo>
                    <a:pt x="323" y="5298"/>
                  </a:lnTo>
                  <a:lnTo>
                    <a:pt x="387" y="5415"/>
                  </a:lnTo>
                  <a:lnTo>
                    <a:pt x="456" y="5531"/>
                  </a:lnTo>
                  <a:lnTo>
                    <a:pt x="532" y="5643"/>
                  </a:lnTo>
                  <a:lnTo>
                    <a:pt x="612" y="5756"/>
                  </a:lnTo>
                  <a:lnTo>
                    <a:pt x="698" y="5867"/>
                  </a:lnTo>
                  <a:lnTo>
                    <a:pt x="788" y="5975"/>
                  </a:lnTo>
                  <a:lnTo>
                    <a:pt x="884" y="6082"/>
                  </a:lnTo>
                  <a:lnTo>
                    <a:pt x="985" y="6187"/>
                  </a:lnTo>
                  <a:lnTo>
                    <a:pt x="1092" y="6291"/>
                  </a:lnTo>
                  <a:lnTo>
                    <a:pt x="1203" y="6391"/>
                  </a:lnTo>
                  <a:lnTo>
                    <a:pt x="1318" y="6489"/>
                  </a:lnTo>
                  <a:lnTo>
                    <a:pt x="1438" y="6585"/>
                  </a:lnTo>
                  <a:lnTo>
                    <a:pt x="1564" y="6680"/>
                  </a:lnTo>
                  <a:lnTo>
                    <a:pt x="1693" y="6772"/>
                  </a:lnTo>
                  <a:lnTo>
                    <a:pt x="1828" y="6861"/>
                  </a:lnTo>
                  <a:lnTo>
                    <a:pt x="1966" y="6947"/>
                  </a:lnTo>
                  <a:lnTo>
                    <a:pt x="2108" y="7030"/>
                  </a:lnTo>
                  <a:lnTo>
                    <a:pt x="2253" y="7111"/>
                  </a:lnTo>
                  <a:lnTo>
                    <a:pt x="2404" y="7188"/>
                  </a:lnTo>
                  <a:lnTo>
                    <a:pt x="2557" y="7264"/>
                  </a:lnTo>
                  <a:lnTo>
                    <a:pt x="2714" y="7335"/>
                  </a:lnTo>
                  <a:lnTo>
                    <a:pt x="2875" y="7403"/>
                  </a:lnTo>
                  <a:lnTo>
                    <a:pt x="3038" y="7468"/>
                  </a:lnTo>
                  <a:lnTo>
                    <a:pt x="3206" y="7531"/>
                  </a:lnTo>
                  <a:lnTo>
                    <a:pt x="3375" y="7590"/>
                  </a:lnTo>
                  <a:lnTo>
                    <a:pt x="3546" y="7646"/>
                  </a:lnTo>
                  <a:lnTo>
                    <a:pt x="3723" y="7698"/>
                  </a:lnTo>
                  <a:lnTo>
                    <a:pt x="3899" y="7747"/>
                  </a:lnTo>
                  <a:lnTo>
                    <a:pt x="4080" y="7791"/>
                  </a:lnTo>
                  <a:lnTo>
                    <a:pt x="4261" y="7834"/>
                  </a:lnTo>
                  <a:lnTo>
                    <a:pt x="4444" y="7871"/>
                  </a:lnTo>
                  <a:lnTo>
                    <a:pt x="4629" y="7907"/>
                  </a:lnTo>
                  <a:lnTo>
                    <a:pt x="4816" y="7936"/>
                  </a:lnTo>
                  <a:lnTo>
                    <a:pt x="5006" y="7965"/>
                  </a:lnTo>
                  <a:lnTo>
                    <a:pt x="5194" y="7988"/>
                  </a:lnTo>
                  <a:lnTo>
                    <a:pt x="5385" y="8008"/>
                  </a:lnTo>
                  <a:lnTo>
                    <a:pt x="5576" y="8024"/>
                  </a:lnTo>
                  <a:lnTo>
                    <a:pt x="5769" y="8036"/>
                  </a:lnTo>
                  <a:lnTo>
                    <a:pt x="5961" y="8045"/>
                  </a:lnTo>
                  <a:lnTo>
                    <a:pt x="6154" y="8049"/>
                  </a:lnTo>
                  <a:lnTo>
                    <a:pt x="6348" y="8051"/>
                  </a:lnTo>
                  <a:lnTo>
                    <a:pt x="6540" y="8048"/>
                  </a:lnTo>
                  <a:lnTo>
                    <a:pt x="6733" y="8040"/>
                  </a:lnTo>
                  <a:lnTo>
                    <a:pt x="6926" y="8030"/>
                  </a:lnTo>
                  <a:lnTo>
                    <a:pt x="7117" y="8016"/>
                  </a:lnTo>
                  <a:lnTo>
                    <a:pt x="7308" y="7999"/>
                  </a:lnTo>
                  <a:lnTo>
                    <a:pt x="7499" y="7976"/>
                  </a:lnTo>
                  <a:lnTo>
                    <a:pt x="7687" y="7951"/>
                  </a:lnTo>
                  <a:lnTo>
                    <a:pt x="7875" y="7922"/>
                  </a:lnTo>
                  <a:lnTo>
                    <a:pt x="8060" y="7889"/>
                  </a:lnTo>
                  <a:lnTo>
                    <a:pt x="8246" y="7854"/>
                  </a:lnTo>
                  <a:lnTo>
                    <a:pt x="8428" y="7814"/>
                  </a:lnTo>
                  <a:lnTo>
                    <a:pt x="8609" y="7769"/>
                  </a:lnTo>
                  <a:lnTo>
                    <a:pt x="8788" y="7723"/>
                  </a:lnTo>
                  <a:lnTo>
                    <a:pt x="8964" y="7673"/>
                  </a:lnTo>
                  <a:lnTo>
                    <a:pt x="9137" y="7618"/>
                  </a:lnTo>
                  <a:lnTo>
                    <a:pt x="9308" y="7562"/>
                  </a:lnTo>
                  <a:lnTo>
                    <a:pt x="9477" y="7501"/>
                  </a:lnTo>
                  <a:lnTo>
                    <a:pt x="9641" y="7437"/>
                  </a:lnTo>
                  <a:lnTo>
                    <a:pt x="9804" y="7369"/>
                  </a:lnTo>
                  <a:lnTo>
                    <a:pt x="9963" y="7299"/>
                  </a:lnTo>
                  <a:lnTo>
                    <a:pt x="10118" y="7227"/>
                  </a:lnTo>
                  <a:lnTo>
                    <a:pt x="10269" y="7150"/>
                  </a:lnTo>
                  <a:lnTo>
                    <a:pt x="10417" y="7071"/>
                  </a:lnTo>
                  <a:lnTo>
                    <a:pt x="10561" y="6988"/>
                  </a:lnTo>
                  <a:lnTo>
                    <a:pt x="10702" y="6904"/>
                  </a:lnTo>
                  <a:lnTo>
                    <a:pt x="10838" y="6817"/>
                  </a:lnTo>
                  <a:lnTo>
                    <a:pt x="10970" y="6726"/>
                  </a:lnTo>
                  <a:lnTo>
                    <a:pt x="11097" y="6633"/>
                  </a:lnTo>
                  <a:lnTo>
                    <a:pt x="11220" y="6538"/>
                  </a:lnTo>
                  <a:lnTo>
                    <a:pt x="11337" y="6440"/>
                  </a:lnTo>
                  <a:lnTo>
                    <a:pt x="11451" y="6341"/>
                  </a:lnTo>
                  <a:lnTo>
                    <a:pt x="11560" y="6239"/>
                  </a:lnTo>
                  <a:lnTo>
                    <a:pt x="11663" y="6135"/>
                  </a:lnTo>
                  <a:lnTo>
                    <a:pt x="11762" y="6028"/>
                  </a:lnTo>
                  <a:lnTo>
                    <a:pt x="11856" y="5922"/>
                  </a:lnTo>
                  <a:lnTo>
                    <a:pt x="11945" y="5811"/>
                  </a:lnTo>
                  <a:lnTo>
                    <a:pt x="12028" y="5700"/>
                  </a:lnTo>
                  <a:lnTo>
                    <a:pt x="12105" y="5587"/>
                  </a:lnTo>
                  <a:lnTo>
                    <a:pt x="12177" y="5473"/>
                  </a:lnTo>
                  <a:lnTo>
                    <a:pt x="12244" y="5357"/>
                  </a:lnTo>
                  <a:lnTo>
                    <a:pt x="12305" y="5240"/>
                  </a:lnTo>
                  <a:lnTo>
                    <a:pt x="12359" y="5122"/>
                  </a:lnTo>
                  <a:lnTo>
                    <a:pt x="12410" y="5002"/>
                  </a:lnTo>
                  <a:lnTo>
                    <a:pt x="12454" y="4882"/>
                  </a:lnTo>
                  <a:lnTo>
                    <a:pt x="12493" y="4762"/>
                  </a:lnTo>
                  <a:lnTo>
                    <a:pt x="12524" y="4640"/>
                  </a:lnTo>
                  <a:lnTo>
                    <a:pt x="12551" y="4517"/>
                  </a:lnTo>
                  <a:lnTo>
                    <a:pt x="12571" y="4394"/>
                  </a:lnTo>
                  <a:lnTo>
                    <a:pt x="12586" y="4271"/>
                  </a:lnTo>
                  <a:lnTo>
                    <a:pt x="12595" y="4148"/>
                  </a:lnTo>
                  <a:lnTo>
                    <a:pt x="12598" y="4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3" name="Freeform 12"/>
            <p:cNvSpPr/>
            <p:nvPr/>
          </p:nvSpPr>
          <p:spPr>
            <a:xfrm>
              <a:off x="2513" y="2101"/>
              <a:ext cx="1050" cy="369"/>
            </a:xfrm>
            <a:custGeom>
              <a:avLst/>
              <a:gdLst/>
              <a:ahLst/>
              <a:cxnLst>
                <a:cxn ang="0">
                  <a:pos x="1049" y="174"/>
                </a:cxn>
                <a:cxn ang="0">
                  <a:pos x="1042" y="151"/>
                </a:cxn>
                <a:cxn ang="0">
                  <a:pos x="1026" y="129"/>
                </a:cxn>
                <a:cxn ang="0">
                  <a:pos x="1003" y="108"/>
                </a:cxn>
                <a:cxn ang="0">
                  <a:pos x="973" y="88"/>
                </a:cxn>
                <a:cxn ang="0">
                  <a:pos x="936" y="70"/>
                </a:cxn>
                <a:cxn ang="0">
                  <a:pos x="894" y="53"/>
                </a:cxn>
                <a:cxn ang="0">
                  <a:pos x="846" y="38"/>
                </a:cxn>
                <a:cxn ang="0">
                  <a:pos x="792" y="26"/>
                </a:cxn>
                <a:cxn ang="0">
                  <a:pos x="735" y="16"/>
                </a:cxn>
                <a:cxn ang="0">
                  <a:pos x="675" y="8"/>
                </a:cxn>
                <a:cxn ang="0">
                  <a:pos x="613" y="3"/>
                </a:cxn>
                <a:cxn ang="0">
                  <a:pos x="549" y="0"/>
                </a:cxn>
                <a:cxn ang="0">
                  <a:pos x="485" y="0"/>
                </a:cxn>
                <a:cxn ang="0">
                  <a:pos x="422" y="4"/>
                </a:cxn>
                <a:cxn ang="0">
                  <a:pos x="360" y="9"/>
                </a:cxn>
                <a:cxn ang="0">
                  <a:pos x="300" y="18"/>
                </a:cxn>
                <a:cxn ang="0">
                  <a:pos x="244" y="29"/>
                </a:cxn>
                <a:cxn ang="0">
                  <a:pos x="192" y="42"/>
                </a:cxn>
                <a:cxn ang="0">
                  <a:pos x="145" y="57"/>
                </a:cxn>
                <a:cxn ang="0">
                  <a:pos x="104" y="75"/>
                </a:cxn>
                <a:cxn ang="0">
                  <a:pos x="69" y="93"/>
                </a:cxn>
                <a:cxn ang="0">
                  <a:pos x="41" y="114"/>
                </a:cxn>
                <a:cxn ang="0">
                  <a:pos x="19" y="135"/>
                </a:cxn>
                <a:cxn ang="0">
                  <a:pos x="6" y="157"/>
                </a:cxn>
                <a:cxn ang="0">
                  <a:pos x="0" y="179"/>
                </a:cxn>
                <a:cxn ang="0">
                  <a:pos x="2" y="202"/>
                </a:cxn>
                <a:cxn ang="0">
                  <a:pos x="11" y="224"/>
                </a:cxn>
                <a:cxn ang="0">
                  <a:pos x="29" y="246"/>
                </a:cxn>
                <a:cxn ang="0">
                  <a:pos x="54" y="266"/>
                </a:cxn>
                <a:cxn ang="0">
                  <a:pos x="85" y="286"/>
                </a:cxn>
                <a:cxn ang="0">
                  <a:pos x="123" y="304"/>
                </a:cxn>
                <a:cxn ang="0">
                  <a:pos x="168" y="320"/>
                </a:cxn>
                <a:cxn ang="0">
                  <a:pos x="217" y="334"/>
                </a:cxn>
                <a:cxn ang="0">
                  <a:pos x="272" y="346"/>
                </a:cxn>
                <a:cxn ang="0">
                  <a:pos x="330" y="356"/>
                </a:cxn>
                <a:cxn ang="0">
                  <a:pos x="390" y="363"/>
                </a:cxn>
                <a:cxn ang="0">
                  <a:pos x="453" y="368"/>
                </a:cxn>
                <a:cxn ang="0">
                  <a:pos x="517" y="369"/>
                </a:cxn>
                <a:cxn ang="0">
                  <a:pos x="581" y="368"/>
                </a:cxn>
                <a:cxn ang="0">
                  <a:pos x="644" y="365"/>
                </a:cxn>
                <a:cxn ang="0">
                  <a:pos x="706" y="358"/>
                </a:cxn>
                <a:cxn ang="0">
                  <a:pos x="764" y="349"/>
                </a:cxn>
                <a:cxn ang="0">
                  <a:pos x="819" y="337"/>
                </a:cxn>
                <a:cxn ang="0">
                  <a:pos x="870" y="324"/>
                </a:cxn>
                <a:cxn ang="0">
                  <a:pos x="916" y="308"/>
                </a:cxn>
                <a:cxn ang="0">
                  <a:pos x="956" y="290"/>
                </a:cxn>
                <a:cxn ang="0">
                  <a:pos x="989" y="271"/>
                </a:cxn>
                <a:cxn ang="0">
                  <a:pos x="1015" y="250"/>
                </a:cxn>
                <a:cxn ang="0">
                  <a:pos x="1035" y="229"/>
                </a:cxn>
                <a:cxn ang="0">
                  <a:pos x="1047" y="207"/>
                </a:cxn>
                <a:cxn ang="0">
                  <a:pos x="1050" y="185"/>
                </a:cxn>
              </a:cxnLst>
              <a:pathLst>
                <a:path w="3148" h="1108">
                  <a:moveTo>
                    <a:pt x="3148" y="554"/>
                  </a:moveTo>
                  <a:lnTo>
                    <a:pt x="3145" y="521"/>
                  </a:lnTo>
                  <a:lnTo>
                    <a:pt x="3138" y="487"/>
                  </a:lnTo>
                  <a:lnTo>
                    <a:pt x="3123" y="453"/>
                  </a:lnTo>
                  <a:lnTo>
                    <a:pt x="3102" y="421"/>
                  </a:lnTo>
                  <a:lnTo>
                    <a:pt x="3076" y="388"/>
                  </a:lnTo>
                  <a:lnTo>
                    <a:pt x="3044" y="355"/>
                  </a:lnTo>
                  <a:lnTo>
                    <a:pt x="3007" y="324"/>
                  </a:lnTo>
                  <a:lnTo>
                    <a:pt x="2964" y="295"/>
                  </a:lnTo>
                  <a:lnTo>
                    <a:pt x="2917" y="265"/>
                  </a:lnTo>
                  <a:lnTo>
                    <a:pt x="2865" y="237"/>
                  </a:lnTo>
                  <a:lnTo>
                    <a:pt x="2807" y="210"/>
                  </a:lnTo>
                  <a:lnTo>
                    <a:pt x="2745" y="184"/>
                  </a:lnTo>
                  <a:lnTo>
                    <a:pt x="2679" y="160"/>
                  </a:lnTo>
                  <a:lnTo>
                    <a:pt x="2609" y="136"/>
                  </a:lnTo>
                  <a:lnTo>
                    <a:pt x="2535" y="115"/>
                  </a:lnTo>
                  <a:lnTo>
                    <a:pt x="2456" y="96"/>
                  </a:lnTo>
                  <a:lnTo>
                    <a:pt x="2375" y="77"/>
                  </a:lnTo>
                  <a:lnTo>
                    <a:pt x="2290" y="61"/>
                  </a:lnTo>
                  <a:lnTo>
                    <a:pt x="2204" y="47"/>
                  </a:lnTo>
                  <a:lnTo>
                    <a:pt x="2116" y="34"/>
                  </a:lnTo>
                  <a:lnTo>
                    <a:pt x="2024" y="24"/>
                  </a:lnTo>
                  <a:lnTo>
                    <a:pt x="1930" y="15"/>
                  </a:lnTo>
                  <a:lnTo>
                    <a:pt x="1837" y="9"/>
                  </a:lnTo>
                  <a:lnTo>
                    <a:pt x="1742" y="3"/>
                  </a:lnTo>
                  <a:lnTo>
                    <a:pt x="1646" y="1"/>
                  </a:lnTo>
                  <a:lnTo>
                    <a:pt x="1550" y="0"/>
                  </a:lnTo>
                  <a:lnTo>
                    <a:pt x="1453" y="1"/>
                  </a:lnTo>
                  <a:lnTo>
                    <a:pt x="1359" y="6"/>
                  </a:lnTo>
                  <a:lnTo>
                    <a:pt x="1264" y="12"/>
                  </a:lnTo>
                  <a:lnTo>
                    <a:pt x="1170" y="19"/>
                  </a:lnTo>
                  <a:lnTo>
                    <a:pt x="1079" y="28"/>
                  </a:lnTo>
                  <a:lnTo>
                    <a:pt x="988" y="40"/>
                  </a:lnTo>
                  <a:lnTo>
                    <a:pt x="899" y="53"/>
                  </a:lnTo>
                  <a:lnTo>
                    <a:pt x="815" y="69"/>
                  </a:lnTo>
                  <a:lnTo>
                    <a:pt x="732" y="86"/>
                  </a:lnTo>
                  <a:lnTo>
                    <a:pt x="652" y="105"/>
                  </a:lnTo>
                  <a:lnTo>
                    <a:pt x="576" y="126"/>
                  </a:lnTo>
                  <a:lnTo>
                    <a:pt x="504" y="148"/>
                  </a:lnTo>
                  <a:lnTo>
                    <a:pt x="436" y="172"/>
                  </a:lnTo>
                  <a:lnTo>
                    <a:pt x="370" y="197"/>
                  </a:lnTo>
                  <a:lnTo>
                    <a:pt x="311" y="224"/>
                  </a:lnTo>
                  <a:lnTo>
                    <a:pt x="256" y="252"/>
                  </a:lnTo>
                  <a:lnTo>
                    <a:pt x="206" y="280"/>
                  </a:lnTo>
                  <a:lnTo>
                    <a:pt x="162" y="309"/>
                  </a:lnTo>
                  <a:lnTo>
                    <a:pt x="122" y="341"/>
                  </a:lnTo>
                  <a:lnTo>
                    <a:pt x="88" y="372"/>
                  </a:lnTo>
                  <a:lnTo>
                    <a:pt x="58" y="404"/>
                  </a:lnTo>
                  <a:lnTo>
                    <a:pt x="34" y="437"/>
                  </a:lnTo>
                  <a:lnTo>
                    <a:pt x="18" y="471"/>
                  </a:lnTo>
                  <a:lnTo>
                    <a:pt x="6" y="504"/>
                  </a:lnTo>
                  <a:lnTo>
                    <a:pt x="0" y="538"/>
                  </a:lnTo>
                  <a:lnTo>
                    <a:pt x="0" y="572"/>
                  </a:lnTo>
                  <a:lnTo>
                    <a:pt x="6" y="606"/>
                  </a:lnTo>
                  <a:lnTo>
                    <a:pt x="18" y="638"/>
                  </a:lnTo>
                  <a:lnTo>
                    <a:pt x="34" y="672"/>
                  </a:lnTo>
                  <a:lnTo>
                    <a:pt x="58" y="705"/>
                  </a:lnTo>
                  <a:lnTo>
                    <a:pt x="88" y="738"/>
                  </a:lnTo>
                  <a:lnTo>
                    <a:pt x="122" y="769"/>
                  </a:lnTo>
                  <a:lnTo>
                    <a:pt x="162" y="800"/>
                  </a:lnTo>
                  <a:lnTo>
                    <a:pt x="206" y="829"/>
                  </a:lnTo>
                  <a:lnTo>
                    <a:pt x="256" y="858"/>
                  </a:lnTo>
                  <a:lnTo>
                    <a:pt x="311" y="886"/>
                  </a:lnTo>
                  <a:lnTo>
                    <a:pt x="370" y="912"/>
                  </a:lnTo>
                  <a:lnTo>
                    <a:pt x="436" y="938"/>
                  </a:lnTo>
                  <a:lnTo>
                    <a:pt x="504" y="961"/>
                  </a:lnTo>
                  <a:lnTo>
                    <a:pt x="576" y="984"/>
                  </a:lnTo>
                  <a:lnTo>
                    <a:pt x="652" y="1004"/>
                  </a:lnTo>
                  <a:lnTo>
                    <a:pt x="732" y="1022"/>
                  </a:lnTo>
                  <a:lnTo>
                    <a:pt x="815" y="1040"/>
                  </a:lnTo>
                  <a:lnTo>
                    <a:pt x="899" y="1055"/>
                  </a:lnTo>
                  <a:lnTo>
                    <a:pt x="988" y="1069"/>
                  </a:lnTo>
                  <a:lnTo>
                    <a:pt x="1079" y="1080"/>
                  </a:lnTo>
                  <a:lnTo>
                    <a:pt x="1170" y="1090"/>
                  </a:lnTo>
                  <a:lnTo>
                    <a:pt x="1264" y="1098"/>
                  </a:lnTo>
                  <a:lnTo>
                    <a:pt x="1359" y="1104"/>
                  </a:lnTo>
                  <a:lnTo>
                    <a:pt x="1453" y="1107"/>
                  </a:lnTo>
                  <a:lnTo>
                    <a:pt x="1550" y="1108"/>
                  </a:lnTo>
                  <a:lnTo>
                    <a:pt x="1646" y="1108"/>
                  </a:lnTo>
                  <a:lnTo>
                    <a:pt x="1742" y="1105"/>
                  </a:lnTo>
                  <a:lnTo>
                    <a:pt x="1837" y="1101"/>
                  </a:lnTo>
                  <a:lnTo>
                    <a:pt x="1930" y="1095"/>
                  </a:lnTo>
                  <a:lnTo>
                    <a:pt x="2024" y="1086"/>
                  </a:lnTo>
                  <a:lnTo>
                    <a:pt x="2116" y="1075"/>
                  </a:lnTo>
                  <a:lnTo>
                    <a:pt x="2204" y="1062"/>
                  </a:lnTo>
                  <a:lnTo>
                    <a:pt x="2290" y="1047"/>
                  </a:lnTo>
                  <a:lnTo>
                    <a:pt x="2375" y="1031"/>
                  </a:lnTo>
                  <a:lnTo>
                    <a:pt x="2456" y="1013"/>
                  </a:lnTo>
                  <a:lnTo>
                    <a:pt x="2535" y="994"/>
                  </a:lnTo>
                  <a:lnTo>
                    <a:pt x="2609" y="972"/>
                  </a:lnTo>
                  <a:lnTo>
                    <a:pt x="2679" y="949"/>
                  </a:lnTo>
                  <a:lnTo>
                    <a:pt x="2745" y="924"/>
                  </a:lnTo>
                  <a:lnTo>
                    <a:pt x="2807" y="899"/>
                  </a:lnTo>
                  <a:lnTo>
                    <a:pt x="2865" y="872"/>
                  </a:lnTo>
                  <a:lnTo>
                    <a:pt x="2917" y="844"/>
                  </a:lnTo>
                  <a:lnTo>
                    <a:pt x="2964" y="815"/>
                  </a:lnTo>
                  <a:lnTo>
                    <a:pt x="3007" y="784"/>
                  </a:lnTo>
                  <a:lnTo>
                    <a:pt x="3044" y="752"/>
                  </a:lnTo>
                  <a:lnTo>
                    <a:pt x="3076" y="721"/>
                  </a:lnTo>
                  <a:lnTo>
                    <a:pt x="3102" y="689"/>
                  </a:lnTo>
                  <a:lnTo>
                    <a:pt x="3123" y="655"/>
                  </a:lnTo>
                  <a:lnTo>
                    <a:pt x="3138" y="622"/>
                  </a:lnTo>
                  <a:lnTo>
                    <a:pt x="3145" y="588"/>
                  </a:lnTo>
                  <a:lnTo>
                    <a:pt x="3148" y="5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4" name="Rectangle 13"/>
            <p:cNvSpPr/>
            <p:nvPr/>
          </p:nvSpPr>
          <p:spPr>
            <a:xfrm>
              <a:off x="2773" y="2175"/>
              <a:ext cx="201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35" name="Rectangle 14"/>
            <p:cNvSpPr/>
            <p:nvPr/>
          </p:nvSpPr>
          <p:spPr>
            <a:xfrm>
              <a:off x="2872" y="2298"/>
              <a:ext cx="20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1700" b="1">
                  <a:solidFill>
                    <a:srgbClr val="000000"/>
                  </a:solidFill>
                  <a:latin typeface="宋体" panose="02010600030101010101" pitchFamily="2" charset="-122"/>
                </a:rPr>
                <a:t>0 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36" name="Rectangle 15"/>
            <p:cNvSpPr/>
            <p:nvPr/>
          </p:nvSpPr>
          <p:spPr>
            <a:xfrm>
              <a:off x="3006" y="2175"/>
              <a:ext cx="403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= S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37" name="Freeform 16"/>
            <p:cNvSpPr/>
            <p:nvPr/>
          </p:nvSpPr>
          <p:spPr>
            <a:xfrm>
              <a:off x="1463" y="1352"/>
              <a:ext cx="3150" cy="1517"/>
            </a:xfrm>
            <a:custGeom>
              <a:avLst/>
              <a:gdLst/>
              <a:ahLst/>
              <a:cxnLst>
                <a:cxn ang="0">
                  <a:pos x="3146" y="705"/>
                </a:cxn>
                <a:cxn ang="0">
                  <a:pos x="3125" y="625"/>
                </a:cxn>
                <a:cxn ang="0">
                  <a:pos x="3087" y="547"/>
                </a:cxn>
                <a:cxn ang="0">
                  <a:pos x="3033" y="472"/>
                </a:cxn>
                <a:cxn ang="0">
                  <a:pos x="2961" y="399"/>
                </a:cxn>
                <a:cxn ang="0">
                  <a:pos x="2875" y="330"/>
                </a:cxn>
                <a:cxn ang="0">
                  <a:pos x="2773" y="266"/>
                </a:cxn>
                <a:cxn ang="0">
                  <a:pos x="2659" y="208"/>
                </a:cxn>
                <a:cxn ang="0">
                  <a:pos x="2532" y="156"/>
                </a:cxn>
                <a:cxn ang="0">
                  <a:pos x="2394" y="111"/>
                </a:cxn>
                <a:cxn ang="0">
                  <a:pos x="2247" y="73"/>
                </a:cxn>
                <a:cxn ang="0">
                  <a:pos x="2093" y="42"/>
                </a:cxn>
                <a:cxn ang="0">
                  <a:pos x="1933" y="20"/>
                </a:cxn>
                <a:cxn ang="0">
                  <a:pos x="1769" y="6"/>
                </a:cxn>
                <a:cxn ang="0">
                  <a:pos x="1603" y="0"/>
                </a:cxn>
                <a:cxn ang="0">
                  <a:pos x="1436" y="3"/>
                </a:cxn>
                <a:cxn ang="0">
                  <a:pos x="1271" y="14"/>
                </a:cxn>
                <a:cxn ang="0">
                  <a:pos x="1110" y="34"/>
                </a:cxn>
                <a:cxn ang="0">
                  <a:pos x="953" y="61"/>
                </a:cxn>
                <a:cxn ang="0">
                  <a:pos x="803" y="97"/>
                </a:cxn>
                <a:cxn ang="0">
                  <a:pos x="663" y="140"/>
                </a:cxn>
                <a:cxn ang="0">
                  <a:pos x="532" y="190"/>
                </a:cxn>
                <a:cxn ang="0">
                  <a:pos x="413" y="246"/>
                </a:cxn>
                <a:cxn ang="0">
                  <a:pos x="308" y="308"/>
                </a:cxn>
                <a:cxn ang="0">
                  <a:pos x="216" y="375"/>
                </a:cxn>
                <a:cxn ang="0">
                  <a:pos x="139" y="447"/>
                </a:cxn>
                <a:cxn ang="0">
                  <a:pos x="79" y="521"/>
                </a:cxn>
                <a:cxn ang="0">
                  <a:pos x="35" y="599"/>
                </a:cxn>
                <a:cxn ang="0">
                  <a:pos x="9" y="679"/>
                </a:cxn>
                <a:cxn ang="0">
                  <a:pos x="0" y="759"/>
                </a:cxn>
                <a:cxn ang="0">
                  <a:pos x="9" y="838"/>
                </a:cxn>
                <a:cxn ang="0">
                  <a:pos x="35" y="918"/>
                </a:cxn>
                <a:cxn ang="0">
                  <a:pos x="79" y="996"/>
                </a:cxn>
                <a:cxn ang="0">
                  <a:pos x="139" y="1070"/>
                </a:cxn>
                <a:cxn ang="0">
                  <a:pos x="216" y="1142"/>
                </a:cxn>
                <a:cxn ang="0">
                  <a:pos x="308" y="1209"/>
                </a:cxn>
                <a:cxn ang="0">
                  <a:pos x="413" y="1271"/>
                </a:cxn>
                <a:cxn ang="0">
                  <a:pos x="532" y="1327"/>
                </a:cxn>
                <a:cxn ang="0">
                  <a:pos x="663" y="1377"/>
                </a:cxn>
                <a:cxn ang="0">
                  <a:pos x="803" y="1420"/>
                </a:cxn>
                <a:cxn ang="0">
                  <a:pos x="953" y="1456"/>
                </a:cxn>
                <a:cxn ang="0">
                  <a:pos x="1110" y="1483"/>
                </a:cxn>
                <a:cxn ang="0">
                  <a:pos x="1271" y="1503"/>
                </a:cxn>
                <a:cxn ang="0">
                  <a:pos x="1436" y="1514"/>
                </a:cxn>
                <a:cxn ang="0">
                  <a:pos x="1603" y="1517"/>
                </a:cxn>
                <a:cxn ang="0">
                  <a:pos x="1769" y="1511"/>
                </a:cxn>
                <a:cxn ang="0">
                  <a:pos x="1933" y="1497"/>
                </a:cxn>
                <a:cxn ang="0">
                  <a:pos x="2093" y="1475"/>
                </a:cxn>
                <a:cxn ang="0">
                  <a:pos x="2247" y="1444"/>
                </a:cxn>
                <a:cxn ang="0">
                  <a:pos x="2394" y="1406"/>
                </a:cxn>
                <a:cxn ang="0">
                  <a:pos x="2532" y="1361"/>
                </a:cxn>
                <a:cxn ang="0">
                  <a:pos x="2659" y="1309"/>
                </a:cxn>
                <a:cxn ang="0">
                  <a:pos x="2773" y="1251"/>
                </a:cxn>
                <a:cxn ang="0">
                  <a:pos x="2875" y="1187"/>
                </a:cxn>
                <a:cxn ang="0">
                  <a:pos x="2961" y="1118"/>
                </a:cxn>
                <a:cxn ang="0">
                  <a:pos x="3033" y="1045"/>
                </a:cxn>
                <a:cxn ang="0">
                  <a:pos x="3087" y="970"/>
                </a:cxn>
                <a:cxn ang="0">
                  <a:pos x="3125" y="892"/>
                </a:cxn>
                <a:cxn ang="0">
                  <a:pos x="3146" y="812"/>
                </a:cxn>
              </a:cxnLst>
              <a:pathLst>
                <a:path w="9450" h="4549">
                  <a:moveTo>
                    <a:pt x="9450" y="2275"/>
                  </a:moveTo>
                  <a:lnTo>
                    <a:pt x="9447" y="2195"/>
                  </a:lnTo>
                  <a:lnTo>
                    <a:pt x="9438" y="2115"/>
                  </a:lnTo>
                  <a:lnTo>
                    <a:pt x="9423" y="2035"/>
                  </a:lnTo>
                  <a:lnTo>
                    <a:pt x="9403" y="1955"/>
                  </a:lnTo>
                  <a:lnTo>
                    <a:pt x="9376" y="1875"/>
                  </a:lnTo>
                  <a:lnTo>
                    <a:pt x="9343" y="1796"/>
                  </a:lnTo>
                  <a:lnTo>
                    <a:pt x="9306" y="1717"/>
                  </a:lnTo>
                  <a:lnTo>
                    <a:pt x="9262" y="1640"/>
                  </a:lnTo>
                  <a:lnTo>
                    <a:pt x="9213" y="1563"/>
                  </a:lnTo>
                  <a:lnTo>
                    <a:pt x="9158" y="1488"/>
                  </a:lnTo>
                  <a:lnTo>
                    <a:pt x="9098" y="1414"/>
                  </a:lnTo>
                  <a:lnTo>
                    <a:pt x="9032" y="1340"/>
                  </a:lnTo>
                  <a:lnTo>
                    <a:pt x="8961" y="1267"/>
                  </a:lnTo>
                  <a:lnTo>
                    <a:pt x="8884" y="1196"/>
                  </a:lnTo>
                  <a:lnTo>
                    <a:pt x="8803" y="1125"/>
                  </a:lnTo>
                  <a:lnTo>
                    <a:pt x="8715" y="1057"/>
                  </a:lnTo>
                  <a:lnTo>
                    <a:pt x="8624" y="990"/>
                  </a:lnTo>
                  <a:lnTo>
                    <a:pt x="8527" y="925"/>
                  </a:lnTo>
                  <a:lnTo>
                    <a:pt x="8426" y="861"/>
                  </a:lnTo>
                  <a:lnTo>
                    <a:pt x="8320" y="799"/>
                  </a:lnTo>
                  <a:lnTo>
                    <a:pt x="8210" y="738"/>
                  </a:lnTo>
                  <a:lnTo>
                    <a:pt x="8095" y="680"/>
                  </a:lnTo>
                  <a:lnTo>
                    <a:pt x="7976" y="624"/>
                  </a:lnTo>
                  <a:lnTo>
                    <a:pt x="7853" y="569"/>
                  </a:lnTo>
                  <a:lnTo>
                    <a:pt x="7726" y="518"/>
                  </a:lnTo>
                  <a:lnTo>
                    <a:pt x="7595" y="467"/>
                  </a:lnTo>
                  <a:lnTo>
                    <a:pt x="7461" y="420"/>
                  </a:lnTo>
                  <a:lnTo>
                    <a:pt x="7324" y="375"/>
                  </a:lnTo>
                  <a:lnTo>
                    <a:pt x="7182" y="332"/>
                  </a:lnTo>
                  <a:lnTo>
                    <a:pt x="7038" y="291"/>
                  </a:lnTo>
                  <a:lnTo>
                    <a:pt x="6892" y="254"/>
                  </a:lnTo>
                  <a:lnTo>
                    <a:pt x="6742" y="218"/>
                  </a:lnTo>
                  <a:lnTo>
                    <a:pt x="6591" y="184"/>
                  </a:lnTo>
                  <a:lnTo>
                    <a:pt x="6437" y="155"/>
                  </a:lnTo>
                  <a:lnTo>
                    <a:pt x="6280" y="126"/>
                  </a:lnTo>
                  <a:lnTo>
                    <a:pt x="6121" y="101"/>
                  </a:lnTo>
                  <a:lnTo>
                    <a:pt x="5961" y="79"/>
                  </a:lnTo>
                  <a:lnTo>
                    <a:pt x="5800" y="60"/>
                  </a:lnTo>
                  <a:lnTo>
                    <a:pt x="5637" y="42"/>
                  </a:lnTo>
                  <a:lnTo>
                    <a:pt x="5473" y="29"/>
                  </a:lnTo>
                  <a:lnTo>
                    <a:pt x="5307" y="17"/>
                  </a:lnTo>
                  <a:lnTo>
                    <a:pt x="5141" y="8"/>
                  </a:lnTo>
                  <a:lnTo>
                    <a:pt x="4975" y="3"/>
                  </a:lnTo>
                  <a:lnTo>
                    <a:pt x="4809" y="0"/>
                  </a:lnTo>
                  <a:lnTo>
                    <a:pt x="4641" y="0"/>
                  </a:lnTo>
                  <a:lnTo>
                    <a:pt x="4476" y="3"/>
                  </a:lnTo>
                  <a:lnTo>
                    <a:pt x="4308" y="8"/>
                  </a:lnTo>
                  <a:lnTo>
                    <a:pt x="4142" y="17"/>
                  </a:lnTo>
                  <a:lnTo>
                    <a:pt x="3978" y="29"/>
                  </a:lnTo>
                  <a:lnTo>
                    <a:pt x="3813" y="42"/>
                  </a:lnTo>
                  <a:lnTo>
                    <a:pt x="3650" y="60"/>
                  </a:lnTo>
                  <a:lnTo>
                    <a:pt x="3489" y="79"/>
                  </a:lnTo>
                  <a:lnTo>
                    <a:pt x="3329" y="101"/>
                  </a:lnTo>
                  <a:lnTo>
                    <a:pt x="3170" y="126"/>
                  </a:lnTo>
                  <a:lnTo>
                    <a:pt x="3013" y="155"/>
                  </a:lnTo>
                  <a:lnTo>
                    <a:pt x="2859" y="184"/>
                  </a:lnTo>
                  <a:lnTo>
                    <a:pt x="2707" y="218"/>
                  </a:lnTo>
                  <a:lnTo>
                    <a:pt x="2557" y="254"/>
                  </a:lnTo>
                  <a:lnTo>
                    <a:pt x="2410" y="291"/>
                  </a:lnTo>
                  <a:lnTo>
                    <a:pt x="2267" y="332"/>
                  </a:lnTo>
                  <a:lnTo>
                    <a:pt x="2126" y="375"/>
                  </a:lnTo>
                  <a:lnTo>
                    <a:pt x="1988" y="420"/>
                  </a:lnTo>
                  <a:lnTo>
                    <a:pt x="1855" y="467"/>
                  </a:lnTo>
                  <a:lnTo>
                    <a:pt x="1723" y="518"/>
                  </a:lnTo>
                  <a:lnTo>
                    <a:pt x="1597" y="569"/>
                  </a:lnTo>
                  <a:lnTo>
                    <a:pt x="1474" y="624"/>
                  </a:lnTo>
                  <a:lnTo>
                    <a:pt x="1354" y="680"/>
                  </a:lnTo>
                  <a:lnTo>
                    <a:pt x="1240" y="738"/>
                  </a:lnTo>
                  <a:lnTo>
                    <a:pt x="1129" y="799"/>
                  </a:lnTo>
                  <a:lnTo>
                    <a:pt x="1024" y="861"/>
                  </a:lnTo>
                  <a:lnTo>
                    <a:pt x="923" y="925"/>
                  </a:lnTo>
                  <a:lnTo>
                    <a:pt x="825" y="990"/>
                  </a:lnTo>
                  <a:lnTo>
                    <a:pt x="733" y="1057"/>
                  </a:lnTo>
                  <a:lnTo>
                    <a:pt x="647" y="1125"/>
                  </a:lnTo>
                  <a:lnTo>
                    <a:pt x="566" y="1196"/>
                  </a:lnTo>
                  <a:lnTo>
                    <a:pt x="489" y="1267"/>
                  </a:lnTo>
                  <a:lnTo>
                    <a:pt x="418" y="1340"/>
                  </a:lnTo>
                  <a:lnTo>
                    <a:pt x="353" y="1414"/>
                  </a:lnTo>
                  <a:lnTo>
                    <a:pt x="292" y="1488"/>
                  </a:lnTo>
                  <a:lnTo>
                    <a:pt x="237" y="1563"/>
                  </a:lnTo>
                  <a:lnTo>
                    <a:pt x="187" y="1640"/>
                  </a:lnTo>
                  <a:lnTo>
                    <a:pt x="144" y="1717"/>
                  </a:lnTo>
                  <a:lnTo>
                    <a:pt x="105" y="1796"/>
                  </a:lnTo>
                  <a:lnTo>
                    <a:pt x="74" y="1875"/>
                  </a:lnTo>
                  <a:lnTo>
                    <a:pt x="48" y="1955"/>
                  </a:lnTo>
                  <a:lnTo>
                    <a:pt x="27" y="2035"/>
                  </a:lnTo>
                  <a:lnTo>
                    <a:pt x="12" y="2115"/>
                  </a:lnTo>
                  <a:lnTo>
                    <a:pt x="3" y="2195"/>
                  </a:lnTo>
                  <a:lnTo>
                    <a:pt x="0" y="2275"/>
                  </a:lnTo>
                  <a:lnTo>
                    <a:pt x="3" y="2354"/>
                  </a:lnTo>
                  <a:lnTo>
                    <a:pt x="12" y="2434"/>
                  </a:lnTo>
                  <a:lnTo>
                    <a:pt x="27" y="2514"/>
                  </a:lnTo>
                  <a:lnTo>
                    <a:pt x="48" y="2594"/>
                  </a:lnTo>
                  <a:lnTo>
                    <a:pt x="74" y="2674"/>
                  </a:lnTo>
                  <a:lnTo>
                    <a:pt x="105" y="2753"/>
                  </a:lnTo>
                  <a:lnTo>
                    <a:pt x="144" y="2832"/>
                  </a:lnTo>
                  <a:lnTo>
                    <a:pt x="187" y="2909"/>
                  </a:lnTo>
                  <a:lnTo>
                    <a:pt x="237" y="2986"/>
                  </a:lnTo>
                  <a:lnTo>
                    <a:pt x="292" y="3061"/>
                  </a:lnTo>
                  <a:lnTo>
                    <a:pt x="353" y="3135"/>
                  </a:lnTo>
                  <a:lnTo>
                    <a:pt x="418" y="3209"/>
                  </a:lnTo>
                  <a:lnTo>
                    <a:pt x="489" y="3282"/>
                  </a:lnTo>
                  <a:lnTo>
                    <a:pt x="566" y="3353"/>
                  </a:lnTo>
                  <a:lnTo>
                    <a:pt x="647" y="3424"/>
                  </a:lnTo>
                  <a:lnTo>
                    <a:pt x="733" y="3492"/>
                  </a:lnTo>
                  <a:lnTo>
                    <a:pt x="825" y="3559"/>
                  </a:lnTo>
                  <a:lnTo>
                    <a:pt x="923" y="3624"/>
                  </a:lnTo>
                  <a:lnTo>
                    <a:pt x="1024" y="3688"/>
                  </a:lnTo>
                  <a:lnTo>
                    <a:pt x="1129" y="3750"/>
                  </a:lnTo>
                  <a:lnTo>
                    <a:pt x="1240" y="3811"/>
                  </a:lnTo>
                  <a:lnTo>
                    <a:pt x="1354" y="3869"/>
                  </a:lnTo>
                  <a:lnTo>
                    <a:pt x="1474" y="3925"/>
                  </a:lnTo>
                  <a:lnTo>
                    <a:pt x="1597" y="3980"/>
                  </a:lnTo>
                  <a:lnTo>
                    <a:pt x="1723" y="4031"/>
                  </a:lnTo>
                  <a:lnTo>
                    <a:pt x="1855" y="4082"/>
                  </a:lnTo>
                  <a:lnTo>
                    <a:pt x="1988" y="4129"/>
                  </a:lnTo>
                  <a:lnTo>
                    <a:pt x="2126" y="4174"/>
                  </a:lnTo>
                  <a:lnTo>
                    <a:pt x="2267" y="4217"/>
                  </a:lnTo>
                  <a:lnTo>
                    <a:pt x="2410" y="4258"/>
                  </a:lnTo>
                  <a:lnTo>
                    <a:pt x="2557" y="4295"/>
                  </a:lnTo>
                  <a:lnTo>
                    <a:pt x="2707" y="4331"/>
                  </a:lnTo>
                  <a:lnTo>
                    <a:pt x="2859" y="4365"/>
                  </a:lnTo>
                  <a:lnTo>
                    <a:pt x="3013" y="4394"/>
                  </a:lnTo>
                  <a:lnTo>
                    <a:pt x="3170" y="4423"/>
                  </a:lnTo>
                  <a:lnTo>
                    <a:pt x="3329" y="4448"/>
                  </a:lnTo>
                  <a:lnTo>
                    <a:pt x="3489" y="4470"/>
                  </a:lnTo>
                  <a:lnTo>
                    <a:pt x="3650" y="4489"/>
                  </a:lnTo>
                  <a:lnTo>
                    <a:pt x="3813" y="4507"/>
                  </a:lnTo>
                  <a:lnTo>
                    <a:pt x="3978" y="4520"/>
                  </a:lnTo>
                  <a:lnTo>
                    <a:pt x="4142" y="4532"/>
                  </a:lnTo>
                  <a:lnTo>
                    <a:pt x="4308" y="4541"/>
                  </a:lnTo>
                  <a:lnTo>
                    <a:pt x="4476" y="4546"/>
                  </a:lnTo>
                  <a:lnTo>
                    <a:pt x="4641" y="4549"/>
                  </a:lnTo>
                  <a:lnTo>
                    <a:pt x="4809" y="4549"/>
                  </a:lnTo>
                  <a:lnTo>
                    <a:pt x="4975" y="4546"/>
                  </a:lnTo>
                  <a:lnTo>
                    <a:pt x="5141" y="4541"/>
                  </a:lnTo>
                  <a:lnTo>
                    <a:pt x="5307" y="4532"/>
                  </a:lnTo>
                  <a:lnTo>
                    <a:pt x="5473" y="4520"/>
                  </a:lnTo>
                  <a:lnTo>
                    <a:pt x="5637" y="4507"/>
                  </a:lnTo>
                  <a:lnTo>
                    <a:pt x="5800" y="4489"/>
                  </a:lnTo>
                  <a:lnTo>
                    <a:pt x="5961" y="4470"/>
                  </a:lnTo>
                  <a:lnTo>
                    <a:pt x="6121" y="4448"/>
                  </a:lnTo>
                  <a:lnTo>
                    <a:pt x="6280" y="4423"/>
                  </a:lnTo>
                  <a:lnTo>
                    <a:pt x="6437" y="4394"/>
                  </a:lnTo>
                  <a:lnTo>
                    <a:pt x="6591" y="4365"/>
                  </a:lnTo>
                  <a:lnTo>
                    <a:pt x="6742" y="4331"/>
                  </a:lnTo>
                  <a:lnTo>
                    <a:pt x="6892" y="4295"/>
                  </a:lnTo>
                  <a:lnTo>
                    <a:pt x="7038" y="4258"/>
                  </a:lnTo>
                  <a:lnTo>
                    <a:pt x="7182" y="4217"/>
                  </a:lnTo>
                  <a:lnTo>
                    <a:pt x="7324" y="4174"/>
                  </a:lnTo>
                  <a:lnTo>
                    <a:pt x="7461" y="4129"/>
                  </a:lnTo>
                  <a:lnTo>
                    <a:pt x="7595" y="4082"/>
                  </a:lnTo>
                  <a:lnTo>
                    <a:pt x="7726" y="4031"/>
                  </a:lnTo>
                  <a:lnTo>
                    <a:pt x="7853" y="3980"/>
                  </a:lnTo>
                  <a:lnTo>
                    <a:pt x="7976" y="3925"/>
                  </a:lnTo>
                  <a:lnTo>
                    <a:pt x="8095" y="3869"/>
                  </a:lnTo>
                  <a:lnTo>
                    <a:pt x="8210" y="3811"/>
                  </a:lnTo>
                  <a:lnTo>
                    <a:pt x="8320" y="3750"/>
                  </a:lnTo>
                  <a:lnTo>
                    <a:pt x="8426" y="3688"/>
                  </a:lnTo>
                  <a:lnTo>
                    <a:pt x="8527" y="3624"/>
                  </a:lnTo>
                  <a:lnTo>
                    <a:pt x="8624" y="3559"/>
                  </a:lnTo>
                  <a:lnTo>
                    <a:pt x="8715" y="3492"/>
                  </a:lnTo>
                  <a:lnTo>
                    <a:pt x="8803" y="3424"/>
                  </a:lnTo>
                  <a:lnTo>
                    <a:pt x="8884" y="3353"/>
                  </a:lnTo>
                  <a:lnTo>
                    <a:pt x="8961" y="3282"/>
                  </a:lnTo>
                  <a:lnTo>
                    <a:pt x="9032" y="3209"/>
                  </a:lnTo>
                  <a:lnTo>
                    <a:pt x="9098" y="3135"/>
                  </a:lnTo>
                  <a:lnTo>
                    <a:pt x="9158" y="3061"/>
                  </a:lnTo>
                  <a:lnTo>
                    <a:pt x="9213" y="2986"/>
                  </a:lnTo>
                  <a:lnTo>
                    <a:pt x="9262" y="2909"/>
                  </a:lnTo>
                  <a:lnTo>
                    <a:pt x="9306" y="2832"/>
                  </a:lnTo>
                  <a:lnTo>
                    <a:pt x="9343" y="2753"/>
                  </a:lnTo>
                  <a:lnTo>
                    <a:pt x="9376" y="2674"/>
                  </a:lnTo>
                  <a:lnTo>
                    <a:pt x="9403" y="2594"/>
                  </a:lnTo>
                  <a:lnTo>
                    <a:pt x="9423" y="2514"/>
                  </a:lnTo>
                  <a:lnTo>
                    <a:pt x="9438" y="2434"/>
                  </a:lnTo>
                  <a:lnTo>
                    <a:pt x="9447" y="2354"/>
                  </a:lnTo>
                  <a:lnTo>
                    <a:pt x="9450" y="2275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8" name="Rectangle 17"/>
            <p:cNvSpPr/>
            <p:nvPr/>
          </p:nvSpPr>
          <p:spPr>
            <a:xfrm>
              <a:off x="1730" y="1589"/>
              <a:ext cx="152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 N'= {x | A∈N</a:t>
              </a:r>
              <a:r>
                <a:rPr lang="en-US" altLang="zh-CN" sz="2500" b="1" baseline="-2500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  <a:endParaRPr lang="zh-CN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6639" name="Rectangle 18"/>
            <p:cNvSpPr/>
            <p:nvPr/>
          </p:nvSpPr>
          <p:spPr>
            <a:xfrm>
              <a:off x="1730" y="1826"/>
              <a:ext cx="22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      且A→αxβ}∪ N</a:t>
              </a:r>
              <a:r>
                <a:rPr lang="zh-CN" altLang="zh-CN" sz="2500" b="1" baseline="-2500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  <a:endParaRPr lang="zh-CN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6640" name="Rectangle 19"/>
            <p:cNvSpPr/>
            <p:nvPr/>
          </p:nvSpPr>
          <p:spPr>
            <a:xfrm>
              <a:off x="1962" y="2265"/>
              <a:ext cx="297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1" name="Rectangle 20"/>
            <p:cNvSpPr/>
            <p:nvPr/>
          </p:nvSpPr>
          <p:spPr>
            <a:xfrm>
              <a:off x="2111" y="2421"/>
              <a:ext cx="121" cy="1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2" name="Rectangle 21"/>
            <p:cNvSpPr/>
            <p:nvPr/>
          </p:nvSpPr>
          <p:spPr>
            <a:xfrm>
              <a:off x="3790" y="2353"/>
              <a:ext cx="297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3" name="Rectangle 22"/>
            <p:cNvSpPr/>
            <p:nvPr/>
          </p:nvSpPr>
          <p:spPr>
            <a:xfrm>
              <a:off x="3939" y="2509"/>
              <a:ext cx="121" cy="1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4" name="Rectangle 23"/>
            <p:cNvSpPr/>
            <p:nvPr/>
          </p:nvSpPr>
          <p:spPr>
            <a:xfrm>
              <a:off x="2779" y="2498"/>
              <a:ext cx="297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5" name="Rectangle 24"/>
            <p:cNvSpPr/>
            <p:nvPr/>
          </p:nvSpPr>
          <p:spPr>
            <a:xfrm>
              <a:off x="2928" y="2654"/>
              <a:ext cx="121" cy="1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6" name="Rectangle 25"/>
            <p:cNvSpPr/>
            <p:nvPr/>
          </p:nvSpPr>
          <p:spPr>
            <a:xfrm>
              <a:off x="1081" y="1864"/>
              <a:ext cx="403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N''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7" name="Rectangle 26"/>
            <p:cNvSpPr/>
            <p:nvPr/>
          </p:nvSpPr>
          <p:spPr>
            <a:xfrm>
              <a:off x="1737" y="2965"/>
              <a:ext cx="850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αC</a:t>
              </a:r>
              <a:r>
                <a:rPr lang="zh-CN" altLang="zh-CN" sz="3700" b="1" baseline="-2500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β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8" name="Rectangle 27"/>
            <p:cNvSpPr/>
            <p:nvPr/>
          </p:nvSpPr>
          <p:spPr>
            <a:xfrm>
              <a:off x="3001" y="3023"/>
              <a:ext cx="850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αC</a:t>
              </a:r>
              <a:r>
                <a:rPr lang="zh-CN" altLang="zh-CN" sz="3700" b="1" baseline="-2500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zh-CN" sz="3700" b="1">
                  <a:solidFill>
                    <a:srgbClr val="000000"/>
                  </a:solidFill>
                  <a:latin typeface="宋体" panose="02010600030101010101" pitchFamily="2" charset="-122"/>
                </a:rPr>
                <a:t>β</a:t>
              </a:r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649" name="Line 28"/>
            <p:cNvSpPr/>
            <p:nvPr/>
          </p:nvSpPr>
          <p:spPr>
            <a:xfrm flipV="1">
              <a:off x="2449" y="2227"/>
              <a:ext cx="181" cy="102"/>
            </a:xfrm>
            <a:prstGeom prst="line">
              <a:avLst/>
            </a:prstGeom>
            <a:ln w="539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0" name="Freeform 29"/>
            <p:cNvSpPr/>
            <p:nvPr/>
          </p:nvSpPr>
          <p:spPr>
            <a:xfrm>
              <a:off x="2319" y="2275"/>
              <a:ext cx="168" cy="127"/>
            </a:xfrm>
            <a:custGeom>
              <a:avLst/>
              <a:gdLst/>
              <a:ahLst/>
              <a:cxnLst>
                <a:cxn ang="0">
                  <a:pos x="168" y="94"/>
                </a:cxn>
                <a:cxn ang="0">
                  <a:pos x="0" y="127"/>
                </a:cxn>
                <a:cxn ang="0">
                  <a:pos x="115" y="0"/>
                </a:cxn>
                <a:cxn ang="0">
                  <a:pos x="168" y="94"/>
                </a:cxn>
              </a:cxnLst>
              <a:pathLst>
                <a:path w="506" h="382">
                  <a:moveTo>
                    <a:pt x="506" y="284"/>
                  </a:moveTo>
                  <a:lnTo>
                    <a:pt x="0" y="382"/>
                  </a:lnTo>
                  <a:lnTo>
                    <a:pt x="346" y="0"/>
                  </a:lnTo>
                  <a:lnTo>
                    <a:pt x="506" y="2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51" name="Line 30"/>
            <p:cNvSpPr/>
            <p:nvPr/>
          </p:nvSpPr>
          <p:spPr>
            <a:xfrm>
              <a:off x="3096" y="2402"/>
              <a:ext cx="418" cy="87"/>
            </a:xfrm>
            <a:prstGeom prst="line">
              <a:avLst/>
            </a:prstGeom>
            <a:ln w="539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2" name="Freeform 31"/>
            <p:cNvSpPr/>
            <p:nvPr/>
          </p:nvSpPr>
          <p:spPr>
            <a:xfrm>
              <a:off x="3490" y="2432"/>
              <a:ext cx="170" cy="107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0" y="87"/>
                </a:cxn>
                <a:cxn ang="0">
                  <a:pos x="0" y="107"/>
                </a:cxn>
                <a:cxn ang="0">
                  <a:pos x="22" y="0"/>
                </a:cxn>
              </a:cxnLst>
              <a:pathLst>
                <a:path w="511" h="320">
                  <a:moveTo>
                    <a:pt x="65" y="0"/>
                  </a:moveTo>
                  <a:lnTo>
                    <a:pt x="511" y="260"/>
                  </a:lnTo>
                  <a:lnTo>
                    <a:pt x="0" y="32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53" name="Line 32"/>
            <p:cNvSpPr/>
            <p:nvPr/>
          </p:nvSpPr>
          <p:spPr>
            <a:xfrm flipV="1">
              <a:off x="2404" y="2752"/>
              <a:ext cx="226" cy="151"/>
            </a:xfrm>
            <a:prstGeom prst="line">
              <a:avLst/>
            </a:prstGeom>
            <a:ln w="539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4" name="Freeform 33"/>
            <p:cNvSpPr/>
            <p:nvPr/>
          </p:nvSpPr>
          <p:spPr>
            <a:xfrm>
              <a:off x="2280" y="2850"/>
              <a:ext cx="165" cy="136"/>
            </a:xfrm>
            <a:custGeom>
              <a:avLst/>
              <a:gdLst/>
              <a:ahLst/>
              <a:cxnLst>
                <a:cxn ang="0">
                  <a:pos x="165" y="90"/>
                </a:cxn>
                <a:cxn ang="0">
                  <a:pos x="0" y="136"/>
                </a:cxn>
                <a:cxn ang="0">
                  <a:pos x="105" y="0"/>
                </a:cxn>
                <a:cxn ang="0">
                  <a:pos x="165" y="90"/>
                </a:cxn>
              </a:cxnLst>
              <a:pathLst>
                <a:path w="497" h="408">
                  <a:moveTo>
                    <a:pt x="497" y="271"/>
                  </a:moveTo>
                  <a:lnTo>
                    <a:pt x="0" y="408"/>
                  </a:lnTo>
                  <a:lnTo>
                    <a:pt x="316" y="0"/>
                  </a:lnTo>
                  <a:lnTo>
                    <a:pt x="497" y="2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55" name="Line 34"/>
            <p:cNvSpPr/>
            <p:nvPr/>
          </p:nvSpPr>
          <p:spPr>
            <a:xfrm>
              <a:off x="3077" y="2810"/>
              <a:ext cx="114" cy="86"/>
            </a:xfrm>
            <a:prstGeom prst="line">
              <a:avLst/>
            </a:prstGeom>
            <a:ln w="539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6" name="Freeform 35"/>
            <p:cNvSpPr/>
            <p:nvPr/>
          </p:nvSpPr>
          <p:spPr>
            <a:xfrm>
              <a:off x="3147" y="2844"/>
              <a:ext cx="163" cy="142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163" y="142"/>
                </a:cxn>
                <a:cxn ang="0">
                  <a:pos x="0" y="87"/>
                </a:cxn>
                <a:cxn ang="0">
                  <a:pos x="65" y="0"/>
                </a:cxn>
              </a:cxnLst>
              <a:pathLst>
                <a:path w="489" h="424">
                  <a:moveTo>
                    <a:pt x="196" y="0"/>
                  </a:moveTo>
                  <a:lnTo>
                    <a:pt x="489" y="424"/>
                  </a:lnTo>
                  <a:lnTo>
                    <a:pt x="0" y="26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765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765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/>
          <p:nvPr/>
        </p:nvSpPr>
        <p:spPr>
          <a:xfrm>
            <a:off x="762000" y="4572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消去非生成符号及不可达符号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653" name="Rectangle 7"/>
          <p:cNvSpPr/>
          <p:nvPr/>
        </p:nvSpPr>
        <p:spPr>
          <a:xfrm>
            <a:off x="381000" y="1447800"/>
            <a:ext cx="8153400" cy="4584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例: (书</a:t>
            </a:r>
            <a:r>
              <a:rPr lang="en-US" altLang="zh-CN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P102 </a:t>
            </a: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例</a:t>
            </a:r>
            <a:r>
              <a:rPr lang="en-US" altLang="zh-CN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</a:t>
            </a: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)</a:t>
            </a:r>
            <a:endParaRPr lang="zh-CN" altLang="en-US" sz="28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已知2型文法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G=({S, A, B}, {a}, P, S)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P:  S→AB,  S→a,  A→a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由算法1: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推不出终结符串, 删除之, 并删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S→AB.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N</a:t>
            </a:r>
            <a:r>
              <a:rPr lang="en-US" altLang="zh-CN" sz="2400" b="1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={S, A},  P</a:t>
            </a:r>
            <a:r>
              <a:rPr lang="en-US" altLang="zh-CN" sz="2400" b="1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 S→a,  A→a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由算法2: 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不出现在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能推导出的句型中, 删除之.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并删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A→a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buFont typeface="Wingdings" panose="05000000000000000000" pitchFamily="2" charset="2"/>
            </a:pP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∴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结果为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G1=({S}, {a}, { S→a}, S )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buFont typeface="Wingdings" panose="05000000000000000000" pitchFamily="2" charset="2"/>
            </a:pP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应用算法1和算法2,可删去文法中所有无用符号.</a:t>
            </a:r>
            <a:endParaRPr lang="en-US" altLang="zh-CN" sz="2400" b="1" i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867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867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8676" name="Rectangle 1026"/>
          <p:cNvSpPr/>
          <p:nvPr/>
        </p:nvSpPr>
        <p:spPr>
          <a:xfrm>
            <a:off x="762000" y="4572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消去非生成符号及不可达符号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677" name="Rectangle 1027"/>
          <p:cNvSpPr/>
          <p:nvPr/>
        </p:nvSpPr>
        <p:spPr>
          <a:xfrm>
            <a:off x="381000" y="1143000"/>
            <a:ext cx="8153400" cy="548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32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注意: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必须先执行算法1,再执行算法2,不能颠倒.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否则,可能导致无用符号不会被完全删除.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例:</a:t>
            </a:r>
            <a:endParaRPr lang="zh-CN" altLang="en-US" sz="36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上例中,若先用算法2,得 </a:t>
            </a:r>
            <a:endParaRPr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S→a,  S→AB, A→a</a:t>
            </a: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再用算法1, 得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S→a, A→a。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A→a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是多余的. </a:t>
            </a:r>
            <a:endParaRPr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定理:</a:t>
            </a:r>
            <a:endParaRPr lang="zh-CN" altLang="en-US" sz="36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任何非空的上下文无关语言,可由不存在无用符号的上下文无关文法产生(证明略)。 </a:t>
            </a: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969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969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/>
          <p:nvPr/>
        </p:nvSpPr>
        <p:spPr>
          <a:xfrm>
            <a:off x="1116013" y="333375"/>
            <a:ext cx="6062662" cy="7334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4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课堂练习</a:t>
            </a:r>
            <a:endParaRPr lang="zh-CN" altLang="en-US" sz="40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1" name="Rectangle 3"/>
          <p:cNvSpPr/>
          <p:nvPr/>
        </p:nvSpPr>
        <p:spPr>
          <a:xfrm>
            <a:off x="450850" y="1268413"/>
            <a:ext cx="8153400" cy="2305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对下面文法消</a:t>
            </a: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无用符号：</a:t>
            </a:r>
            <a:endParaRPr lang="zh-CN" altLang="en-US" sz="36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S→A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A→aB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bS | b</a:t>
            </a: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B→ AB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 Ba     C → AS | b</a:t>
            </a: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0850" y="3151188"/>
            <a:ext cx="8153400" cy="334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由算法1: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推不出终结符串, 删除之, 并删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S→B, A→aB, B→ AB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| Ba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      N</a:t>
            </a:r>
            <a:r>
              <a:rPr lang="en-US" altLang="zh-CN" sz="2400" b="1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={S, A,C},  P</a:t>
            </a:r>
            <a:r>
              <a:rPr lang="en-US" altLang="zh-CN" sz="2400" b="1" baseline="-30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:  S→A ,  A→bS | b, C → AS | b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由算法2: 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a,C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不出现在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能推导出的句型中, 删除之.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/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∴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结果为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=({S,A}, {b}, {S→A ,  A→bS | b}, S )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/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应用算法1和算法2,可删去文法中所有无用符号.</a:t>
            </a:r>
            <a:endParaRPr lang="en-US" altLang="zh-CN" sz="2400" b="1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072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072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0724" name="Rectangle 6"/>
          <p:cNvSpPr/>
          <p:nvPr/>
        </p:nvSpPr>
        <p:spPr>
          <a:xfrm>
            <a:off x="5334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  产生式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5" name="Rectangle 7"/>
          <p:cNvSpPr/>
          <p:nvPr/>
        </p:nvSpPr>
        <p:spPr>
          <a:xfrm>
            <a:off x="533400" y="1524000"/>
            <a:ext cx="7924800" cy="1936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目的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方便文法的设计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利于文法规范化.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endParaRPr lang="zh-CN" altLang="en-US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影响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  产生式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除了文法不能产生字符串  外，不会影响到原文法相应的语言中其它字符串的产生.</a:t>
            </a: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</a:t>
            </a:r>
            <a:endParaRPr lang="zh-CN" altLang="en-US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0726" name="Group 11"/>
          <p:cNvGrpSpPr/>
          <p:nvPr/>
        </p:nvGrpSpPr>
        <p:grpSpPr>
          <a:xfrm>
            <a:off x="304800" y="3733800"/>
            <a:ext cx="8153400" cy="2592388"/>
            <a:chOff x="192" y="2352"/>
            <a:chExt cx="5136" cy="1633"/>
          </a:xfrm>
        </p:grpSpPr>
        <p:sp>
          <p:nvSpPr>
            <p:cNvPr id="30727" name="Rectangle 9"/>
            <p:cNvSpPr/>
            <p:nvPr/>
          </p:nvSpPr>
          <p:spPr>
            <a:xfrm>
              <a:off x="192" y="2352"/>
              <a:ext cx="5136" cy="1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Clr>
                  <a:srgbClr val="800080"/>
                </a:buClr>
                <a:buFont typeface="Wingdings" panose="05000000000000000000" pitchFamily="2" charset="2"/>
                <a:buChar char="²"/>
              </a:pPr>
              <a:r>
                <a:rPr lang="zh-CN" altLang="en-US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8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可致空符号（</a:t>
              </a:r>
              <a:r>
                <a:rPr lang="en-US" altLang="zh-CN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nullable symbol</a:t>
              </a:r>
              <a:r>
                <a:rPr lang="en-US" altLang="zh-CN" sz="28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）</a:t>
              </a:r>
              <a:endPara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lvl="1" eaLnBrk="1" hangingPunct="1">
                <a:buClr>
                  <a:srgbClr val="800080"/>
                </a:buClr>
                <a:buChar char="–"/>
              </a:pPr>
              <a:endParaRPr lang="en-US" altLang="zh-CN" sz="12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8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 </a:t>
              </a:r>
              <a:r>
                <a:rPr lang="zh-CN" altLang="en-US" sz="28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对于</a:t>
              </a:r>
              <a:r>
                <a:rPr lang="zh-CN" altLang="en-US" sz="28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CFG</a:t>
              </a:r>
              <a:r>
                <a:rPr lang="en-US" altLang="zh-CN" sz="24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G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= (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N,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P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 S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)，</a:t>
              </a:r>
              <a:r>
                <a:rPr lang="zh-CN" altLang="en-US" sz="28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称符号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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N  </a:t>
              </a:r>
              <a:r>
                <a:rPr lang="zh-CN" altLang="en-US" sz="28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是</a:t>
              </a:r>
              <a:r>
                <a:rPr lang="zh-CN" altLang="en-US" sz="28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可致空</a:t>
              </a:r>
              <a:r>
                <a:rPr lang="zh-CN" altLang="en-US" sz="28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的</a:t>
              </a:r>
              <a:r>
                <a:rPr lang="zh-CN" altLang="en-US" sz="28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，当且仅当 </a:t>
              </a:r>
              <a:r>
                <a:rPr lang="en-US" altLang="zh-CN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 </a:t>
              </a:r>
              <a:r>
                <a:rPr lang="en-US" altLang="zh-CN" sz="28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</a:t>
              </a:r>
              <a:endParaRPr lang="en-US" altLang="zh-CN" sz="9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lvl="1" eaLnBrk="1" hangingPunct="1">
                <a:buClr>
                  <a:srgbClr val="800080"/>
                </a:buClr>
                <a:buChar char="–"/>
              </a:pPr>
              <a:endParaRPr lang="en-US" altLang="zh-CN" sz="12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r>
                <a:rPr lang="en-US" altLang="zh-CN" sz="28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   </a:t>
              </a:r>
              <a:r>
                <a:rPr lang="zh-CN" altLang="en-US" sz="28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消去  产生式及其影响，需要计算可致空符号的集合.</a:t>
              </a:r>
              <a:endPara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28" name="Rectangle 10"/>
            <p:cNvSpPr/>
            <p:nvPr/>
          </p:nvSpPr>
          <p:spPr>
            <a:xfrm>
              <a:off x="2064" y="2972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+</a:t>
              </a:r>
              <a:endPara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174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174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1748" name="Rectangle 6"/>
          <p:cNvSpPr/>
          <p:nvPr/>
        </p:nvSpPr>
        <p:spPr>
          <a:xfrm>
            <a:off x="762000" y="609600"/>
            <a:ext cx="7315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算法3: 生成无文法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749" name="Rectangle 7"/>
          <p:cNvSpPr/>
          <p:nvPr/>
        </p:nvSpPr>
        <p:spPr>
          <a:xfrm>
            <a:off x="304800" y="1524000"/>
            <a:ext cx="8458200" cy="4926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定义: 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若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G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的生成式中无任何产生式，或只有一个生成式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S→ε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且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不出现在任何生成式的右边，则称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G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为无文法。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思路 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对于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CFG  G = (N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 , S )，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可通过下列归纳步骤计算可致空符号集合：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基础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对于所有产生式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是一个可致空符号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归纳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如果有产生式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…C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其中每一个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是可致空符号，则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是一个可致空符号；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277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277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2772" name="Rectangle 2"/>
          <p:cNvSpPr/>
          <p:nvPr/>
        </p:nvSpPr>
        <p:spPr>
          <a:xfrm>
            <a:off x="762000" y="609600"/>
            <a:ext cx="7315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算法3: 生成无文法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773" name="Rectangle 3"/>
          <p:cNvSpPr/>
          <p:nvPr/>
        </p:nvSpPr>
        <p:spPr>
          <a:xfrm>
            <a:off x="304800" y="1295400"/>
            <a:ext cx="8534400" cy="5259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算法步骤: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(1)  利用算法1, 找出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N’= {A | A∈N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且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A ε}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  (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找出能推导出的所有非终结符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A)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(2) 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用以下两步组成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   ①   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如果生成式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A→β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C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C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…C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∈P    n≥0  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且每个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k 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(1≤k≤n)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均在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N’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内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而对于0≤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j≤n,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没有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j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在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N’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内   (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也可能是终结符)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则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应加入  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A→β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Y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Y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…Y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β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其中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Y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k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或是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k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或是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ε        (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即所有的可能组合)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但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A→ε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A∈N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不加入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774" name="文本框 1"/>
          <p:cNvSpPr txBox="1"/>
          <p:nvPr/>
        </p:nvSpPr>
        <p:spPr>
          <a:xfrm>
            <a:off x="6156325" y="1844675"/>
            <a:ext cx="492125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379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379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3796" name="Rectangle 1026"/>
          <p:cNvSpPr/>
          <p:nvPr/>
        </p:nvSpPr>
        <p:spPr>
          <a:xfrm>
            <a:off x="762000" y="609600"/>
            <a:ext cx="7315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算法3: 生成无文法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797" name="Rectangle 1027"/>
          <p:cNvSpPr/>
          <p:nvPr/>
        </p:nvSpPr>
        <p:spPr>
          <a:xfrm>
            <a:off x="304800" y="1524000"/>
            <a:ext cx="8458200" cy="3382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78130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算法步骤（续）: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marL="278130"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② 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如果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S∈N’,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则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中应加入以下生成式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marL="278130"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→ε|S      S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是新的起始符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marL="278130"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=N∪{S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}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marL="278130"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如果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SN’,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则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=N, S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=S</a:t>
            </a:r>
            <a:endParaRPr lang="en-US" altLang="zh-CN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marL="278130" algn="just" eaLnBrk="1" hangingPunct="1">
              <a:lnSpc>
                <a:spcPct val="13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由此得出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G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=( N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,T, P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,S</a:t>
            </a:r>
            <a:r>
              <a:rPr lang="en-US" altLang="zh-CN" sz="28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zh-CN" altLang="en-US" sz="280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481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481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4820" name="Rectangle 6"/>
          <p:cNvSpPr/>
          <p:nvPr/>
        </p:nvSpPr>
        <p:spPr>
          <a:xfrm>
            <a:off x="5334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  产生式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821" name="Rectangle 7"/>
          <p:cNvSpPr/>
          <p:nvPr/>
        </p:nvSpPr>
        <p:spPr>
          <a:xfrm>
            <a:off x="381000" y="1069975"/>
            <a:ext cx="8763000" cy="5645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例: (书</a:t>
            </a:r>
            <a:r>
              <a: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P103 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例</a:t>
            </a:r>
            <a:r>
              <a: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endParaRPr lang="zh-CN" altLang="en-US" sz="28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lvl="1" eaLnBrk="1" hangingPunct="1">
              <a:lnSpc>
                <a:spcPct val="11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G = (N, T, P, S)   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其中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N={S}, T={ a, b }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P: S→aSbS | bSaS|ε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求其无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ε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文法 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G</a:t>
            </a:r>
            <a:r>
              <a:rPr lang="en-US" altLang="zh-CN" sz="2800" baseline="-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=( N</a:t>
            </a:r>
            <a:r>
              <a:rPr lang="en-US" altLang="zh-CN" sz="2800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,T, P</a:t>
            </a:r>
            <a:r>
              <a:rPr lang="en-US" altLang="zh-CN" sz="2800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S</a:t>
            </a:r>
            <a:r>
              <a:rPr lang="en-US" altLang="zh-CN" sz="2800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解: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(1) ∵ 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 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ε ∴ N’={S}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	 (2) ① P</a:t>
            </a:r>
            <a:r>
              <a:rPr lang="en-US" altLang="zh-CN" sz="2800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的构造</a:t>
            </a:r>
            <a:endParaRPr lang="zh-CN" altLang="en-US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由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S→aSbS; 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加入	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S→aSbS|aεbS|aSbε|aεbε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由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S→bSaS; 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加入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S→bSaS|bεaS|bSaε|bεaε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	   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但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S→ε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不加入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P</a:t>
            </a:r>
            <a:r>
              <a:rPr lang="en-US" altLang="zh-CN" sz="2800" baseline="-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/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Wingdings 2" panose="05020102010507070707" pitchFamily="18" charset="2"/>
              </a:rPr>
              <a:t>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由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S∈N’</a:t>
            </a:r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得出</a:t>
            </a:r>
            <a:endParaRPr lang="zh-CN" altLang="en-US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/>
            <a:r>
              <a:rPr lang="zh-CN" altLang="en-US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en-US" altLang="zh-CN" sz="2800" baseline="-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→ε∣S        N</a:t>
            </a:r>
            <a:r>
              <a:rPr lang="en-US" altLang="zh-CN" sz="2800" baseline="-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= N∪{S</a:t>
            </a:r>
            <a:r>
              <a:rPr lang="en-US" altLang="zh-CN" sz="2800" baseline="-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} = {S,S</a:t>
            </a:r>
            <a:r>
              <a:rPr lang="en-US" altLang="zh-CN" sz="2800" baseline="-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}</a:t>
            </a:r>
            <a:endParaRPr lang="en-US" altLang="zh-CN" sz="280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4822" name="文本框 6"/>
          <p:cNvSpPr txBox="1"/>
          <p:nvPr/>
        </p:nvSpPr>
        <p:spPr>
          <a:xfrm>
            <a:off x="2135188" y="3068638"/>
            <a:ext cx="492125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584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584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5844" name="Rectangle 1026"/>
          <p:cNvSpPr/>
          <p:nvPr/>
        </p:nvSpPr>
        <p:spPr>
          <a:xfrm>
            <a:off x="5334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  产生式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845" name="Rectangle 1027"/>
          <p:cNvSpPr/>
          <p:nvPr/>
        </p:nvSpPr>
        <p:spPr>
          <a:xfrm>
            <a:off x="381000" y="1447800"/>
            <a:ext cx="8382000" cy="2695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练习</a:t>
            </a:r>
            <a:endParaRPr lang="zh-CN" altLang="en-US" sz="28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以下产生式表示的文法中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为可致空符号：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A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BD;    B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BC;</a:t>
            </a:r>
            <a:endParaRPr lang="en-US" altLang="zh-CN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C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D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24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</a:t>
            </a:r>
            <a:endParaRPr lang="en-US" altLang="zh-CN" sz="24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60837" name="Text Box 1029"/>
          <p:cNvSpPr txBox="1"/>
          <p:nvPr/>
        </p:nvSpPr>
        <p:spPr>
          <a:xfrm>
            <a:off x="428625" y="3962400"/>
            <a:ext cx="8715375" cy="18526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通过</a:t>
            </a:r>
            <a:r>
              <a:rPr lang="zh-CN" altLang="en-US" sz="28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上述步骤，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  产生式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，得到如下产生式集合：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A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BD;   A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B;   B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BC;</a:t>
            </a:r>
            <a:endParaRPr lang="en-US" altLang="zh-CN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9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 C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24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08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686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686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6868" name="Rectangle 2"/>
          <p:cNvSpPr/>
          <p:nvPr/>
        </p:nvSpPr>
        <p:spPr>
          <a:xfrm>
            <a:off x="685800" y="4572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消去单产生式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6869" name="Rectangle 7"/>
          <p:cNvSpPr/>
          <p:nvPr/>
        </p:nvSpPr>
        <p:spPr>
          <a:xfrm>
            <a:off x="381000" y="1600200"/>
            <a:ext cx="8153400" cy="1982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单产生式</a:t>
            </a:r>
            <a:r>
              <a:rPr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形如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的产生式，其中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A、B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为非终结符.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</a:t>
            </a:r>
            <a:endParaRPr lang="zh-CN" altLang="en-US" sz="24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Clr>
                <a:srgbClr val="800080"/>
              </a:buClr>
              <a:buChar char="–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消去单产生式的目的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可简化某些证明，减少推导步数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利于文法规范化.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81000" y="3752850"/>
            <a:ext cx="8153400" cy="1857375"/>
            <a:chOff x="528" y="2622"/>
            <a:chExt cx="5136" cy="1170"/>
          </a:xfrm>
        </p:grpSpPr>
        <p:sp>
          <p:nvSpPr>
            <p:cNvPr id="36871" name="Rectangle 9"/>
            <p:cNvSpPr/>
            <p:nvPr/>
          </p:nvSpPr>
          <p:spPr>
            <a:xfrm>
              <a:off x="528" y="2622"/>
              <a:ext cx="5136" cy="11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Clr>
                  <a:srgbClr val="800080"/>
                </a:buClr>
                <a:buFont typeface="Wingdings" panose="05000000000000000000" pitchFamily="2" charset="2"/>
                <a:buChar char="²"/>
              </a:pPr>
              <a:r>
                <a:rPr lang="zh-CN" altLang="en-US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单元偶对（</a:t>
              </a:r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unit pairs</a:t>
              </a:r>
              <a:r>
                <a:rPr lang="en-US" altLang="zh-CN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）</a:t>
              </a:r>
              <a:endParaRPr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lvl="1" eaLnBrk="1" hangingPunct="1">
                <a:buClr>
                  <a:srgbClr val="800080"/>
                </a:buClr>
                <a:buChar char="–"/>
              </a:pPr>
              <a:endParaRPr lang="en-US" altLang="zh-CN" sz="10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 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对于</a:t>
              </a:r>
              <a:r>
                <a:rPr lang="zh-CN" altLang="en-US" sz="24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CFG</a:t>
              </a:r>
              <a:r>
                <a:rPr lang="en-US" altLang="zh-CN" sz="20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G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= (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N,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P</a:t>
              </a:r>
              <a:r>
                <a:rPr lang="en-US" altLang="zh-CN" sz="20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 S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)，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A，B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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N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称 </a:t>
              </a:r>
              <a:r>
                <a:rPr lang="zh-CN" altLang="en-US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A，B)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是</a:t>
              </a:r>
              <a:r>
                <a:rPr lang="zh-CN" altLang="en-US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单元偶</a:t>
              </a:r>
              <a:endPara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   对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，当且仅当 </a:t>
              </a:r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20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0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且该推导过程仅使用过单产生式.</a:t>
              </a: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lvl="1" eaLnBrk="1" hangingPunct="1">
                <a:buClr>
                  <a:srgbClr val="800080"/>
                </a:buClr>
                <a:buChar char="–"/>
              </a:pPr>
              <a:endParaRPr lang="zh-CN" altLang="en-US" sz="10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   消去单产生式时，需要计算所有单元偶对的集合.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6872" name="Rectangle 10"/>
            <p:cNvSpPr/>
            <p:nvPr/>
          </p:nvSpPr>
          <p:spPr>
            <a:xfrm>
              <a:off x="2112" y="315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789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789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7892" name="Rectangle 6"/>
          <p:cNvSpPr/>
          <p:nvPr/>
        </p:nvSpPr>
        <p:spPr>
          <a:xfrm>
            <a:off x="4572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消去单产生式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893" name="Rectangle 7"/>
          <p:cNvSpPr/>
          <p:nvPr/>
        </p:nvSpPr>
        <p:spPr>
          <a:xfrm>
            <a:off x="304800" y="1371600"/>
            <a:ext cx="8229600" cy="482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思路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设</a:t>
            </a:r>
            <a:r>
              <a:rPr lang="zh-CN" altLang="en-US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CFG  G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= (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N,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,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0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, S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)，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对每个单元偶对 </a:t>
            </a:r>
            <a:r>
              <a:rPr lang="zh-CN" altLang="en-US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(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A，B)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在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G</a:t>
            </a:r>
            <a:r>
              <a:rPr lang="en-US" altLang="zh-CN" sz="20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中加入产生式 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其中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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为一个非单产生式；从而消去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中的单产生式，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得到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CFG  G</a:t>
            </a:r>
            <a:r>
              <a:rPr lang="en-US" altLang="zh-CN" sz="20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= (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N</a:t>
            </a:r>
            <a:r>
              <a:rPr lang="en-US" altLang="zh-CN" sz="20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,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, 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0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, S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)：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endParaRPr lang="en-US" altLang="zh-CN" sz="10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算法步骤: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(1) 对每个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A∈N,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构造非终结符集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={B|A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B} 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(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是可由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推出的单生成式中的非终结符集)。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构造方法分三步: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①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={A}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② N’={C |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如果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B→C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}∪N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③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N’≠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=N’,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转向②      (继续迭代)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否则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N’,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转向(2).     (已得到了完整的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894" name="文本框 6"/>
          <p:cNvSpPr txBox="1"/>
          <p:nvPr/>
        </p:nvSpPr>
        <p:spPr>
          <a:xfrm>
            <a:off x="5795963" y="2997200"/>
            <a:ext cx="492125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  <a:sym typeface="Symbol" panose="05050102010706020507" pitchFamily="18" charset="2"/>
              </a:rPr>
              <a:t>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891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891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8916" name="Rectangle 2"/>
          <p:cNvSpPr/>
          <p:nvPr/>
        </p:nvSpPr>
        <p:spPr>
          <a:xfrm>
            <a:off x="4572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消去单产生式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8917" name="Rectangle 3"/>
          <p:cNvSpPr/>
          <p:nvPr/>
        </p:nvSpPr>
        <p:spPr>
          <a:xfrm>
            <a:off x="457200" y="1371600"/>
            <a:ext cx="7848600" cy="4602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endParaRPr lang="en-US" altLang="zh-CN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算法步骤（续）</a:t>
            </a:r>
            <a:r>
              <a:rPr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: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构造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如果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B→α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且不是单生成式, 则对于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B∈N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的所有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A,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把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加入到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(即对每个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B∈N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意味着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B)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的非单生成式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B→α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P,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直接将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连接, 构成新产生式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加入到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中)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(3) 得到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=( 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 T, 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 S)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891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139825"/>
            <a:ext cx="3581400" cy="2566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9" name="文本框 7"/>
          <p:cNvSpPr txBox="1"/>
          <p:nvPr/>
        </p:nvSpPr>
        <p:spPr>
          <a:xfrm>
            <a:off x="3965575" y="4491038"/>
            <a:ext cx="493713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993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993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9940" name="Rectangle 2"/>
          <p:cNvSpPr/>
          <p:nvPr/>
        </p:nvSpPr>
        <p:spPr>
          <a:xfrm>
            <a:off x="6096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消去单产生式 （例）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1" name="Rectangle 3"/>
          <p:cNvSpPr/>
          <p:nvPr/>
        </p:nvSpPr>
        <p:spPr>
          <a:xfrm>
            <a:off x="587375" y="1223963"/>
            <a:ext cx="8229600" cy="562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例: 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2型文法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 = ({S,A,B}, { ( , ) , + , * , a}, P, S)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P:  S→S+A|A    A→A*B|B    B→(S)|a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构造无单生成式的文法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解: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(1) 构造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①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={S}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② N’ = {C | B→C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}∪N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= {A}∪{S} = {A, S}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③ ∵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≠N’  ∴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N’ = {A,S}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	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继续转②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N’={B}∪{A,S}={B,A,S}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∵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≠N’  ∴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N’ ={B,A,S}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	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继续转②  有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N’={B,A,S}=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∴N</a:t>
            </a:r>
            <a:r>
              <a:rPr lang="en-US" altLang="zh-CN" sz="2400" b="1" baseline="-3000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= {B, A, S}       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同理可得:  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={A,B}, N</a:t>
            </a:r>
            <a:r>
              <a:rPr lang="en-US" altLang="zh-CN" sz="2400" b="1" baseline="-3000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={B} </a:t>
            </a:r>
            <a:endParaRPr lang="zh-CN" altLang="en-US" sz="2400" b="1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096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096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/>
          <p:nvPr/>
        </p:nvSpPr>
        <p:spPr>
          <a:xfrm>
            <a:off x="6096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消去单产生式 （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续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0965" name="Rectangle 3"/>
          <p:cNvSpPr/>
          <p:nvPr/>
        </p:nvSpPr>
        <p:spPr>
          <a:xfrm>
            <a:off x="228600" y="1295400"/>
            <a:ext cx="8686800" cy="5407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构造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400" b="1" baseline="-25000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2500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= {S,A,B}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1" baseline="-25000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∵ S→S+A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且不是单生成式, 且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endParaRPr lang="en-US" altLang="zh-CN" sz="2400" b="1" baseline="-25000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于是，将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S→S+A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又∵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A→A*B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P, A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endParaRPr lang="en-US" altLang="zh-CN" sz="2400" b="1" baseline="-25000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∴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S→A*B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( ∵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S→A, A→A*B  ∴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直接用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S→A*B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代替这两条产生式)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又∵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B→(S)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P,  B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∴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S→（S）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又∵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B→a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P,  B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∴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198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198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1988" name="Rectangle 1026"/>
          <p:cNvSpPr/>
          <p:nvPr/>
        </p:nvSpPr>
        <p:spPr>
          <a:xfrm>
            <a:off x="6096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消去单产生式 （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续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89" name="Rectangle 1027"/>
          <p:cNvSpPr/>
          <p:nvPr/>
        </p:nvSpPr>
        <p:spPr>
          <a:xfrm>
            <a:off x="228600" y="1295400"/>
            <a:ext cx="8686800" cy="5407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同理: </a:t>
            </a: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= {A, B}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∵ A→A*B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且非单生成式,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∴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A→A*B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∵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B→(S)|a∈P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且非单生成式,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∴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A→(S)|a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同理: </a:t>
            </a: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baseline="-3000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={B}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B→(S)|a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结果: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S→S+A|A*B|(S)|a           A→A*B|(S)|a              B→(S)|a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301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301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3012" name="Rectangle 2"/>
          <p:cNvSpPr/>
          <p:nvPr/>
        </p:nvSpPr>
        <p:spPr>
          <a:xfrm>
            <a:off x="1116013" y="333375"/>
            <a:ext cx="6062662" cy="7334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4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课堂练习</a:t>
            </a:r>
            <a:endParaRPr lang="zh-CN" altLang="en-US" sz="40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13" name="Rectangle 3"/>
          <p:cNvSpPr/>
          <p:nvPr/>
        </p:nvSpPr>
        <p:spPr>
          <a:xfrm>
            <a:off x="450850" y="1268413"/>
            <a:ext cx="8153400" cy="1273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对下面文法消去单生成式</a:t>
            </a: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：</a:t>
            </a:r>
            <a:endParaRPr lang="zh-CN" altLang="en-US" sz="36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S→A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A→B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bS | 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B→ AB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5300" y="2662238"/>
            <a:ext cx="8153400" cy="935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buClr>
                <a:srgbClr val="800080"/>
              </a:buClr>
            </a:pPr>
            <a:r>
              <a:rPr lang="zh-CN" altLang="en-US" sz="2400" b="1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(1) 构造</a:t>
            </a:r>
            <a:r>
              <a:rPr lang="en-US" altLang="zh-CN" sz="2400" b="1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 </a:t>
            </a:r>
            <a:r>
              <a:rPr lang="en-US" altLang="zh-CN" sz="2400" b="1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en-US" altLang="zh-CN" sz="2400" b="1" baseline="-300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en-US" altLang="zh-CN" sz="2400" b="1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en-US" altLang="zh-CN" sz="2400" b="1" baseline="-300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en-US" altLang="zh-CN" sz="2400" b="1" baseline="-300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endParaRPr lang="en-US" altLang="zh-CN" sz="2400" b="1">
              <a:solidFill>
                <a:srgbClr val="3333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2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660066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aseline="-30000">
                <a:solidFill>
                  <a:srgbClr val="660066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>
                <a:solidFill>
                  <a:srgbClr val="660066"/>
                </a:solidFill>
                <a:latin typeface="Arial" panose="020B0604020202020204" pitchFamily="34" charset="0"/>
              </a:rPr>
              <a:t>= {S, A,B}  </a:t>
            </a:r>
            <a:r>
              <a:rPr lang="zh-CN" altLang="en-US" sz="2400">
                <a:solidFill>
                  <a:srgbClr val="660066"/>
                </a:solidFill>
                <a:latin typeface="Arial" panose="020B0604020202020204" pitchFamily="34" charset="0"/>
              </a:rPr>
              <a:t>； </a:t>
            </a:r>
            <a:r>
              <a:rPr lang="en-US" altLang="zh-CN" sz="2400">
                <a:solidFill>
                  <a:srgbClr val="660066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aseline="-30000">
                <a:solidFill>
                  <a:srgbClr val="660066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>
                <a:solidFill>
                  <a:srgbClr val="660066"/>
                </a:solidFill>
                <a:latin typeface="Arial" panose="020B0604020202020204" pitchFamily="34" charset="0"/>
              </a:rPr>
              <a:t>={A,B},  N</a:t>
            </a:r>
            <a:r>
              <a:rPr lang="en-US" altLang="zh-CN" sz="2400" baseline="-30000">
                <a:solidFill>
                  <a:srgbClr val="660066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>
                <a:solidFill>
                  <a:srgbClr val="660066"/>
                </a:solidFill>
                <a:latin typeface="Arial" panose="020B0604020202020204" pitchFamily="34" charset="0"/>
              </a:rPr>
              <a:t>={B}</a:t>
            </a:r>
            <a:endParaRPr lang="en-US" altLang="zh-CN" sz="2400" b="1" i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0850" y="3849688"/>
            <a:ext cx="7542213" cy="1198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(2)</a:t>
            </a:r>
            <a:r>
              <a:rPr lang="en-US" altLang="zh-CN" sz="24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</a:t>
            </a:r>
            <a:r>
              <a:rPr lang="en-US" altLang="zh-CN" sz="2400" baseline="-300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>
                <a:solidFill>
                  <a:srgbClr val="33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endParaRPr lang="zh-CN" altLang="en-US" sz="2400">
              <a:solidFill>
                <a:srgbClr val="3333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rPr>
              <a:t>S→bS | b | AB | a      A→bS | b | AB | a     B→ AB | a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403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403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4036" name="Rectangle 2"/>
          <p:cNvSpPr/>
          <p:nvPr/>
        </p:nvSpPr>
        <p:spPr>
          <a:xfrm>
            <a:off x="609600" y="5334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en-US" altLang="zh-CN" sz="32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CFG</a:t>
            </a:r>
            <a:r>
              <a:rPr lang="en-US" altLang="zh-CN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的简化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37" name="Rectangle 7"/>
          <p:cNvSpPr/>
          <p:nvPr/>
        </p:nvSpPr>
        <p:spPr>
          <a:xfrm>
            <a:off x="685800" y="1646238"/>
            <a:ext cx="8229600" cy="2527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小结</a:t>
            </a:r>
            <a:endParaRPr lang="zh-CN" altLang="en-US" sz="24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设</a:t>
            </a:r>
            <a:r>
              <a:rPr lang="zh-CN" altLang="en-US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V,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0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S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可以通过下列步骤对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进行简化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：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endParaRPr lang="zh-CN" altLang="en-US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中的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产生式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；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中的单产生式；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endParaRPr lang="zh-CN" altLang="en-US" sz="1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中的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无用符号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37288" name="Rectangle 8"/>
          <p:cNvSpPr/>
          <p:nvPr/>
        </p:nvSpPr>
        <p:spPr>
          <a:xfrm>
            <a:off x="717550" y="5087938"/>
            <a:ext cx="7924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结论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设</a:t>
            </a:r>
            <a:r>
              <a:rPr lang="zh-CN" altLang="en-US" sz="24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000" b="1" i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的语言至少包含一个非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的字符串，通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Clr>
                <a:srgbClr val="800080"/>
              </a:buClr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过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上述步骤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0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则有</a:t>
            </a:r>
            <a:r>
              <a:rPr lang="zh-CN" altLang="en-US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L(G</a:t>
            </a:r>
            <a:r>
              <a:rPr lang="en-US" altLang="zh-CN" sz="20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)= L(G) - {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37289" name="Rectangle 9"/>
          <p:cNvSpPr/>
          <p:nvPr/>
        </p:nvSpPr>
        <p:spPr>
          <a:xfrm>
            <a:off x="685800" y="4402138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注意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以上简化步骤的次序.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3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3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88" grpId="0"/>
      <p:bldP spid="73728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505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505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5060" name="Rectangle 2"/>
          <p:cNvSpPr/>
          <p:nvPr/>
        </p:nvSpPr>
        <p:spPr>
          <a:xfrm>
            <a:off x="1116013" y="333375"/>
            <a:ext cx="6062662" cy="7334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4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课堂练习</a:t>
            </a:r>
            <a:endParaRPr lang="zh-CN" altLang="en-US" sz="40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5061" name="Rectangle 3"/>
          <p:cNvSpPr/>
          <p:nvPr/>
        </p:nvSpPr>
        <p:spPr>
          <a:xfrm>
            <a:off x="423863" y="1028700"/>
            <a:ext cx="8720137" cy="1790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32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把下列文法变换为无</a:t>
            </a:r>
            <a:r>
              <a:rPr lang="zh-CN" altLang="en-US" sz="3200" b="1">
                <a:solidFill>
                  <a:srgbClr val="660066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sz="32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生成式</a:t>
            </a:r>
            <a:r>
              <a:rPr lang="zh-CN" altLang="en-US" sz="3200" b="1">
                <a:solidFill>
                  <a:srgbClr val="660066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、</a:t>
            </a:r>
            <a:r>
              <a:rPr lang="zh-CN" altLang="en-US" sz="32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无单生成式和没有无用符号的等价文法：</a:t>
            </a:r>
            <a:endParaRPr lang="zh-CN" altLang="en-US" sz="32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S→A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A→B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bS |a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B→ AB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0713" y="2559050"/>
            <a:ext cx="8047037" cy="1273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(1)</a:t>
            </a:r>
            <a:r>
              <a:rPr lang="zh-CN" altLang="en-US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</a:t>
            </a:r>
            <a:r>
              <a:rPr lang="zh-CN" altLang="en-US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Euclid Symbol" pitchFamily="18" charset="2"/>
              </a:rPr>
              <a:t>生成式</a:t>
            </a:r>
            <a:endParaRPr lang="zh-CN" altLang="en-US" sz="2400">
              <a:solidFill>
                <a:srgbClr val="3333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baseline="-30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→ε∣S  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S→A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A→B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B→ AB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</a:t>
            </a:r>
            <a:r>
              <a:rPr lang="en-US" altLang="zh-CN" sz="240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sz="240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9913" y="5008563"/>
            <a:ext cx="8718550" cy="178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(3)</a:t>
            </a:r>
            <a:r>
              <a:rPr lang="zh-CN" altLang="en-US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没有无用符号</a:t>
            </a:r>
            <a:endParaRPr lang="zh-CN" altLang="en-US" sz="2400">
              <a:solidFill>
                <a:srgbClr val="3333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baseline="-30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→ε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 |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 | AB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S→ 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 | AB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A→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|AB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B→ AB| 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endParaRPr lang="en-US" altLang="zh-CN" sz="240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9913" y="3484563"/>
            <a:ext cx="8521700" cy="178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(2)</a:t>
            </a:r>
            <a:r>
              <a:rPr lang="zh-CN" altLang="en-US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无单</a:t>
            </a:r>
            <a:r>
              <a:rPr lang="zh-CN" altLang="en-US"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Euclid Symbol" pitchFamily="18" charset="2"/>
              </a:rPr>
              <a:t>生成式</a:t>
            </a:r>
            <a:endParaRPr lang="zh-CN" altLang="en-US" sz="2400">
              <a:solidFill>
                <a:srgbClr val="3333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baseline="-30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→ε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 |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 | AB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60000"/>
              </a:lnSpc>
              <a:buClr>
                <a:srgbClr val="800080"/>
              </a:buClr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S→ 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 | AB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A→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bS | 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 a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|AB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B→ AB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| bS | b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| a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608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608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6084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消除递归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46085" name="Rectangle 3"/>
          <p:cNvSpPr/>
          <p:nvPr/>
        </p:nvSpPr>
        <p:spPr>
          <a:xfrm>
            <a:off x="228600" y="1447800"/>
            <a:ext cx="8153400" cy="3659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递归的定义: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在2型文法中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若存在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αAβ, A∈N，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则称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是递归文法。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若存在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400" b="1" baseline="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Aβ    G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是左递归文法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若存在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αA    G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是右递归文法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若存在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400" b="1" baseline="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     G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是循环文法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086" name="文本框 6"/>
          <p:cNvSpPr txBox="1"/>
          <p:nvPr/>
        </p:nvSpPr>
        <p:spPr>
          <a:xfrm>
            <a:off x="1835150" y="2781300"/>
            <a:ext cx="493713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  <p:sp>
        <p:nvSpPr>
          <p:cNvPr id="46087" name="文本框 7"/>
          <p:cNvSpPr txBox="1"/>
          <p:nvPr/>
        </p:nvSpPr>
        <p:spPr>
          <a:xfrm>
            <a:off x="1862138" y="3341688"/>
            <a:ext cx="492125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  <p:sp>
        <p:nvSpPr>
          <p:cNvPr id="46088" name="文本框 8"/>
          <p:cNvSpPr txBox="1"/>
          <p:nvPr/>
        </p:nvSpPr>
        <p:spPr>
          <a:xfrm>
            <a:off x="1866900" y="3925888"/>
            <a:ext cx="492125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  <p:sp>
        <p:nvSpPr>
          <p:cNvPr id="46089" name="文本框 9"/>
          <p:cNvSpPr txBox="1"/>
          <p:nvPr/>
        </p:nvSpPr>
        <p:spPr>
          <a:xfrm>
            <a:off x="1835150" y="4518025"/>
            <a:ext cx="493713" cy="215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r>
              <a:rPr lang="en-US" altLang="zh-CN" sz="2000">
                <a:solidFill>
                  <a:schemeClr val="tx2"/>
                </a:solidFill>
                <a:latin typeface="Arial Unicode MS" panose="020B0604020202020204" charset="-122"/>
              </a:rPr>
              <a:t>+</a:t>
            </a:r>
            <a:endParaRPr lang="zh-CN" altLang="en-US" sz="2000">
              <a:solidFill>
                <a:schemeClr val="tx2"/>
              </a:solidFill>
              <a:latin typeface="Arial Unicode MS" panose="020B0604020202020204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710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710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7108" name="Rectangle 6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生成式的代换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47109" name="Rectangle 7"/>
          <p:cNvSpPr/>
          <p:nvPr/>
        </p:nvSpPr>
        <p:spPr>
          <a:xfrm>
            <a:off x="228600" y="1447800"/>
            <a:ext cx="8534400" cy="4743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定义: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2型文法中所有形如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的生成式称为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生成式.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引理1: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对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生成式可进行变换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 = (N,T,P,S)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A→αBβ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中的生成式,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B∈N,α,β∈(N∪T)*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B→r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 r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|…| r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生成式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可生成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(N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,T, 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,S)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中的生成式是将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A→αBβ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A→αr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β|…|αr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取代.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endParaRPr lang="zh-CN" altLang="en-US" sz="24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证明思路: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中生成式产生的语言相等,证明从略。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813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813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8132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生成式的代换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48133" name="Group 13"/>
          <p:cNvGrpSpPr/>
          <p:nvPr/>
        </p:nvGrpSpPr>
        <p:grpSpPr>
          <a:xfrm>
            <a:off x="228600" y="1143000"/>
            <a:ext cx="8534400" cy="5780088"/>
            <a:chOff x="144" y="720"/>
            <a:chExt cx="5376" cy="3641"/>
          </a:xfrm>
        </p:grpSpPr>
        <p:sp>
          <p:nvSpPr>
            <p:cNvPr id="48134" name="Rectangle 3"/>
            <p:cNvSpPr/>
            <p:nvPr/>
          </p:nvSpPr>
          <p:spPr>
            <a:xfrm>
              <a:off x="144" y="720"/>
              <a:ext cx="5376" cy="36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800080"/>
                  </a:solidFill>
                  <a:latin typeface="Arial" panose="020B0604020202020204" pitchFamily="34" charset="0"/>
                  <a:ea typeface="楷体_GB2312" pitchFamily="49" charset="-122"/>
                </a:rPr>
                <a:t>例:</a:t>
              </a: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 设文法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G</a:t>
              </a: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S→a S S |b</a:t>
              </a:r>
              <a:endParaRPr lang="en-US" altLang="zh-CN" sz="2400" b="1">
                <a:solidFill>
                  <a:srgbClr val="333399"/>
                </a:solidFill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      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             α   B   β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应用引理1,设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α=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a   B=S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,  β=S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        B→</a:t>
              </a:r>
              <a:r>
                <a:rPr lang="en-US" altLang="zh-CN" sz="2400" b="1" u="sng">
                  <a:solidFill>
                    <a:srgbClr val="333399"/>
                  </a:solidFill>
                  <a:latin typeface="宋体" panose="02010600030101010101" pitchFamily="2" charset="-122"/>
                </a:rPr>
                <a:t>a S S 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| </a:t>
              </a:r>
              <a:r>
                <a:rPr lang="en-US" altLang="zh-CN" sz="2400" b="1" u="sng">
                  <a:solidFill>
                    <a:srgbClr val="333399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 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b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</a:b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   </a:t>
              </a: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即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S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        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替换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S→aSS|b</a:t>
              </a: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的产生式为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: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S→a </a:t>
              </a:r>
              <a:r>
                <a:rPr lang="en-US" altLang="zh-CN" sz="2400" b="1" u="sng">
                  <a:solidFill>
                    <a:srgbClr val="333399"/>
                  </a:solidFill>
                  <a:latin typeface="宋体" panose="02010600030101010101" pitchFamily="2" charset="-122"/>
                </a:rPr>
                <a:t>aSS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 S|a</a:t>
              </a:r>
              <a:r>
                <a:rPr lang="en-US" altLang="zh-CN" sz="2400" b="1" u="sng">
                  <a:solidFill>
                    <a:srgbClr val="333399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2400" b="1">
                  <a:solidFill>
                    <a:srgbClr val="333399"/>
                  </a:solidFill>
                  <a:latin typeface="宋体" panose="02010600030101010101" pitchFamily="2" charset="-122"/>
                </a:rPr>
                <a:t>S | b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 </a:t>
              </a:r>
              <a:endParaRPr lang="en-US" altLang="zh-CN" sz="2400" b="1">
                <a:solidFill>
                  <a:srgbClr val="333399"/>
                </a:solidFill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b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</a:b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          r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           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8135" name="Line 4"/>
            <p:cNvSpPr/>
            <p:nvPr/>
          </p:nvSpPr>
          <p:spPr>
            <a:xfrm flipH="1">
              <a:off x="1584" y="1124"/>
              <a:ext cx="192" cy="30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6" name="Line 5"/>
            <p:cNvSpPr/>
            <p:nvPr/>
          </p:nvSpPr>
          <p:spPr>
            <a:xfrm>
              <a:off x="1968" y="1124"/>
              <a:ext cx="0" cy="3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7" name="Line 6"/>
            <p:cNvSpPr/>
            <p:nvPr/>
          </p:nvSpPr>
          <p:spPr>
            <a:xfrm>
              <a:off x="2208" y="1124"/>
              <a:ext cx="192" cy="30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8" name="Line 7"/>
            <p:cNvSpPr/>
            <p:nvPr/>
          </p:nvSpPr>
          <p:spPr>
            <a:xfrm flipH="1">
              <a:off x="720" y="2352"/>
              <a:ext cx="288" cy="3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9" name="Line 8"/>
            <p:cNvSpPr/>
            <p:nvPr/>
          </p:nvSpPr>
          <p:spPr>
            <a:xfrm>
              <a:off x="1488" y="2352"/>
              <a:ext cx="0" cy="40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0" name="Line 9"/>
            <p:cNvSpPr/>
            <p:nvPr/>
          </p:nvSpPr>
          <p:spPr>
            <a:xfrm>
              <a:off x="2112" y="2352"/>
              <a:ext cx="0" cy="40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1" name="Line 11"/>
            <p:cNvSpPr/>
            <p:nvPr/>
          </p:nvSpPr>
          <p:spPr>
            <a:xfrm flipH="1">
              <a:off x="1104" y="3648"/>
              <a:ext cx="96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2" name="Line 12"/>
            <p:cNvSpPr/>
            <p:nvPr/>
          </p:nvSpPr>
          <p:spPr>
            <a:xfrm>
              <a:off x="1776" y="3648"/>
              <a:ext cx="48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915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915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9156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生成式的代换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49157" name="Rectangle 4"/>
          <p:cNvSpPr/>
          <p:nvPr/>
        </p:nvSpPr>
        <p:spPr>
          <a:xfrm>
            <a:off x="228600" y="1371600"/>
            <a:ext cx="8534400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其句子</a:t>
            </a:r>
            <a:r>
              <a:rPr lang="en-US" altLang="zh-CN" sz="2400" b="1">
                <a:solidFill>
                  <a:srgbClr val="333399"/>
                </a:solidFill>
                <a:latin typeface="宋体" panose="02010600030101010101" pitchFamily="2" charset="-122"/>
              </a:rPr>
              <a:t>aabbb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的推导树为 </a:t>
            </a:r>
            <a:r>
              <a:rPr lang="en-US" altLang="zh-CN" sz="2400" b="1">
                <a:solidFill>
                  <a:srgbClr val="333399"/>
                </a:solidFill>
                <a:latin typeface="宋体" panose="02010600030101010101" pitchFamily="2" charset="-122"/>
              </a:rPr>
              <a:t>   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宋体" panose="02010600030101010101" pitchFamily="2" charset="-122"/>
              </a:rPr>
              <a:t>           </a:t>
            </a:r>
            <a:endParaRPr lang="zh-CN" altLang="en-US" sz="2400" b="1" baseline="-3000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9158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413000"/>
            <a:ext cx="6457950" cy="261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9" name="Text Box 14"/>
          <p:cNvSpPr txBox="1"/>
          <p:nvPr/>
        </p:nvSpPr>
        <p:spPr>
          <a:xfrm>
            <a:off x="457200" y="5334000"/>
            <a:ext cx="5710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即将子树根</a:t>
            </a:r>
            <a:r>
              <a:rPr lang="en-US" altLang="zh-CN" sz="2400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zh-CN" altLang="en-US" sz="2400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用下一层的直接后代代替了.</a:t>
            </a:r>
            <a:r>
              <a:rPr lang="zh-CN" altLang="en-US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017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017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0180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消除直接左递归 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50181" name="Rectangle 3"/>
          <p:cNvSpPr/>
          <p:nvPr/>
        </p:nvSpPr>
        <p:spPr>
          <a:xfrm>
            <a:off x="228600" y="1219200"/>
            <a:ext cx="8534400" cy="5259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引理2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: 消除直接左递归 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 = (N, T, P, S), 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中有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生成式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A→Aα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 Aα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 … | Aα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 … 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的第一个字符不是非终结符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 (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可以是其它非终结符)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可构成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= (N∪{A’}, T, 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, S),    A’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为新引入的非终结符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为，将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中的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生成式用以下生成式取代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A→β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|…|β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A’|β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A’|…|β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A’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A’→α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|…|α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|α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A’|α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A’|…|α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A’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证明思路: </a:t>
            </a:r>
            <a:endParaRPr lang="zh-CN" altLang="en-US" sz="2400" b="1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二者的正则式都是(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+β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+…+β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)(α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+…+α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rPr>
              <a:t>)* </a:t>
            </a:r>
            <a:endParaRPr lang="en-US" altLang="zh-CN" sz="2400" b="1">
              <a:solidFill>
                <a:srgbClr val="33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120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120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1204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消除直接左递归 （例）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51205" name="Group 8"/>
          <p:cNvGrpSpPr/>
          <p:nvPr/>
        </p:nvGrpSpPr>
        <p:grpSpPr>
          <a:xfrm>
            <a:off x="228600" y="1219200"/>
            <a:ext cx="8534400" cy="5259388"/>
            <a:chOff x="144" y="768"/>
            <a:chExt cx="5376" cy="3313"/>
          </a:xfrm>
        </p:grpSpPr>
        <p:sp>
          <p:nvSpPr>
            <p:cNvPr id="51206" name="Rectangle 3"/>
            <p:cNvSpPr/>
            <p:nvPr/>
          </p:nvSpPr>
          <p:spPr>
            <a:xfrm>
              <a:off x="144" y="768"/>
              <a:ext cx="5376" cy="3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例: (书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P106 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例4)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S→S </a:t>
              </a:r>
              <a:r>
                <a:rPr lang="en-US" altLang="zh-CN" sz="2400" b="1" u="sng">
                  <a:solidFill>
                    <a:srgbClr val="333399"/>
                  </a:solidFill>
                  <a:latin typeface="Times New Roman" panose="02020603050405020304" pitchFamily="18" charset="0"/>
                </a:rPr>
                <a:t>+A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| </a:t>
              </a:r>
              <a:r>
                <a:rPr lang="en-US" altLang="zh-CN" sz="2400" b="1" u="sng">
                  <a:solidFill>
                    <a:srgbClr val="333399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,  A→A</a:t>
              </a:r>
              <a:r>
                <a:rPr lang="en-US" altLang="zh-CN" sz="2400" b="1" u="sng">
                  <a:solidFill>
                    <a:srgbClr val="333399"/>
                  </a:solidFill>
                  <a:latin typeface="Times New Roman" panose="02020603050405020304" pitchFamily="18" charset="0"/>
                </a:rPr>
                <a:t>*B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| </a:t>
              </a:r>
              <a:r>
                <a:rPr lang="en-US" altLang="zh-CN" sz="2400" b="1" u="sng">
                  <a:solidFill>
                    <a:srgbClr val="333399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,   B→(S) | a 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b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楷体_GB2312" pitchFamily="49" charset="-122"/>
                </a:rPr>
              </a:b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  α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β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 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α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 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β</a:t>
              </a:r>
              <a:r>
                <a:rPr lang="en-US" altLang="zh-CN" sz="2400" b="1" baseline="-30000">
                  <a:solidFill>
                    <a:srgbClr val="333399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可变换为 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S→A | AS’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S’→+A | +A S’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        A→B | BA’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A’→*B | *B A’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40000"/>
                </a:lnSpc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B →(S)| a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207" name="Line 4"/>
            <p:cNvSpPr/>
            <p:nvPr/>
          </p:nvSpPr>
          <p:spPr>
            <a:xfrm flipH="1">
              <a:off x="768" y="1440"/>
              <a:ext cx="48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08" name="Line 5"/>
            <p:cNvSpPr/>
            <p:nvPr/>
          </p:nvSpPr>
          <p:spPr>
            <a:xfrm>
              <a:off x="1152" y="1488"/>
              <a:ext cx="96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09" name="Line 6"/>
            <p:cNvSpPr/>
            <p:nvPr/>
          </p:nvSpPr>
          <p:spPr>
            <a:xfrm flipH="1">
              <a:off x="1824" y="1488"/>
              <a:ext cx="144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0" name="Line 7"/>
            <p:cNvSpPr/>
            <p:nvPr/>
          </p:nvSpPr>
          <p:spPr>
            <a:xfrm>
              <a:off x="2256" y="1488"/>
              <a:ext cx="48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222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222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2228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消除直接左递归对推导树的影响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52229" name="Rectangle 11"/>
          <p:cNvSpPr/>
          <p:nvPr/>
        </p:nvSpPr>
        <p:spPr>
          <a:xfrm>
            <a:off x="1657350" y="16383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52230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71600"/>
            <a:ext cx="8001000" cy="4929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31" name="Text Box 13"/>
          <p:cNvSpPr txBox="1"/>
          <p:nvPr/>
        </p:nvSpPr>
        <p:spPr>
          <a:xfrm>
            <a:off x="20638" y="1374775"/>
            <a:ext cx="16049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>
                <a:solidFill>
                  <a:srgbClr val="003399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>
                <a:solidFill>
                  <a:srgbClr val="003399"/>
                </a:solidFill>
                <a:latin typeface="宋体" panose="02010600030101010101" pitchFamily="2" charset="-122"/>
              </a:rPr>
              <a:t>中局部</a:t>
            </a:r>
            <a:r>
              <a:rPr lang="zh-CN" altLang="en-US">
                <a:latin typeface="Times New Roman" panose="02020603050405020304" pitchFamily="18" charset="0"/>
              </a:rPr>
              <a:t> ：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325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325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3252" name="Rectangle 2"/>
          <p:cNvSpPr/>
          <p:nvPr/>
        </p:nvSpPr>
        <p:spPr>
          <a:xfrm>
            <a:off x="609600" y="6096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消除左递归的算法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53253" name="Rectangle 3"/>
          <p:cNvSpPr/>
          <p:nvPr/>
        </p:nvSpPr>
        <p:spPr>
          <a:xfrm>
            <a:off x="228600" y="1447800"/>
            <a:ext cx="8153400" cy="4608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Why </a:t>
            </a: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消左递归?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210000"/>
              </a:lnSpc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 以后的句法分析算法不适用于左递归,会引起死循环。</a:t>
            </a:r>
            <a:endParaRPr lang="zh-CN" altLang="en-US" sz="2400" b="1">
              <a:solidFill>
                <a:srgbClr val="3333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210000"/>
              </a:lnSpc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 对于给定的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型文法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该文法不存在无用符号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无循环且是无</a:t>
            </a:r>
            <a:r>
              <a:rPr lang="en-US" altLang="zh-CN" sz="2400" b="1">
                <a:solidFill>
                  <a:srgbClr val="333399"/>
                </a:solidFill>
                <a:latin typeface="宋体" panose="02010600030101010101" pitchFamily="2" charset="-122"/>
              </a:rPr>
              <a:t>ε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生成式的文法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为了消除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中可能存在的左递归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构成一个等效的无左递归的文法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可用算法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。</a:t>
            </a:r>
            <a:endParaRPr lang="zh-CN" altLang="en-US" sz="2400" b="1">
              <a:solidFill>
                <a:srgbClr val="3333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210000"/>
              </a:lnSpc>
              <a:buFont typeface="Wingdings" panose="05000000000000000000" pitchFamily="2" charset="2"/>
              <a:buChar char="²"/>
            </a:pPr>
            <a:r>
              <a:rPr lang="zh-CN" altLang="en-US" sz="2400" b="1" i="1">
                <a:solidFill>
                  <a:srgbClr val="333399"/>
                </a:solidFill>
                <a:latin typeface="宋体" panose="02010600030101010101" pitchFamily="2" charset="-122"/>
              </a:rPr>
              <a:t> 算法</a:t>
            </a:r>
            <a:r>
              <a:rPr lang="zh-CN" altLang="en-US" sz="2400" b="1" i="1">
                <a:solidFill>
                  <a:srgbClr val="333399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b="1" i="1">
                <a:solidFill>
                  <a:srgbClr val="333399"/>
                </a:solidFill>
                <a:latin typeface="宋体" panose="02010600030101010101" pitchFamily="2" charset="-122"/>
              </a:rPr>
              <a:t>在原理上与求解正规表达式方程组的算法类似</a:t>
            </a:r>
            <a:r>
              <a:rPr lang="zh-CN" altLang="en-US" sz="2400" b="1" i="1">
                <a:solidFill>
                  <a:srgbClr val="333399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4274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4275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4276" name="Rectangle 3"/>
          <p:cNvSpPr/>
          <p:nvPr/>
        </p:nvSpPr>
        <p:spPr>
          <a:xfrm>
            <a:off x="228600" y="228600"/>
            <a:ext cx="8534400" cy="61547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排列非终结符</a:t>
            </a:r>
            <a:r>
              <a:rPr lang="zh-CN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N = {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,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, …,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m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}</a:t>
            </a:r>
            <a:endParaRPr lang="en-US" altLang="zh-CN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  <a:t> </a:t>
            </a:r>
            <a:b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</a:b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          		   i  := 1</a:t>
            </a:r>
            <a:endParaRPr lang="en-US" altLang="zh-CN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  <a:t> </a:t>
            </a:r>
            <a:endParaRPr lang="en-US" altLang="zh-CN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α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α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p   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变换为</a:t>
            </a:r>
            <a:r>
              <a:rPr lang="zh-CN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endParaRPr lang="zh-CN" altLang="en-US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→β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→α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|α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|α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|α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’</a:t>
            </a:r>
            <a:endParaRPr lang="en-US" altLang="zh-CN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                          </a:t>
            </a:r>
            <a:endParaRPr lang="en-US" altLang="zh-CN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                i=m？       </a:t>
            </a:r>
            <a:r>
              <a:rPr lang="en-US" altLang="zh-CN" sz="2800" b="1" baseline="30000">
                <a:solidFill>
                  <a:srgbClr val="333399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结束</a:t>
            </a:r>
            <a:endParaRPr lang="zh-CN" altLang="en-US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333399"/>
                </a:solidFill>
                <a:latin typeface="Times New Roman" panose="02020603050405020304" pitchFamily="18" charset="0"/>
              </a:rPr>
              <a:t> </a:t>
            </a:r>
            <a:endParaRPr lang="zh-CN" altLang="en-US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              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i：=i+1，j：=1</a:t>
            </a:r>
            <a:endParaRPr lang="en-US" altLang="zh-CN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b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</a:b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对每个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α，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→β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用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→β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α|β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α|</a:t>
            </a:r>
            <a:r>
              <a:rPr lang="en-US" altLang="zh-CN" sz="2000" b="1">
                <a:solidFill>
                  <a:srgbClr val="3333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|β</a:t>
            </a:r>
            <a:r>
              <a:rPr lang="en-US" altLang="zh-CN" sz="2000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α</a:t>
            </a: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代替   </a:t>
            </a:r>
            <a:endParaRPr lang="zh-CN" altLang="en-US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                         </a:t>
            </a:r>
            <a:endParaRPr lang="zh-CN" altLang="en-US" sz="2000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333399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2000" b="1">
                <a:solidFill>
                  <a:srgbClr val="333399"/>
                </a:solidFill>
                <a:latin typeface="宋体" panose="02010600030101010101" pitchFamily="2" charset="-122"/>
              </a:rPr>
              <a:t>Y         j=i-1？    N     j：=j+1</a:t>
            </a:r>
            <a:endParaRPr lang="zh-CN" altLang="en-US" sz="20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4277" name="Rectangle 2"/>
          <p:cNvSpPr/>
          <p:nvPr/>
        </p:nvSpPr>
        <p:spPr>
          <a:xfrm>
            <a:off x="5334000" y="228600"/>
            <a:ext cx="38100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算法5: </a:t>
            </a:r>
            <a:endParaRPr lang="zh-CN" altLang="en-US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消除全部左递归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54278" name="Group 7"/>
          <p:cNvGrpSpPr/>
          <p:nvPr/>
        </p:nvGrpSpPr>
        <p:grpSpPr>
          <a:xfrm>
            <a:off x="2133600" y="228600"/>
            <a:ext cx="533400" cy="381000"/>
            <a:chOff x="672" y="0"/>
            <a:chExt cx="336" cy="192"/>
          </a:xfrm>
        </p:grpSpPr>
        <p:sp>
          <p:nvSpPr>
            <p:cNvPr id="54295" name="Line 4"/>
            <p:cNvSpPr/>
            <p:nvPr/>
          </p:nvSpPr>
          <p:spPr>
            <a:xfrm>
              <a:off x="672" y="0"/>
              <a:ext cx="336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6" name="Line 5"/>
            <p:cNvSpPr/>
            <p:nvPr/>
          </p:nvSpPr>
          <p:spPr>
            <a:xfrm>
              <a:off x="1008" y="0"/>
              <a:ext cx="0" cy="192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4279" name="Line 8"/>
          <p:cNvSpPr/>
          <p:nvPr/>
        </p:nvSpPr>
        <p:spPr>
          <a:xfrm>
            <a:off x="2667000" y="838200"/>
            <a:ext cx="0" cy="38100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0" name="Line 9"/>
          <p:cNvSpPr/>
          <p:nvPr/>
        </p:nvSpPr>
        <p:spPr>
          <a:xfrm>
            <a:off x="2743200" y="1676400"/>
            <a:ext cx="0" cy="38100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1" name="Line 10"/>
          <p:cNvSpPr/>
          <p:nvPr/>
        </p:nvSpPr>
        <p:spPr>
          <a:xfrm>
            <a:off x="2819400" y="3048000"/>
            <a:ext cx="0" cy="38100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2" name="Line 11"/>
          <p:cNvSpPr/>
          <p:nvPr/>
        </p:nvSpPr>
        <p:spPr>
          <a:xfrm>
            <a:off x="3276600" y="3657600"/>
            <a:ext cx="1219200" cy="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3" name="Line 12"/>
          <p:cNvSpPr/>
          <p:nvPr/>
        </p:nvSpPr>
        <p:spPr>
          <a:xfrm>
            <a:off x="2819400" y="3810000"/>
            <a:ext cx="0" cy="38100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4" name="Line 13"/>
          <p:cNvSpPr/>
          <p:nvPr/>
        </p:nvSpPr>
        <p:spPr>
          <a:xfrm>
            <a:off x="2819400" y="4648200"/>
            <a:ext cx="0" cy="38100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5" name="Line 14"/>
          <p:cNvSpPr/>
          <p:nvPr/>
        </p:nvSpPr>
        <p:spPr>
          <a:xfrm>
            <a:off x="2819400" y="5486400"/>
            <a:ext cx="0" cy="381000"/>
          </a:xfrm>
          <a:prstGeom prst="line">
            <a:avLst/>
          </a:prstGeom>
          <a:ln w="28575" cap="flat" cmpd="sng">
            <a:solidFill>
              <a:srgbClr val="660066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4286" name="Group 22"/>
          <p:cNvGrpSpPr/>
          <p:nvPr/>
        </p:nvGrpSpPr>
        <p:grpSpPr>
          <a:xfrm>
            <a:off x="228600" y="1905000"/>
            <a:ext cx="1981200" cy="4343400"/>
            <a:chOff x="144" y="1200"/>
            <a:chExt cx="1392" cy="2736"/>
          </a:xfrm>
        </p:grpSpPr>
        <p:sp>
          <p:nvSpPr>
            <p:cNvPr id="54292" name="Line 17"/>
            <p:cNvSpPr/>
            <p:nvPr/>
          </p:nvSpPr>
          <p:spPr>
            <a:xfrm flipH="1">
              <a:off x="144" y="3936"/>
              <a:ext cx="1344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3" name="Line 20"/>
            <p:cNvSpPr/>
            <p:nvPr/>
          </p:nvSpPr>
          <p:spPr>
            <a:xfrm flipV="1">
              <a:off x="144" y="1200"/>
              <a:ext cx="0" cy="2736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4" name="Line 21"/>
            <p:cNvSpPr/>
            <p:nvPr/>
          </p:nvSpPr>
          <p:spPr>
            <a:xfrm>
              <a:off x="144" y="1200"/>
              <a:ext cx="1392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4287" name="Group 27"/>
          <p:cNvGrpSpPr/>
          <p:nvPr/>
        </p:nvGrpSpPr>
        <p:grpSpPr>
          <a:xfrm>
            <a:off x="3276600" y="4876800"/>
            <a:ext cx="5486400" cy="1371600"/>
            <a:chOff x="2064" y="3072"/>
            <a:chExt cx="3456" cy="864"/>
          </a:xfrm>
        </p:grpSpPr>
        <p:sp>
          <p:nvSpPr>
            <p:cNvPr id="54288" name="Line 15"/>
            <p:cNvSpPr/>
            <p:nvPr/>
          </p:nvSpPr>
          <p:spPr>
            <a:xfrm>
              <a:off x="2160" y="3936"/>
              <a:ext cx="720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289" name="Line 23"/>
            <p:cNvSpPr/>
            <p:nvPr/>
          </p:nvSpPr>
          <p:spPr>
            <a:xfrm>
              <a:off x="3648" y="3936"/>
              <a:ext cx="1872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0" name="Line 24"/>
            <p:cNvSpPr/>
            <p:nvPr/>
          </p:nvSpPr>
          <p:spPr>
            <a:xfrm flipV="1">
              <a:off x="5520" y="3072"/>
              <a:ext cx="0" cy="864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1" name="Line 25"/>
            <p:cNvSpPr/>
            <p:nvPr/>
          </p:nvSpPr>
          <p:spPr>
            <a:xfrm flipH="1">
              <a:off x="2064" y="3072"/>
              <a:ext cx="3456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5298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5299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5300" name="Rectangle 3"/>
          <p:cNvSpPr/>
          <p:nvPr/>
        </p:nvSpPr>
        <p:spPr>
          <a:xfrm>
            <a:off x="457200" y="1371600"/>
            <a:ext cx="8153400" cy="5262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	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|a     		          	（1）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	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b            		（2）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	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 	         	（3）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排序： {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，A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，A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i=1  </a:t>
            </a: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对（1）变换，不用变。  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|a           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i=2  </a:t>
            </a: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对（2）变换   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|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		  （4）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		      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000" b="1" baseline="-30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              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000" b="1" baseline="-30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      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000" b="1" baseline="-30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0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消直接左递归     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|ab|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’|abA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           （5）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’→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b |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b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                         （6）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i=3，j=1  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		 →A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 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                         （7）</a:t>
            </a:r>
            <a:endParaRPr lang="en-US" altLang="zh-CN" sz="20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        </a:t>
            </a:r>
            <a:endParaRPr lang="zh-CN" altLang="en-US" sz="20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55301" name="Rectangle 2"/>
          <p:cNvSpPr/>
          <p:nvPr/>
        </p:nvSpPr>
        <p:spPr>
          <a:xfrm>
            <a:off x="4572000" y="381000"/>
            <a:ext cx="36576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消除左递归(示例</a:t>
            </a:r>
            <a:r>
              <a:rPr lang="en-US" altLang="zh-CN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55302" name="AutoShape 4"/>
          <p:cNvSpPr/>
          <p:nvPr/>
        </p:nvSpPr>
        <p:spPr>
          <a:xfrm>
            <a:off x="2667000" y="4648200"/>
            <a:ext cx="152400" cy="457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6322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6323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6324" name="Rectangle 2"/>
          <p:cNvSpPr/>
          <p:nvPr/>
        </p:nvSpPr>
        <p:spPr>
          <a:xfrm>
            <a:off x="304800" y="1524000"/>
            <a:ext cx="8153400" cy="422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	  </a:t>
            </a:r>
            <a:r>
              <a:rPr lang="zh-CN" altLang="en-US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4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j=2  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 b 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’A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endParaRPr lang="en-US" altLang="zh-CN" sz="24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 b 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’A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 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 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   		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（8）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1">
              <a:solidFill>
                <a:srgbClr val="8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 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               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 baseline="-30000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β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4  </a:t>
            </a:r>
            <a:endParaRPr lang="en-US" altLang="zh-CN" sz="2400" b="1" baseline="-300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对（8）消直接左递归</a:t>
            </a:r>
            <a:endParaRPr lang="zh-CN" altLang="en-US" sz="24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→β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|β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4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’→ α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 α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|α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|α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’|α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’|α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en-US" altLang="zh-CN" sz="2400" b="1" baseline="-30000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3399"/>
                </a:solidFill>
                <a:latin typeface="Times New Roman" panose="02020603050405020304" pitchFamily="18" charset="0"/>
                <a:ea typeface="楷体_GB2312" pitchFamily="49" charset="-122"/>
              </a:rPr>
              <a:t>’|</a:t>
            </a:r>
            <a:endParaRPr lang="en-US" altLang="zh-CN" sz="2400" b="1">
              <a:solidFill>
                <a:srgbClr val="00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 </a:t>
            </a:r>
            <a:endParaRPr lang="en-US" altLang="zh-CN" sz="2400" b="1">
              <a:solidFill>
                <a:srgbClr val="00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6325" name="Rectangle 3"/>
          <p:cNvSpPr/>
          <p:nvPr/>
        </p:nvSpPr>
        <p:spPr>
          <a:xfrm>
            <a:off x="5486400" y="381000"/>
            <a:ext cx="36576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消除左递归(示例</a:t>
            </a:r>
            <a:r>
              <a:rPr lang="en-US" altLang="zh-CN" sz="32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endParaRPr lang="en-US" altLang="zh-CN" sz="3200" b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56326" name="AutoShape 5"/>
          <p:cNvSpPr/>
          <p:nvPr/>
        </p:nvSpPr>
        <p:spPr>
          <a:xfrm>
            <a:off x="762000" y="4495800"/>
            <a:ext cx="152400" cy="457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7346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7347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7348" name="矩形 5"/>
          <p:cNvSpPr/>
          <p:nvPr/>
        </p:nvSpPr>
        <p:spPr>
          <a:xfrm>
            <a:off x="971550" y="561975"/>
            <a:ext cx="7993063" cy="1087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作业 </a:t>
            </a:r>
            <a:r>
              <a:rPr lang="en-US" altLang="zh-CN" sz="3200" b="1" i="1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Chap4 </a:t>
            </a:r>
            <a:r>
              <a:rPr lang="zh-CN" altLang="en-US" sz="3200" b="1" i="1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习题</a:t>
            </a:r>
            <a:r>
              <a:rPr lang="en-US" altLang="zh-CN" sz="3200" b="1" i="1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8. 9</a:t>
            </a:r>
            <a:r>
              <a:rPr lang="en-US" altLang="zh-CN" sz="3200" b="1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3600" b="1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zh-CN" altLang="en-US" sz="3600" b="1" i="1">
                <a:solidFill>
                  <a:schemeClr val="hlink"/>
                </a:solidFill>
                <a:latin typeface="CMR10" charset="0"/>
              </a:rPr>
              <a:t> </a:t>
            </a:r>
            <a:endParaRPr lang="zh-CN" altLang="en-US" sz="3600" b="1" i="1">
              <a:solidFill>
                <a:schemeClr val="hlink"/>
              </a:solidFill>
              <a:latin typeface="CMR10" charset="0"/>
            </a:endParaRPr>
          </a:p>
        </p:txBody>
      </p:sp>
      <p:pic>
        <p:nvPicPr>
          <p:cNvPr id="573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1414463"/>
            <a:ext cx="9144000" cy="4029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850" y="2781300"/>
            <a:ext cx="6219825" cy="214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8370" name="日期占位符 2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8371" name="页脚占位符 3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58372" name="矩形 5"/>
          <p:cNvSpPr/>
          <p:nvPr/>
        </p:nvSpPr>
        <p:spPr>
          <a:xfrm>
            <a:off x="827088" y="554038"/>
            <a:ext cx="7994650" cy="1087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作业   </a:t>
            </a:r>
            <a:r>
              <a:rPr lang="en-US" altLang="zh-CN" sz="3200" b="1" i="1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Chap4 </a:t>
            </a:r>
            <a:r>
              <a:rPr lang="zh-CN" altLang="en-US" sz="3200" b="1" i="1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习题</a:t>
            </a:r>
            <a:r>
              <a:rPr lang="en-US" altLang="zh-CN" sz="3200" b="1" i="1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10</a:t>
            </a:r>
            <a:r>
              <a:rPr lang="en-US" altLang="zh-CN" sz="3200" b="1">
                <a:solidFill>
                  <a:srgbClr val="00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3600" b="1">
              <a:solidFill>
                <a:srgbClr val="003399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zh-CN" altLang="en-US" sz="3600" b="1" i="1">
                <a:solidFill>
                  <a:schemeClr val="hlink"/>
                </a:solidFill>
                <a:latin typeface="CMR10" charset="0"/>
              </a:rPr>
              <a:t> </a:t>
            </a:r>
            <a:endParaRPr lang="zh-CN" altLang="en-US" sz="3600" b="1" i="1">
              <a:solidFill>
                <a:schemeClr val="hlink"/>
              </a:solidFill>
              <a:latin typeface="CMR10" charset="0"/>
            </a:endParaRPr>
          </a:p>
        </p:txBody>
      </p:sp>
      <p:pic>
        <p:nvPicPr>
          <p:cNvPr id="5837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647825"/>
            <a:ext cx="9144000" cy="2876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dddf10a-f8ad-4e06-98f3-775fbdd4567f"/>
  <p:tag name="COMMONDATA" val="eyJoZGlkIjoiYjZhMmY1NGQwZjE0MWY4MTkzZjM4YzBiNDA1ZmM3ZDEifQ=="/>
</p:tagLst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0</TotalTime>
  <Words>9784</Words>
  <Application>WPS 演示</Application>
  <PresentationFormat>全屏显示(4:3)</PresentationFormat>
  <Paragraphs>759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Copperplate Gothic Light</vt:lpstr>
      <vt:lpstr>楷体_GB2312</vt:lpstr>
      <vt:lpstr>新宋体</vt:lpstr>
      <vt:lpstr>Arial Narrow</vt:lpstr>
      <vt:lpstr>Tahoma</vt:lpstr>
      <vt:lpstr>Symbol</vt:lpstr>
      <vt:lpstr>华文行楷</vt:lpstr>
      <vt:lpstr>Arial Unicode MS</vt:lpstr>
      <vt:lpstr>Wingdings 2</vt:lpstr>
      <vt:lpstr>华文楷体</vt:lpstr>
      <vt:lpstr>Euclid Symbol</vt:lpstr>
      <vt:lpstr>Symbol</vt:lpstr>
      <vt:lpstr>CMR10</vt:lpstr>
      <vt:lpstr>FFont-Family</vt:lpstr>
      <vt:lpstr>微软雅黑</vt:lpstr>
      <vt:lpstr>MS PGothic</vt:lpstr>
      <vt:lpstr>KSOF3FA5480E</vt:lpstr>
      <vt:lpstr>KSOF3FB35F8F</vt:lpstr>
      <vt:lpstr>自动机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 4.2  上下文无关文法的变换</dc:title>
  <dc:creator>wangbai</dc:creator>
  <cp:lastModifiedBy>冰针</cp:lastModifiedBy>
  <cp:revision>116</cp:revision>
  <cp:lastPrinted>2001-10-15T13:50:00Z</cp:lastPrinted>
  <dcterms:created xsi:type="dcterms:W3CDTF">2002-10-11T06:00:00Z</dcterms:created>
  <dcterms:modified xsi:type="dcterms:W3CDTF">2026-06-22T06:53:30Z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1A66DE020C534811A207A1CE18EEE1B3_13</vt:lpwstr>
  </property>
  <property fmtid="{D5CDD505-2E9C-101B-9397-08002B2CF9AE}" pid="3" name="KSOProductBuildVer">
    <vt:lpwstr>2052-12.1.0.26895</vt:lpwstr>
  </property>
</Properties>
</file>